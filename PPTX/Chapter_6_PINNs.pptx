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9267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leanpub.com/generativeaiforscience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d6bf6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7500" y="571500"/>
            <a:ext cx="1714500" cy="1714500"/>
          </a:xfrm>
          <a:prstGeom prst="roundRect">
            <a:avLst>
              <a:gd name="adj" fmla="val 53333"/>
            </a:avLst>
          </a:prstGeom>
          <a:noFill/>
          <a:ln w="28575">
            <a:solidFill>
              <a:srgbClr val="00C9B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048500" y="952500"/>
            <a:ext cx="952500" cy="952500"/>
          </a:xfrm>
          <a:prstGeom prst="roundRect">
            <a:avLst>
              <a:gd name="adj" fmla="val 96000"/>
            </a:avLst>
          </a:prstGeom>
          <a:noFill/>
          <a:ln w="19050">
            <a:solidFill>
              <a:srgbClr val="00C9B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476501" y="370765"/>
            <a:ext cx="3948130" cy="9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1400" dirty="0">
                <a:solidFill>
                  <a:srgbClr val="00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FOR SCIENCE</a:t>
            </a:r>
          </a:p>
          <a:p>
            <a:pPr algn="ctr">
              <a:lnSpc>
                <a:spcPts val="1470"/>
              </a:lnSpc>
              <a:spcBef>
                <a:spcPts val="300"/>
              </a:spcBef>
              <a:spcAft>
                <a:spcPts val="1500"/>
              </a:spcAft>
            </a:pPr>
            <a:r>
              <a:rPr lang="en-US" sz="1400" dirty="0">
                <a:solidFill>
                  <a:srgbClr val="00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6 •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17957" y="1445338"/>
            <a:ext cx="4549543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Physics-Informed</a:t>
            </a:r>
            <a:endParaRPr lang="en-US" sz="3600" dirty="0"/>
          </a:p>
          <a:p>
            <a:pPr marL="0" indent="0" algn="ctr">
              <a:lnSpc>
                <a:spcPts val="432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Networks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2623249" y="2982202"/>
            <a:ext cx="38022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3000"/>
              </a:spcAft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Physical Laws in Deep Learning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390329" y="3841403"/>
            <a:ext cx="757833" cy="420886"/>
          </a:xfrm>
          <a:prstGeom prst="roundRect">
            <a:avLst>
              <a:gd name="adj" fmla="val 18105"/>
            </a:avLst>
          </a:prstGeom>
          <a:solidFill>
            <a:srgbClr val="00C9B7">
              <a:alpha val="15000"/>
            </a:srgbClr>
          </a:solidFill>
          <a:ln w="9525">
            <a:solidFill>
              <a:srgbClr val="00C9B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586776" y="3965228"/>
            <a:ext cx="3649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00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PINNs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3376761" y="3841403"/>
            <a:ext cx="1005780" cy="420886"/>
          </a:xfrm>
          <a:prstGeom prst="roundRect">
            <a:avLst>
              <a:gd name="adj" fmla="val 18105"/>
            </a:avLst>
          </a:prstGeom>
          <a:solidFill>
            <a:srgbClr val="00C9B7">
              <a:alpha val="15000"/>
            </a:srgbClr>
          </a:solidFill>
          <a:ln w="9525">
            <a:solidFill>
              <a:srgbClr val="00C9B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570729" y="3965228"/>
            <a:ext cx="6178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00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Surrogates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4611142" y="3841403"/>
            <a:ext cx="716607" cy="420886"/>
          </a:xfrm>
          <a:prstGeom prst="roundRect">
            <a:avLst>
              <a:gd name="adj" fmla="val 18105"/>
            </a:avLst>
          </a:prstGeom>
          <a:solidFill>
            <a:srgbClr val="00C9B7">
              <a:alpha val="15000"/>
            </a:srgbClr>
          </a:solidFill>
          <a:ln w="9525">
            <a:solidFill>
              <a:srgbClr val="00C9B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08001" y="3965228"/>
            <a:ext cx="3228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00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PDEs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5556349" y="3841403"/>
            <a:ext cx="1102072" cy="420886"/>
          </a:xfrm>
          <a:prstGeom prst="roundRect">
            <a:avLst>
              <a:gd name="adj" fmla="val 18105"/>
            </a:avLst>
          </a:prstGeom>
          <a:solidFill>
            <a:srgbClr val="00C9B7">
              <a:alpha val="15000"/>
            </a:srgbClr>
          </a:solidFill>
          <a:ln w="9525">
            <a:solidFill>
              <a:srgbClr val="00C9B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749354" y="3965228"/>
            <a:ext cx="7160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00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ML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476250" y="4781550"/>
            <a:ext cx="83553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 Presentation</a:t>
            </a:r>
            <a:endParaRPr lang="en-US" sz="7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6997B9-2766-AFEA-1FBF-66BEEAF3CB1B}"/>
              </a:ext>
            </a:extLst>
          </p:cNvPr>
          <p:cNvSpPr txBox="1"/>
          <p:nvPr/>
        </p:nvSpPr>
        <p:spPr>
          <a:xfrm>
            <a:off x="2586776" y="457200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hlinkClick r:id="rId5"/>
              </a:rPr>
              <a:t>https://leanpub.com/generativeaiforscience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1225" y="464567"/>
            <a:ext cx="651228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Challenge: Scientific Simulations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285750" y="1467445"/>
            <a:ext cx="87439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scientific simulations are computationally expensive:</a:t>
            </a:r>
            <a:endParaRPr lang="en-US" sz="1125" dirty="0"/>
          </a:p>
        </p:txBody>
      </p:sp>
      <p:pic>
        <p:nvPicPr>
          <p:cNvPr id="5" name="Image 0" descr="/tmp/rasterized-gradient-c96c36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815108"/>
            <a:ext cx="2768650" cy="10913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86558"/>
            <a:ext cx="24742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00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MODELS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2203698"/>
            <a:ext cx="2474265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0"/>
              </a:lnSpc>
              <a:spcAft>
                <a:spcPts val="300"/>
              </a:spcAft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457200" y="2588419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supercomputers</a:t>
            </a:r>
            <a:endParaRPr lang="en-US" sz="825" dirty="0"/>
          </a:p>
        </p:txBody>
      </p:sp>
      <p:pic>
        <p:nvPicPr>
          <p:cNvPr id="9" name="Image 1" descr="/tmp/rasterized-gradient-9453a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7750" y="1815108"/>
            <a:ext cx="2768650" cy="109135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59200" y="1986558"/>
            <a:ext cx="24742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00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CFD SIMULATIONS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359200" y="2203698"/>
            <a:ext cx="2474265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0"/>
              </a:lnSpc>
              <a:spcAft>
                <a:spcPts val="300"/>
              </a:spcAft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Days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3359200" y="2588419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configuration</a:t>
            </a:r>
            <a:endParaRPr lang="en-US" sz="825" dirty="0"/>
          </a:p>
        </p:txBody>
      </p:sp>
      <p:pic>
        <p:nvPicPr>
          <p:cNvPr id="13" name="Image 2" descr="/tmp/rasterized-gradient-f6b73c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749" y="1815108"/>
            <a:ext cx="2768650" cy="109135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61199" y="1986558"/>
            <a:ext cx="24742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00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MOLECULAR DYNAMICS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6261199" y="2203698"/>
            <a:ext cx="2474265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0"/>
              </a:lnSpc>
              <a:spcAft>
                <a:spcPts val="300"/>
              </a:spcAft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Hours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6261199" y="2588419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GPU time</a:t>
            </a:r>
            <a:endParaRPr lang="en-US" sz="825" dirty="0"/>
          </a:p>
        </p:txBody>
      </p:sp>
      <p:sp>
        <p:nvSpPr>
          <p:cNvPr id="17" name="Text 12"/>
          <p:cNvSpPr/>
          <p:nvPr/>
        </p:nvSpPr>
        <p:spPr>
          <a:xfrm>
            <a:off x="285750" y="3039814"/>
            <a:ext cx="8572500" cy="666750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304800" y="3039814"/>
            <a:ext cx="0" cy="66675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495300" y="3173164"/>
            <a:ext cx="835533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</a:t>
            </a: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Researchers need to explore thousands of parameter combinations, run sensitivity analyses, and make real-time predictions — but traditional simulations are too slow.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285750" y="3839914"/>
            <a:ext cx="4229100" cy="407640"/>
          </a:xfrm>
          <a:prstGeom prst="roundRect">
            <a:avLst>
              <a:gd name="adj" fmla="val 18693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409575" y="3963739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1:</a:t>
            </a:r>
            <a:r>
              <a:rPr lang="en-US" sz="9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PINNs — embed physics directly into neural networks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629150" y="3839914"/>
            <a:ext cx="4229100" cy="407640"/>
          </a:xfrm>
          <a:prstGeom prst="roundRect">
            <a:avLst>
              <a:gd name="adj" fmla="val 18693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4752975" y="3963739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2:</a:t>
            </a:r>
            <a:r>
              <a:rPr lang="en-US" sz="9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Surrogates — 1000×+ speedup with neural approximations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C9B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28600"/>
            <a:ext cx="69562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Physics-Informed Neural Networks?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85750" y="1204764"/>
            <a:ext cx="4551164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" y="1385739"/>
            <a:ext cx="4272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PINNs</a:t>
            </a:r>
            <a:r>
              <a:rPr lang="en-US" sz="1125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neural networks trained not only on data but also on </a:t>
            </a:r>
            <a:r>
              <a:rPr lang="en-US" sz="1125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Differential Equation </a:t>
            </a:r>
            <a:r>
              <a:rPr lang="en-US" sz="1125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(PDEs, conservation laws, boundary conditions).</a:t>
            </a:r>
            <a:endParaRPr lang="en-US" sz="1125" dirty="0"/>
          </a:p>
        </p:txBody>
      </p:sp>
      <p:pic>
        <p:nvPicPr>
          <p:cNvPr id="6" name="Image 0" descr="/tmp/rasterized-gradient-2cf836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385864"/>
            <a:ext cx="4551164" cy="9791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557314"/>
            <a:ext cx="42924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00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2793504"/>
            <a:ext cx="429242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learning patterns purely from data, PINNs </a:t>
            </a:r>
            <a:r>
              <a:rPr lang="en-US" sz="10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centuries of accumulated physical knowledge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directly into the loss function.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85750" y="3498354"/>
            <a:ext cx="4551164" cy="1088082"/>
          </a:xfrm>
          <a:prstGeom prst="roundRect">
            <a:avLst>
              <a:gd name="adj" fmla="val 700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95686" y="3650754"/>
            <a:ext cx="43312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represented as: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95686" y="3886944"/>
            <a:ext cx="4331291" cy="32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uθ(x, t) = PINN(x, t)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395686" y="4287441"/>
            <a:ext cx="433129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θ are the network weights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065514" y="1366093"/>
            <a:ext cx="386859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Benefits: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65514" y="1686074"/>
            <a:ext cx="3792736" cy="613321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9525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5084564" y="1686074"/>
            <a:ext cx="0" cy="613321"/>
          </a:xfrm>
          <a:prstGeom prst="line">
            <a:avLst/>
          </a:prstGeom>
          <a:noFill/>
          <a:ln w="38100">
            <a:solidFill>
              <a:srgbClr val="0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236964" y="1800374"/>
            <a:ext cx="35576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Efficiency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236964" y="2025104"/>
            <a:ext cx="35576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less training data due to physics constraints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065514" y="2394645"/>
            <a:ext cx="3792736" cy="613321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9525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5084564" y="2394645"/>
            <a:ext cx="0" cy="613321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236964" y="2508945"/>
            <a:ext cx="35576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Consistency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236964" y="2733675"/>
            <a:ext cx="35576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always obey known physical laws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065514" y="3103215"/>
            <a:ext cx="3792736" cy="613321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9525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5084564" y="3103215"/>
            <a:ext cx="0" cy="613321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236964" y="3217515"/>
            <a:ext cx="35576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Generalization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236964" y="3442246"/>
            <a:ext cx="35576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Extrapolates beyond training data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065514" y="3811786"/>
            <a:ext cx="3792736" cy="613321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9525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5084564" y="3811786"/>
            <a:ext cx="0" cy="61332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236964" y="3926086"/>
            <a:ext cx="35576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236964" y="4150816"/>
            <a:ext cx="35576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data and theory explicitly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28600"/>
            <a:ext cx="531437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Neural Network vs. PINN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285750" y="1365945"/>
            <a:ext cx="3857625" cy="3040112"/>
          </a:xfrm>
          <a:prstGeom prst="roundRect">
            <a:avLst>
              <a:gd name="adj" fmla="val 376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1575495"/>
            <a:ext cx="3438525" cy="377130"/>
          </a:xfrm>
          <a:prstGeom prst="roundRect">
            <a:avLst>
              <a:gd name="adj" fmla="val 1515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6932" y="1670745"/>
            <a:ext cx="323526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Neural Network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5300" y="2066925"/>
            <a:ext cx="3438525" cy="826591"/>
          </a:xfrm>
          <a:prstGeom prst="roundRect">
            <a:avLst>
              <a:gd name="adj" fmla="val 921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6363" y="2219325"/>
            <a:ext cx="31964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Process: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28415" y="2442121"/>
            <a:ext cx="450056" cy="298996"/>
          </a:xfrm>
          <a:prstGeom prst="roundRect">
            <a:avLst>
              <a:gd name="adj" fmla="val 19114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40500" y="2518321"/>
            <a:ext cx="2258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652957" y="2471589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902321" y="2442121"/>
            <a:ext cx="379958" cy="298996"/>
          </a:xfrm>
          <a:prstGeom prst="roundRect">
            <a:avLst>
              <a:gd name="adj" fmla="val 19114"/>
            </a:avLst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015108" y="2518321"/>
            <a:ext cx="1543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NN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356765" y="2471589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606129" y="2442121"/>
            <a:ext cx="694581" cy="298996"/>
          </a:xfrm>
          <a:prstGeom prst="roundRect">
            <a:avLst>
              <a:gd name="adj" fmla="val 19114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715769" y="2518321"/>
            <a:ext cx="4753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95300" y="3007816"/>
            <a:ext cx="3438525" cy="388590"/>
          </a:xfrm>
          <a:prstGeom prst="roundRect">
            <a:avLst>
              <a:gd name="adj" fmla="val 14707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77501" y="3122116"/>
            <a:ext cx="32741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MSE(ŷ, y)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5300" y="3510707"/>
            <a:ext cx="3507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Ignores physical laws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✗ Requires lots of data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✗ May violate physics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✗ Poor extrapolation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81500" y="2695575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03992" y="2792760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00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00625" y="1075581"/>
            <a:ext cx="3857625" cy="3620988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19050">
            <a:solidFill>
              <a:srgbClr val="00C9B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10175" y="1285131"/>
            <a:ext cx="3438525" cy="377130"/>
          </a:xfrm>
          <a:prstGeom prst="roundRect">
            <a:avLst>
              <a:gd name="adj" fmla="val 1515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11807" y="1380381"/>
            <a:ext cx="323526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Physics-Informed NN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10175" y="1776561"/>
            <a:ext cx="3438525" cy="1420862"/>
          </a:xfrm>
          <a:prstGeom prst="roundRect">
            <a:avLst>
              <a:gd name="adj" fmla="val 5363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31238" y="1928961"/>
            <a:ext cx="31964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Process: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4046" y="2161282"/>
            <a:ext cx="391716" cy="247650"/>
          </a:xfrm>
          <a:prstGeom prst="roundRect">
            <a:avLst>
              <a:gd name="adj" fmla="val 23077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77283" y="2218432"/>
            <a:ext cx="205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531798" y="2151757"/>
            <a:ext cx="11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701385" y="2161282"/>
            <a:ext cx="518666" cy="247650"/>
          </a:xfrm>
          <a:prstGeom prst="roundRect">
            <a:avLst>
              <a:gd name="adj" fmla="val 23077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793353" y="2218432"/>
            <a:ext cx="334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00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890576" y="2475607"/>
            <a:ext cx="777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89973" y="2746028"/>
            <a:ext cx="478929" cy="298996"/>
          </a:xfrm>
          <a:prstGeom prst="roundRect">
            <a:avLst>
              <a:gd name="adj" fmla="val 19114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801770" y="2822228"/>
            <a:ext cx="2553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5210175" y="3311723"/>
            <a:ext cx="3438525" cy="375196"/>
          </a:xfrm>
          <a:prstGeom prst="roundRect">
            <a:avLst>
              <a:gd name="adj" fmla="val 15232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92376" y="3426023"/>
            <a:ext cx="3274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Data + Physics + BC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10175" y="3801219"/>
            <a:ext cx="3507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Embeds </a:t>
            </a:r>
            <a:r>
              <a:rPr lang="en-US" sz="10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</a:t>
            </a:r>
            <a:r>
              <a:rPr lang="en-US" sz="9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laws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 Data efficient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 Always physics-consistent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 Better extrapolation</a:t>
            </a:r>
            <a:endParaRPr lang="en-US" sz="900" dirty="0"/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7CF79B26-6EA9-52DA-AAC7-7700D0999348}"/>
              </a:ext>
            </a:extLst>
          </p:cNvPr>
          <p:cNvSpPr/>
          <p:nvPr/>
        </p:nvSpPr>
        <p:spPr>
          <a:xfrm>
            <a:off x="7309378" y="2111796"/>
            <a:ext cx="379958" cy="298996"/>
          </a:xfrm>
          <a:prstGeom prst="roundRect">
            <a:avLst>
              <a:gd name="adj" fmla="val 19114"/>
            </a:avLst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8333EC3A-E591-E6B8-13C6-9E1FADD74B56}"/>
              </a:ext>
            </a:extLst>
          </p:cNvPr>
          <p:cNvSpPr/>
          <p:nvPr/>
        </p:nvSpPr>
        <p:spPr>
          <a:xfrm>
            <a:off x="7422165" y="2187996"/>
            <a:ext cx="1543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NN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509092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PINN Architecture &amp; Loss Function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85750" y="1382167"/>
            <a:ext cx="46808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00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ARCHITECTURE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85750" y="1688753"/>
            <a:ext cx="4589115" cy="1939082"/>
          </a:xfrm>
          <a:prstGeom prst="roundRect">
            <a:avLst>
              <a:gd name="adj" fmla="val 4912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2013496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00C9B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250" y="2432596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00C9B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1734" y="2889796"/>
            <a:ext cx="216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490067" y="187925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90067" y="218405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90067" y="248885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56742" y="2793653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⋮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75643" y="3037433"/>
            <a:ext cx="973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2427684" y="187925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427684" y="218405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427684" y="248885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494359" y="2793653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⋮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13261" y="3037433"/>
            <a:ext cx="973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3365302" y="187925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65302" y="218405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65302" y="248885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31977" y="2793653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⋮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50878" y="3037433"/>
            <a:ext cx="973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302919" y="2203996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350395" y="2699296"/>
            <a:ext cx="291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34169" y="3290739"/>
            <a:ext cx="42922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10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hidden layers × 50 neurons • tanh activation • 7,851 parameters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285750" y="3761184"/>
            <a:ext cx="4589115" cy="628650"/>
          </a:xfrm>
          <a:prstGeom prst="roundRect">
            <a:avLst>
              <a:gd name="adj" fmla="val 12121"/>
            </a:avLst>
          </a:prstGeom>
          <a:solidFill>
            <a:srgbClr val="00C9B7">
              <a:alpha val="15000"/>
            </a:srgbClr>
          </a:solidFill>
          <a:ln w="9525">
            <a:solidFill>
              <a:srgbClr val="00C9B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28625" y="3904059"/>
            <a:ext cx="43894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Innovation:</a:t>
            </a:r>
            <a:r>
              <a:rPr lang="en-US" sz="900" dirty="0">
                <a:solidFill>
                  <a:srgbClr val="00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PyTorch autograd to compute derivatives ∂u/∂x, ∂u/∂t, ∂²u/∂x² automatically!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03465" y="1163092"/>
            <a:ext cx="38298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00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FUNCTION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5103465" y="1450628"/>
            <a:ext cx="3754785" cy="550962"/>
          </a:xfrm>
          <a:prstGeom prst="roundRect">
            <a:avLst>
              <a:gd name="adj" fmla="val 138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221365" y="1603028"/>
            <a:ext cx="3518984" cy="246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ℒ = ℒPDE + λ₁ℒIC + λ₂ℒBC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03465" y="2115889"/>
            <a:ext cx="3754785" cy="597991"/>
          </a:xfrm>
          <a:prstGeom prst="roundRect">
            <a:avLst>
              <a:gd name="adj" fmla="val 1274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217765" y="2230189"/>
            <a:ext cx="3596708" cy="18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ℒPDE — Physics Residual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17765" y="2452985"/>
            <a:ext cx="359670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well does solution satisfy the PDE?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5103465" y="2828181"/>
            <a:ext cx="3754785" cy="597991"/>
          </a:xfrm>
          <a:prstGeom prst="roundRect">
            <a:avLst>
              <a:gd name="adj" fmla="val 1274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217765" y="2942481"/>
            <a:ext cx="3596708" cy="18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ℒIC — Initial Condition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17765" y="3165277"/>
            <a:ext cx="359670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u(x, 0) = sin(πx)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5103465" y="3540472"/>
            <a:ext cx="3754785" cy="597991"/>
          </a:xfrm>
          <a:prstGeom prst="roundRect">
            <a:avLst>
              <a:gd name="adj" fmla="val 1274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217765" y="3654772"/>
            <a:ext cx="3596708" cy="18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ℒBC — Boundary Conditions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17765" y="3877568"/>
            <a:ext cx="359670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u(0,t) = u(1,t) = 0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5103465" y="4252764"/>
            <a:ext cx="3754785" cy="356146"/>
          </a:xfrm>
          <a:prstGeom prst="roundRect">
            <a:avLst>
              <a:gd name="adj" fmla="val 16047"/>
            </a:avLst>
          </a:prstGeom>
          <a:solidFill>
            <a:srgbClr val="F59E0B">
              <a:alpha val="20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208240" y="4357539"/>
            <a:ext cx="36161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= 10</a:t>
            </a:r>
            <a:r>
              <a:rPr lang="en-US" sz="825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weights IC/BC more heavily during training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C9B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28600"/>
            <a:ext cx="43816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1: 1D Heat Equation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316611" y="1061741"/>
            <a:ext cx="425538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the classic heat diffusion equation: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24050" y="1308655"/>
            <a:ext cx="4171950" cy="913349"/>
          </a:xfrm>
          <a:prstGeom prst="roundRect">
            <a:avLst>
              <a:gd name="adj" fmla="val 7950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390" y="1361555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00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GOVERNING PDE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19100" y="1561050"/>
            <a:ext cx="38667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∂u/∂t = α · ∂²u/∂x²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6500" y="1943910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75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= 0.01 (thermal diffusivity)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83445" y="2355354"/>
            <a:ext cx="2028825" cy="676126"/>
          </a:xfrm>
          <a:prstGeom prst="roundRect">
            <a:avLst>
              <a:gd name="adj" fmla="val 1127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38100" dist="9525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9445" y="2431554"/>
            <a:ext cx="17779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Condition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59445" y="2635300"/>
            <a:ext cx="17779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u(x, 0) = sin(πx)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26570" y="2355354"/>
            <a:ext cx="2028825" cy="676126"/>
          </a:xfrm>
          <a:prstGeom prst="roundRect">
            <a:avLst>
              <a:gd name="adj" fmla="val 1127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38100" dist="9525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602570" y="2431554"/>
            <a:ext cx="17779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Conditions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602570" y="2635300"/>
            <a:ext cx="17779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u(0,t) = u(1,t) = 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4800" y="3023146"/>
            <a:ext cx="4171950" cy="449461"/>
          </a:xfrm>
          <a:prstGeom prst="roundRect">
            <a:avLst>
              <a:gd name="adj" fmla="val 1695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99097" y="3131928"/>
            <a:ext cx="398335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u(x,t)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temperature • </a:t>
            </a: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position [0,1] • </a:t>
            </a: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time [0,1]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70101" y="1414463"/>
            <a:ext cx="425538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Setup: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86300" y="1648718"/>
            <a:ext cx="4171950" cy="1359843"/>
          </a:xfrm>
          <a:prstGeom prst="roundRect">
            <a:avLst>
              <a:gd name="adj" fmla="val 70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36160" y="1810643"/>
            <a:ext cx="123068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0C9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836160" y="2222004"/>
            <a:ext cx="12306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Collocation Points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157009" y="1810643"/>
            <a:ext cx="123068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157009" y="2222004"/>
            <a:ext cx="12306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 Points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477859" y="1810643"/>
            <a:ext cx="123068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477859" y="2222004"/>
            <a:ext cx="12306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 Points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848225" y="2482900"/>
            <a:ext cx="3848100" cy="363736"/>
          </a:xfrm>
          <a:prstGeom prst="roundRect">
            <a:avLst>
              <a:gd name="adj" fmla="val 15712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06899" y="2578150"/>
            <a:ext cx="37307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5,400 training points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686300" y="3122861"/>
            <a:ext cx="1327100" cy="639961"/>
          </a:xfrm>
          <a:prstGeom prst="roundRect">
            <a:avLst>
              <a:gd name="adj" fmla="val 89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89615" y="3237161"/>
            <a:ext cx="11204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789615" y="3408611"/>
            <a:ext cx="112047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3,000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108650" y="3122861"/>
            <a:ext cx="1327100" cy="639961"/>
          </a:xfrm>
          <a:prstGeom prst="roundRect">
            <a:avLst>
              <a:gd name="adj" fmla="val 89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11965" y="3237161"/>
            <a:ext cx="11204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211965" y="3408611"/>
            <a:ext cx="112047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Adam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531001" y="3122861"/>
            <a:ext cx="1327100" cy="639961"/>
          </a:xfrm>
          <a:prstGeom prst="roundRect">
            <a:avLst>
              <a:gd name="adj" fmla="val 89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634316" y="3237161"/>
            <a:ext cx="11204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634316" y="3408611"/>
            <a:ext cx="112047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10⁻³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686300" y="3877121"/>
            <a:ext cx="4171950" cy="547092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705350" y="3877121"/>
            <a:ext cx="0" cy="54709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38700" y="3991421"/>
            <a:ext cx="3983355" cy="318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solution exists:</a:t>
            </a:r>
            <a:endParaRPr lang="en-US" sz="825" dirty="0"/>
          </a:p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u(x,t) = sin(πx) · e</a:t>
            </a:r>
            <a:endParaRPr lang="en-US" sz="825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41D51A2-A2A6-6018-B6B4-640B4B870577}"/>
              </a:ext>
            </a:extLst>
          </p:cNvPr>
          <p:cNvGrpSpPr/>
          <p:nvPr/>
        </p:nvGrpSpPr>
        <p:grpSpPr>
          <a:xfrm>
            <a:off x="491913" y="3442841"/>
            <a:ext cx="3298595" cy="1705488"/>
            <a:chOff x="366500" y="3508031"/>
            <a:chExt cx="3298595" cy="1705488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E6AB2F74-0E2B-5687-FD09-409F98BD04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009" y="3508031"/>
              <a:ext cx="2528823" cy="15829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9CEB20-EB27-A79D-ADDB-5AF82A474200}"/>
                </a:ext>
              </a:extLst>
            </p:cNvPr>
            <p:cNvSpPr txBox="1"/>
            <p:nvPr/>
          </p:nvSpPr>
          <p:spPr>
            <a:xfrm>
              <a:off x="366500" y="4982687"/>
              <a:ext cx="329859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 dirty="0"/>
                <a:t>(https://</a:t>
              </a:r>
              <a:r>
                <a:rPr lang="en-US" sz="900" dirty="0" err="1"/>
                <a:t>sites.math.duke.edu</a:t>
              </a:r>
              <a:r>
                <a:rPr lang="en-US" sz="900" dirty="0"/>
                <a:t>/education/</a:t>
              </a:r>
              <a:r>
                <a:rPr lang="en-US" sz="900" dirty="0" err="1"/>
                <a:t>baltimore</a:t>
              </a:r>
              <a:r>
                <a:rPr lang="en-US" sz="900" dirty="0"/>
                <a:t>/</a:t>
              </a:r>
              <a:r>
                <a:rPr lang="en-US" sz="900" dirty="0" err="1"/>
                <a:t>sample.html</a:t>
              </a:r>
              <a:r>
                <a:rPr lang="en-US" sz="900" dirty="0"/>
                <a:t>)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51CC3C3-B524-BB9A-6C63-280DC7240AB8}"/>
                </a:ext>
              </a:extLst>
            </p:cNvPr>
            <p:cNvSpPr/>
            <p:nvPr/>
          </p:nvSpPr>
          <p:spPr>
            <a:xfrm>
              <a:off x="778370" y="3716006"/>
              <a:ext cx="104932" cy="14659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DE06E47-1EE9-8925-2749-69F7F6562B09}"/>
                </a:ext>
              </a:extLst>
            </p:cNvPr>
            <p:cNvSpPr txBox="1"/>
            <p:nvPr/>
          </p:nvSpPr>
          <p:spPr>
            <a:xfrm>
              <a:off x="893595" y="3528566"/>
              <a:ext cx="3577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3D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28600"/>
            <a:ext cx="43816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Heat Equation: Results</a:t>
            </a:r>
            <a:endParaRPr lang="en-US" sz="2550" dirty="0"/>
          </a:p>
        </p:txBody>
      </p:sp>
      <p:pic>
        <p:nvPicPr>
          <p:cNvPr id="4" name="Image 0" descr="/tmp/rasterized-gradient-5708991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262063"/>
            <a:ext cx="5423595" cy="2476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1062" y="1396227"/>
            <a:ext cx="235282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 Solution vs Analytical Solution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726880" y="2939355"/>
            <a:ext cx="2553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</a:t>
            </a:r>
            <a:endParaRPr lang="en-US" sz="825" dirty="0"/>
          </a:p>
        </p:txBody>
      </p:sp>
      <p:sp>
        <p:nvSpPr>
          <p:cNvPr id="9" name="Text 4"/>
          <p:cNvSpPr/>
          <p:nvPr/>
        </p:nvSpPr>
        <p:spPr>
          <a:xfrm>
            <a:off x="2768779" y="2939355"/>
            <a:ext cx="4573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</a:t>
            </a:r>
            <a:endParaRPr lang="en-US" sz="825" dirty="0"/>
          </a:p>
        </p:txBody>
      </p:sp>
      <p:sp>
        <p:nvSpPr>
          <p:cNvPr id="11" name="Text 5"/>
          <p:cNvSpPr/>
          <p:nvPr/>
        </p:nvSpPr>
        <p:spPr>
          <a:xfrm>
            <a:off x="4021686" y="2939355"/>
            <a:ext cx="2375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825" dirty="0"/>
          </a:p>
        </p:txBody>
      </p:sp>
      <p:sp>
        <p:nvSpPr>
          <p:cNvPr id="12" name="Text 6"/>
          <p:cNvSpPr/>
          <p:nvPr/>
        </p:nvSpPr>
        <p:spPr>
          <a:xfrm>
            <a:off x="1723147" y="3200251"/>
            <a:ext cx="25488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9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Contour plots of temperature u(x,t) over space-time domain</a:t>
            </a:r>
            <a:endParaRPr lang="en-US" sz="750" dirty="0"/>
          </a:p>
        </p:txBody>
      </p:sp>
      <p:sp>
        <p:nvSpPr>
          <p:cNvPr id="13" name="Text 7"/>
          <p:cNvSpPr/>
          <p:nvPr/>
        </p:nvSpPr>
        <p:spPr>
          <a:xfrm>
            <a:off x="285750" y="3852863"/>
            <a:ext cx="5423595" cy="657225"/>
          </a:xfrm>
          <a:prstGeom prst="roundRect">
            <a:avLst>
              <a:gd name="adj" fmla="val 11594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428625" y="3995738"/>
            <a:ext cx="524060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Observation:</a:t>
            </a:r>
            <a:r>
              <a:rPr lang="en-US" sz="97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PINN solution is visually indistinguishable from the analytical solution. Error is uniformly small across the entire domain.</a:t>
            </a:r>
            <a:endParaRPr lang="en-US" sz="975" dirty="0"/>
          </a:p>
        </p:txBody>
      </p:sp>
      <p:sp>
        <p:nvSpPr>
          <p:cNvPr id="15" name="Text 9"/>
          <p:cNvSpPr/>
          <p:nvPr/>
        </p:nvSpPr>
        <p:spPr>
          <a:xfrm>
            <a:off x="5937945" y="1153716"/>
            <a:ext cx="297871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Metrics:</a:t>
            </a:r>
            <a:endParaRPr lang="en-US" sz="1050" dirty="0"/>
          </a:p>
        </p:txBody>
      </p:sp>
      <p:pic>
        <p:nvPicPr>
          <p:cNvPr id="16" name="Image 4" descr="/tmp/rasterized-gradient-74c427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945" y="1454646"/>
            <a:ext cx="2920305" cy="124375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083620" y="1626096"/>
            <a:ext cx="26289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VS ANALYTICAL</a:t>
            </a:r>
            <a:endParaRPr lang="en-US" sz="825" dirty="0"/>
          </a:p>
        </p:txBody>
      </p:sp>
      <p:sp>
        <p:nvSpPr>
          <p:cNvPr id="18" name="Text 11"/>
          <p:cNvSpPr/>
          <p:nvPr/>
        </p:nvSpPr>
        <p:spPr>
          <a:xfrm>
            <a:off x="6083620" y="1829842"/>
            <a:ext cx="262895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0.0023</a:t>
            </a:r>
            <a:endParaRPr lang="en-US" sz="2700" dirty="0"/>
          </a:p>
        </p:txBody>
      </p:sp>
      <p:sp>
        <p:nvSpPr>
          <p:cNvPr id="19" name="Text 12"/>
          <p:cNvSpPr/>
          <p:nvPr/>
        </p:nvSpPr>
        <p:spPr>
          <a:xfrm>
            <a:off x="6083620" y="2366963"/>
            <a:ext cx="26289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Excellent accuracy!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5937945" y="2812703"/>
            <a:ext cx="1412528" cy="659011"/>
          </a:xfrm>
          <a:prstGeom prst="roundRect">
            <a:avLst>
              <a:gd name="adj" fmla="val 115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6050121" y="2936528"/>
            <a:ext cx="11881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Error</a:t>
            </a:r>
            <a:endParaRPr lang="en-US" sz="750" dirty="0"/>
          </a:p>
        </p:txBody>
      </p:sp>
      <p:sp>
        <p:nvSpPr>
          <p:cNvPr id="22" name="Text 15"/>
          <p:cNvSpPr/>
          <p:nvPr/>
        </p:nvSpPr>
        <p:spPr>
          <a:xfrm>
            <a:off x="6050121" y="3107978"/>
            <a:ext cx="118817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0.0044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7445722" y="2812703"/>
            <a:ext cx="1412528" cy="659011"/>
          </a:xfrm>
          <a:prstGeom prst="roundRect">
            <a:avLst>
              <a:gd name="adj" fmla="val 115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7557898" y="2936528"/>
            <a:ext cx="11881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750" dirty="0"/>
          </a:p>
        </p:txBody>
      </p:sp>
      <p:sp>
        <p:nvSpPr>
          <p:cNvPr id="25" name="Text 18"/>
          <p:cNvSpPr/>
          <p:nvPr/>
        </p:nvSpPr>
        <p:spPr>
          <a:xfrm>
            <a:off x="7557898" y="3107978"/>
            <a:ext cx="118817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 min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5937945" y="3586014"/>
            <a:ext cx="2920305" cy="1032421"/>
          </a:xfrm>
          <a:prstGeom prst="roundRect">
            <a:avLst>
              <a:gd name="adj" fmla="val 738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7" name="Text 20"/>
          <p:cNvSpPr/>
          <p:nvPr/>
        </p:nvSpPr>
        <p:spPr>
          <a:xfrm>
            <a:off x="6071295" y="3719364"/>
            <a:ext cx="27066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Training Losses:</a:t>
            </a:r>
            <a:endParaRPr lang="en-US" sz="825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ACE9E0A-C2BA-E254-985C-0DB0F816C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03" y="1630060"/>
            <a:ext cx="5290748" cy="1477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0C0B9332-4FE0-3A27-C919-8A7ABEB23C55}"/>
              </a:ext>
            </a:extLst>
          </p:cNvPr>
          <p:cNvSpPr/>
          <p:nvPr/>
        </p:nvSpPr>
        <p:spPr>
          <a:xfrm>
            <a:off x="2840637" y="2846588"/>
            <a:ext cx="104932" cy="14659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DF61D4D-BF67-DE14-F9E6-8C451D66A79A}"/>
              </a:ext>
            </a:extLst>
          </p:cNvPr>
          <p:cNvSpPr/>
          <p:nvPr/>
        </p:nvSpPr>
        <p:spPr>
          <a:xfrm>
            <a:off x="1089269" y="2840745"/>
            <a:ext cx="104932" cy="14659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85750" y="2286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00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EXAMPLE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5750" y="46479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Navier-Stokes Equations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85750" y="1556445"/>
            <a:ext cx="8743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fundamental equations governing fluid motion — air, water, blood, ocean currents.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285750" y="1937445"/>
            <a:ext cx="2755850" cy="942826"/>
          </a:xfrm>
          <a:prstGeom prst="roundRect">
            <a:avLst>
              <a:gd name="adj" fmla="val 10103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7675" y="2099370"/>
            <a:ext cx="2480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X-MOMENTUM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47675" y="2322165"/>
            <a:ext cx="24806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∂u/∂t + u·∂u/∂x + v·∂u/∂y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-∂p/∂x + ν∇²u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194000" y="1937445"/>
            <a:ext cx="2755850" cy="942826"/>
          </a:xfrm>
          <a:prstGeom prst="roundRect">
            <a:avLst>
              <a:gd name="adj" fmla="val 10103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55925" y="2099370"/>
            <a:ext cx="2480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Y-MOMENTUM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355925" y="2322165"/>
            <a:ext cx="24806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∂v/∂t + u·∂v/∂x + v·∂v/∂y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-∂p/∂y + ν∇²v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102251" y="1908870"/>
            <a:ext cx="2755850" cy="999976"/>
          </a:xfrm>
          <a:prstGeom prst="roundRect">
            <a:avLst>
              <a:gd name="adj" fmla="val 952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64176" y="2070795"/>
            <a:ext cx="2480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00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CONTINUITY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264176" y="2293590"/>
            <a:ext cx="248064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∂u/∂x + ∂v/∂y = 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4176" y="2613571"/>
            <a:ext cx="2480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(mass conservation)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85750" y="3061246"/>
            <a:ext cx="8572500" cy="458986"/>
          </a:xfrm>
          <a:prstGeom prst="roundRect">
            <a:avLst>
              <a:gd name="adj" fmla="val 16602"/>
            </a:avLst>
          </a:prstGeom>
          <a:solidFill>
            <a:srgbClr val="00C9B7">
              <a:alpha val="10000"/>
            </a:srgbClr>
          </a:solidFill>
          <a:ln w="9525">
            <a:solidFill>
              <a:srgbClr val="00C9B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28625" y="3204121"/>
            <a:ext cx="84524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0C9B7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Variables:</a:t>
            </a: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u,v = velocity components • p = pressure • ν = kinematic viscosity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285750" y="3672632"/>
            <a:ext cx="4210050" cy="798165"/>
          </a:xfrm>
          <a:prstGeom prst="roundRect">
            <a:avLst>
              <a:gd name="adj" fmla="val 954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19100" y="3805982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Use Analytical Benchmark?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9100" y="4023122"/>
            <a:ext cx="402221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 Taylor-Green vortex (known solution) to verify PINN works before applying to real problems without analytical solutions.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48200" y="3672632"/>
            <a:ext cx="4210050" cy="798165"/>
          </a:xfrm>
          <a:prstGeom prst="roundRect">
            <a:avLst>
              <a:gd name="adj" fmla="val 954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81550" y="3805982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 Approach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81550" y="4023122"/>
            <a:ext cx="402221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(x, y, t) → Output: (u, v, p)</a:t>
            </a:r>
            <a:endParaRPr lang="en-US" sz="825" dirty="0"/>
          </a:p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hidden layers, 64 neurons each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C9B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28600"/>
            <a:ext cx="43816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Navier-Stokes PINN: Results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285750" y="1355527"/>
            <a:ext cx="8572500" cy="1537246"/>
          </a:xfrm>
          <a:prstGeom prst="roundRect">
            <a:avLst>
              <a:gd name="adj" fmla="val 743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30735" y="1517452"/>
            <a:ext cx="12249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 Magnitude |u|</a:t>
            </a:r>
            <a:endParaRPr lang="en-US" sz="900" dirty="0"/>
          </a:p>
        </p:txBody>
      </p:sp>
      <p:pic>
        <p:nvPicPr>
          <p:cNvPr id="6" name="Image 0" descr="/tmp/rasterized-gradient-20b375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181" y="1753642"/>
            <a:ext cx="857250" cy="666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14301" y="2610892"/>
            <a:ext cx="3743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</a:t>
            </a:r>
            <a:endParaRPr lang="en-US" sz="675" dirty="0"/>
          </a:p>
        </p:txBody>
      </p:sp>
      <p:pic>
        <p:nvPicPr>
          <p:cNvPr id="8" name="Image 1" descr="/tmp/rasterized-gradient-9801fa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2631" y="1753642"/>
            <a:ext cx="857250" cy="666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328714" y="2610892"/>
            <a:ext cx="2090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</a:t>
            </a:r>
            <a:endParaRPr lang="en-US" sz="675" dirty="0"/>
          </a:p>
        </p:txBody>
      </p:sp>
      <p:pic>
        <p:nvPicPr>
          <p:cNvPr id="10" name="Image 2" descr="/tmp/rasterized-gradient-dd48d1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6081" y="1753642"/>
            <a:ext cx="857250" cy="666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269456" y="2610892"/>
            <a:ext cx="19431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675" dirty="0"/>
          </a:p>
        </p:txBody>
      </p:sp>
      <p:sp>
        <p:nvSpPr>
          <p:cNvPr id="12" name="Text 7"/>
          <p:cNvSpPr/>
          <p:nvPr/>
        </p:nvSpPr>
        <p:spPr>
          <a:xfrm>
            <a:off x="6299746" y="1517452"/>
            <a:ext cx="8425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p(x,y)</a:t>
            </a:r>
            <a:endParaRPr lang="en-US" sz="900" dirty="0"/>
          </a:p>
        </p:txBody>
      </p:sp>
      <p:pic>
        <p:nvPicPr>
          <p:cNvPr id="13" name="Image 3" descr="/tmp/rasterized-gradient-ef132a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0669" y="1753642"/>
            <a:ext cx="857250" cy="666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95789" y="2610892"/>
            <a:ext cx="3743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</a:t>
            </a:r>
            <a:endParaRPr lang="en-US" sz="675" dirty="0"/>
          </a:p>
        </p:txBody>
      </p:sp>
      <p:pic>
        <p:nvPicPr>
          <p:cNvPr id="15" name="Image 4" descr="/tmp/rasterized-gradient-747cfb1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4119" y="1753642"/>
            <a:ext cx="857250" cy="6667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0201" y="2610892"/>
            <a:ext cx="2090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</a:t>
            </a:r>
            <a:endParaRPr lang="en-US" sz="675" dirty="0"/>
          </a:p>
        </p:txBody>
      </p:sp>
      <p:pic>
        <p:nvPicPr>
          <p:cNvPr id="17" name="Image 5" descr="/tmp/rasterized-gradient-9ab77d2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7569" y="1753642"/>
            <a:ext cx="857250" cy="6667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550944" y="2610892"/>
            <a:ext cx="19431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675" dirty="0"/>
          </a:p>
        </p:txBody>
      </p:sp>
      <p:pic>
        <p:nvPicPr>
          <p:cNvPr id="19" name="Image 6" descr="/tmp/rasterized-gradient-2d6005c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750" y="3026122"/>
            <a:ext cx="2755850" cy="849511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413639" y="3178522"/>
            <a:ext cx="2500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 RMSE</a:t>
            </a:r>
            <a:endParaRPr lang="en-US" sz="750" dirty="0"/>
          </a:p>
        </p:txBody>
      </p:sp>
      <p:sp>
        <p:nvSpPr>
          <p:cNvPr id="21" name="Text 12"/>
          <p:cNvSpPr/>
          <p:nvPr/>
        </p:nvSpPr>
        <p:spPr>
          <a:xfrm>
            <a:off x="413639" y="3349972"/>
            <a:ext cx="250007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2.7×10⁻³</a:t>
            </a:r>
            <a:endParaRPr lang="en-US" sz="2100" dirty="0"/>
          </a:p>
        </p:txBody>
      </p:sp>
      <p:pic>
        <p:nvPicPr>
          <p:cNvPr id="22" name="Image 7" descr="/tmp/rasterized-gradient-2bc2302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94000" y="3026122"/>
            <a:ext cx="2755850" cy="849511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3321890" y="3178522"/>
            <a:ext cx="2500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RMSE</a:t>
            </a:r>
            <a:endParaRPr lang="en-US" sz="750" dirty="0"/>
          </a:p>
        </p:txBody>
      </p:sp>
      <p:sp>
        <p:nvSpPr>
          <p:cNvPr id="24" name="Text 14"/>
          <p:cNvSpPr/>
          <p:nvPr/>
        </p:nvSpPr>
        <p:spPr>
          <a:xfrm>
            <a:off x="3321890" y="3349972"/>
            <a:ext cx="250007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1.7×10⁻³</a:t>
            </a:r>
            <a:endParaRPr lang="en-US" sz="2100" dirty="0"/>
          </a:p>
        </p:txBody>
      </p:sp>
      <p:pic>
        <p:nvPicPr>
          <p:cNvPr id="25" name="Image 8" descr="/tmp/rasterized-gradient-0b9a711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02251" y="3026122"/>
            <a:ext cx="2755850" cy="849511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6230140" y="3178522"/>
            <a:ext cx="2500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ERROR</a:t>
            </a:r>
            <a:endParaRPr lang="en-US" sz="750" dirty="0"/>
          </a:p>
        </p:txBody>
      </p:sp>
      <p:sp>
        <p:nvSpPr>
          <p:cNvPr id="27" name="Text 16"/>
          <p:cNvSpPr/>
          <p:nvPr/>
        </p:nvSpPr>
        <p:spPr>
          <a:xfrm>
            <a:off x="6230140" y="3349972"/>
            <a:ext cx="250007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&lt;1%</a:t>
            </a:r>
            <a:endParaRPr lang="en-US" sz="2100" dirty="0"/>
          </a:p>
        </p:txBody>
      </p:sp>
      <p:sp>
        <p:nvSpPr>
          <p:cNvPr id="28" name="Text 17"/>
          <p:cNvSpPr/>
          <p:nvPr/>
        </p:nvSpPr>
        <p:spPr>
          <a:xfrm>
            <a:off x="285750" y="4008983"/>
            <a:ext cx="2781300" cy="407640"/>
          </a:xfrm>
          <a:prstGeom prst="roundRect">
            <a:avLst>
              <a:gd name="adj" fmla="val 18693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18"/>
          <p:cNvSpPr/>
          <p:nvPr/>
        </p:nvSpPr>
        <p:spPr>
          <a:xfrm>
            <a:off x="409575" y="4132808"/>
            <a:ext cx="25843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PINN captures full vector structure of the flow</a:t>
            </a:r>
            <a:endParaRPr lang="en-US" sz="900" dirty="0"/>
          </a:p>
        </p:txBody>
      </p:sp>
      <p:sp>
        <p:nvSpPr>
          <p:cNvPr id="30" name="Text 19"/>
          <p:cNvSpPr/>
          <p:nvPr/>
        </p:nvSpPr>
        <p:spPr>
          <a:xfrm>
            <a:off x="3181350" y="4008983"/>
            <a:ext cx="2781300" cy="407640"/>
          </a:xfrm>
          <a:prstGeom prst="roundRect">
            <a:avLst>
              <a:gd name="adj" fmla="val 18693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0"/>
          <p:cNvSpPr/>
          <p:nvPr/>
        </p:nvSpPr>
        <p:spPr>
          <a:xfrm>
            <a:off x="3305175" y="4132808"/>
            <a:ext cx="25843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Correct vortex rotation and symmetry</a:t>
            </a:r>
            <a:endParaRPr lang="en-US" sz="900" dirty="0"/>
          </a:p>
        </p:txBody>
      </p:sp>
      <p:sp>
        <p:nvSpPr>
          <p:cNvPr id="32" name="Text 21"/>
          <p:cNvSpPr/>
          <p:nvPr/>
        </p:nvSpPr>
        <p:spPr>
          <a:xfrm>
            <a:off x="6076950" y="4008983"/>
            <a:ext cx="2781300" cy="407640"/>
          </a:xfrm>
          <a:prstGeom prst="roundRect">
            <a:avLst>
              <a:gd name="adj" fmla="val 18693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2"/>
          <p:cNvSpPr/>
          <p:nvPr/>
        </p:nvSpPr>
        <p:spPr>
          <a:xfrm>
            <a:off x="6200775" y="4132808"/>
            <a:ext cx="25843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Sub-percent errors across domain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28600"/>
            <a:ext cx="43816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PINNs for Climate Modeling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285750" y="1218605"/>
            <a:ext cx="42553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Atmospheric modeling with real ERA5 reanalysis data: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85750" y="1532930"/>
            <a:ext cx="4171950" cy="710357"/>
          </a:xfrm>
          <a:prstGeom prst="roundRect">
            <a:avLst>
              <a:gd name="adj" fmla="val 134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7675" y="1694855"/>
            <a:ext cx="16904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(4D)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47675" y="1898600"/>
            <a:ext cx="169049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lat, lon, pressure, time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57425" y="1728043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638425" y="1694855"/>
            <a:ext cx="16904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(3 vars)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2638425" y="1898600"/>
            <a:ext cx="169049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T, q, u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5750" y="2357586"/>
            <a:ext cx="42553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Constraints Enforced: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85750" y="2645122"/>
            <a:ext cx="4171950" cy="559891"/>
          </a:xfrm>
          <a:prstGeom prst="roundRect">
            <a:avLst>
              <a:gd name="adj" fmla="val 1361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00050" y="2759422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Hydrostatic Balance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00050" y="2944118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∂T/∂p ≈ -(g/R)·(T/p)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285750" y="3319314"/>
            <a:ext cx="4171950" cy="559891"/>
          </a:xfrm>
          <a:prstGeom prst="roundRect">
            <a:avLst>
              <a:gd name="adj" fmla="val 1361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0050" y="3433614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Conservation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00050" y="3618309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∂T/∂t + u·∂T/∂x ≈ 0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285750" y="3993505"/>
            <a:ext cx="4171950" cy="559891"/>
          </a:xfrm>
          <a:prstGeom prst="roundRect">
            <a:avLst>
              <a:gd name="adj" fmla="val 1361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00050" y="4107805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Moisture Conservation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00050" y="4292501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∂q/∂t + u·∂q/∂x ≈ 0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86300" y="1370261"/>
            <a:ext cx="42553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 Gained: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686300" y="1657796"/>
            <a:ext cx="4171950" cy="999083"/>
          </a:xfrm>
          <a:prstGeom prst="roundRect">
            <a:avLst>
              <a:gd name="adj" fmla="val 953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48225" y="1819721"/>
            <a:ext cx="18848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ERA5 (Discrete)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48225" y="2023467"/>
            <a:ext cx="188480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pressure levels</a:t>
            </a:r>
            <a:endParaRPr lang="en-US" sz="825" dirty="0"/>
          </a:p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1°×1° grid</a:t>
            </a:r>
            <a:endParaRPr lang="en-US" sz="825" dirty="0"/>
          </a:p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6-hourly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848475" y="1819721"/>
            <a:ext cx="18848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 (Continuous)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6848475" y="2023467"/>
            <a:ext cx="188480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pressure level</a:t>
            </a:r>
            <a:endParaRPr lang="en-US" sz="825" dirty="0"/>
          </a:p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location</a:t>
            </a:r>
            <a:endParaRPr lang="en-US" sz="825" dirty="0"/>
          </a:p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time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686300" y="2771180"/>
            <a:ext cx="4171950" cy="350490"/>
          </a:xfrm>
          <a:prstGeom prst="rect">
            <a:avLst/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705350" y="2771180"/>
            <a:ext cx="0" cy="35049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38700" y="2866430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Interpolation:</a:t>
            </a:r>
            <a:r>
              <a:rPr lang="en-US" sz="9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Predict at any pressure level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86300" y="3197870"/>
            <a:ext cx="4171950" cy="35049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705350" y="3197870"/>
            <a:ext cx="0" cy="35049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38700" y="3293120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Super-resolution:</a:t>
            </a:r>
            <a:r>
              <a:rPr lang="en-US" sz="9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Finer spatial resolution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86300" y="3624560"/>
            <a:ext cx="4171950" cy="350490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705350" y="3624560"/>
            <a:ext cx="0" cy="35049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38700" y="3719810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Derivatives:</a:t>
            </a: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Automatic ∂T/∂p, ∂q/∂t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86300" y="4051250"/>
            <a:ext cx="4171950" cy="350490"/>
          </a:xfrm>
          <a:prstGeom prst="rect">
            <a:avLst/>
          </a:prstGeom>
          <a:solidFill>
            <a:srgbClr val="F3E8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705350" y="4051250"/>
            <a:ext cx="0" cy="35049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38700" y="4146500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filling:</a:t>
            </a:r>
            <a:r>
              <a:rPr lang="en-US" sz="900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Smooth interpolation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00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70446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Network Surrogates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5750" y="132710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expensive simulations with fast neural network approximations.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85750" y="1628031"/>
            <a:ext cx="4210050" cy="874068"/>
          </a:xfrm>
          <a:prstGeom prst="roundRect">
            <a:avLst>
              <a:gd name="adj" fmla="val 8718"/>
            </a:avLst>
          </a:prstGeom>
          <a:solidFill>
            <a:srgbClr val="DC2626">
              <a:alpha val="15000"/>
            </a:srgbClr>
          </a:solidFill>
          <a:ln w="9525">
            <a:solidFill>
              <a:srgbClr val="DC262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8625" y="1770906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SIMULATION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28625" y="1993702"/>
            <a:ext cx="400278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Hours/days per run  •  ✗ Expensive HPC clusters  •  ✗ Limited exploration  •  ✗ No real-time predictions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48200" y="1628031"/>
            <a:ext cx="4210050" cy="874068"/>
          </a:xfrm>
          <a:prstGeom prst="roundRect">
            <a:avLst>
              <a:gd name="adj" fmla="val 8718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91075" y="1770906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SURROGATE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791075" y="1993702"/>
            <a:ext cx="400278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Milliseconds/prediction  •  ✓ Runs on laptop  •  ✓ 1000s of scenarios  •  ✓ Real-time analysis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5750" y="2616398"/>
            <a:ext cx="8572500" cy="1030486"/>
          </a:xfrm>
          <a:prstGeom prst="roundRect">
            <a:avLst>
              <a:gd name="adj" fmla="val 739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8625" y="2759273"/>
            <a:ext cx="84524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00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2322314" y="3001119"/>
            <a:ext cx="1117997" cy="502890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466582" y="3096369"/>
            <a:ext cx="8294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466582" y="3248769"/>
            <a:ext cx="8294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simulations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54611" y="3119140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859411" y="3001119"/>
            <a:ext cx="1170980" cy="502890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003149" y="3096369"/>
            <a:ext cx="8835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003149" y="3248769"/>
            <a:ext cx="8835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NN on data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44691" y="3119140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49491" y="3001119"/>
            <a:ext cx="1372046" cy="502890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591218" y="3096369"/>
            <a:ext cx="10885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591218" y="3248769"/>
            <a:ext cx="10885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NN for inference</a:t>
            </a:r>
            <a:endParaRPr lang="en-US" sz="900" dirty="0"/>
          </a:p>
        </p:txBody>
      </p:sp>
      <p:pic>
        <p:nvPicPr>
          <p:cNvPr id="24" name="Image 0" descr="/tmp/rasterized-gradient-1fda77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3761184"/>
            <a:ext cx="4210050" cy="75426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360235" y="3875484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SPEEDUP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360235" y="4027884"/>
            <a:ext cx="406107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1000×+</a:t>
            </a:r>
            <a:endParaRPr lang="en-US" sz="2100" dirty="0"/>
          </a:p>
        </p:txBody>
      </p:sp>
      <p:pic>
        <p:nvPicPr>
          <p:cNvPr id="27" name="Image 1" descr="/tmp/rasterized-gradient-158a54c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3761184"/>
            <a:ext cx="4210050" cy="754261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722685" y="3875484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(R²)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4722685" y="4027884"/>
            <a:ext cx="406107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~0.98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C9B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28600"/>
            <a:ext cx="584873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CO₂ → Temperature Surrogate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285750" y="1227981"/>
            <a:ext cx="425538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 surrogate to predict global temperature anomaly from CO₂ concentration using real observational data.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85750" y="1742331"/>
            <a:ext cx="4171950" cy="975271"/>
          </a:xfrm>
          <a:prstGeom prst="roundRect">
            <a:avLst>
              <a:gd name="adj" fmla="val 97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7675" y="1904256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47675" y="220131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0075" y="2159496"/>
            <a:ext cx="20607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CO₂: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NOAA Mauna Loa (1958–present)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47675" y="243750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0075" y="2395686"/>
            <a:ext cx="18034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Temp: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NASA GISTEMP anomalies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5750" y="2831902"/>
            <a:ext cx="4171950" cy="1037779"/>
          </a:xfrm>
          <a:prstGeom prst="roundRect">
            <a:avLst>
              <a:gd name="adj" fmla="val 734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9100" y="2965252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00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SURROGATE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19100" y="3188047"/>
            <a:ext cx="3983355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CO₂ sequence (24 months)</a:t>
            </a:r>
            <a:endParaRPr lang="en-US" sz="900" dirty="0"/>
          </a:p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Hidden: 64 units, 2 layers</a:t>
            </a:r>
            <a:endParaRPr lang="en-US" sz="900" dirty="0"/>
          </a:p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Output: Temperature sequence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5750" y="3983980"/>
            <a:ext cx="42553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Scenarios: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5750" y="4258270"/>
            <a:ext cx="985838" cy="28575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3616" y="4334470"/>
            <a:ext cx="8501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Stabilization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347788" y="4258270"/>
            <a:ext cx="985838" cy="28575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415653" y="4334470"/>
            <a:ext cx="8501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Growth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409825" y="4258270"/>
            <a:ext cx="985838" cy="28575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477691" y="4334470"/>
            <a:ext cx="8501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471863" y="4258270"/>
            <a:ext cx="985838" cy="28575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539728" y="4334470"/>
            <a:ext cx="8501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Growth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686300" y="1274564"/>
            <a:ext cx="417195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03752" y="1436489"/>
            <a:ext cx="11597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Predictions</a:t>
            </a:r>
            <a:endParaRPr lang="en-US" sz="900" dirty="0"/>
          </a:p>
        </p:txBody>
      </p:sp>
      <p:pic>
        <p:nvPicPr>
          <p:cNvPr id="25" name="Image 0" descr="/tmp/rasterized-gradient-bd13ff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225" y="1710779"/>
            <a:ext cx="3848100" cy="906810"/>
          </a:xfrm>
          <a:prstGeom prst="rect">
            <a:avLst/>
          </a:prstGeom>
        </p:spPr>
      </p:pic>
      <p:pic>
        <p:nvPicPr>
          <p:cNvPr id="26" name="Image 1" descr="/tmp/rasterized-svg-56b7d45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8225" y="1710779"/>
            <a:ext cx="3848100" cy="90681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658594" y="2693789"/>
            <a:ext cx="22717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response under different CO₂ pathways</a:t>
            </a:r>
            <a:endParaRPr lang="en-US" sz="750" dirty="0"/>
          </a:p>
        </p:txBody>
      </p:sp>
      <p:pic>
        <p:nvPicPr>
          <p:cNvPr id="28" name="Image 2" descr="/tmp/rasterized-gradient-e16c65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3103364"/>
            <a:ext cx="2028825" cy="75813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802029" y="3236714"/>
            <a:ext cx="17973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Score</a:t>
            </a: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4802029" y="3408164"/>
            <a:ext cx="179736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0.978</a:t>
            </a:r>
            <a:endParaRPr lang="en-US" sz="1800" dirty="0"/>
          </a:p>
        </p:txBody>
      </p:sp>
      <p:pic>
        <p:nvPicPr>
          <p:cNvPr id="31" name="Image 3" descr="/tmp/rasterized-gradient-0c76f9f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9425" y="3103364"/>
            <a:ext cx="2028825" cy="75813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945154" y="3236714"/>
            <a:ext cx="17973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Speedup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6945154" y="3408164"/>
            <a:ext cx="179736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3282×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4686300" y="3975795"/>
            <a:ext cx="4171950" cy="521791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29"/>
          <p:cNvSpPr/>
          <p:nvPr/>
        </p:nvSpPr>
        <p:spPr>
          <a:xfrm>
            <a:off x="4705350" y="3975795"/>
            <a:ext cx="0" cy="52179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4838700" y="4090095"/>
            <a:ext cx="398335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</a:t>
            </a: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Simplified teaching demo. Real climate involves aerosols, methane, volcanic activity, solar variability, and internal cycles.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28600"/>
            <a:ext cx="43816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What?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285750" y="1290786"/>
            <a:ext cx="2730550" cy="3190577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9050">
            <a:solidFill>
              <a:srgbClr val="00C9B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1481286"/>
            <a:ext cx="2349550" cy="377130"/>
          </a:xfrm>
          <a:prstGeom prst="roundRect">
            <a:avLst>
              <a:gd name="adj" fmla="val 1515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8772" y="1576536"/>
            <a:ext cx="212450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PINNs When...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6250" y="1953667"/>
            <a:ext cx="2349550" cy="350490"/>
          </a:xfrm>
          <a:prstGeom prst="roundRect">
            <a:avLst>
              <a:gd name="adj" fmla="val 16306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1500" y="2048917"/>
            <a:ext cx="22022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Physical laws (PDEs) are known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6250" y="2380357"/>
            <a:ext cx="2349550" cy="350490"/>
          </a:xfrm>
          <a:prstGeom prst="roundRect">
            <a:avLst>
              <a:gd name="adj" fmla="val 16306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500" y="2475607"/>
            <a:ext cx="22022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Data is limited or expensive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6250" y="2807047"/>
            <a:ext cx="2349550" cy="350490"/>
          </a:xfrm>
          <a:prstGeom prst="roundRect">
            <a:avLst>
              <a:gd name="adj" fmla="val 16306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1500" y="2902297"/>
            <a:ext cx="22022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Physics consistency is critical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6250" y="3233738"/>
            <a:ext cx="2349550" cy="350490"/>
          </a:xfrm>
          <a:prstGeom prst="roundRect">
            <a:avLst>
              <a:gd name="adj" fmla="val 16306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71500" y="3328988"/>
            <a:ext cx="22022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Solving inverse problems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6250" y="3660428"/>
            <a:ext cx="2349550" cy="350490"/>
          </a:xfrm>
          <a:prstGeom prst="roundRect">
            <a:avLst>
              <a:gd name="adj" fmla="val 16306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1500" y="3755678"/>
            <a:ext cx="22022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Complex boundary conditions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2755" y="4144268"/>
            <a:ext cx="23965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transfer, fluid dynamics, structural mechanics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3206800" y="1217414"/>
            <a:ext cx="2730550" cy="3337173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97300" y="1407914"/>
            <a:ext cx="2349550" cy="377130"/>
          </a:xfrm>
          <a:prstGeom prst="roundRect">
            <a:avLst>
              <a:gd name="adj" fmla="val 15154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509821" y="1503164"/>
            <a:ext cx="212450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Surrogates When...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97300" y="1880295"/>
            <a:ext cx="2349550" cy="350490"/>
          </a:xfrm>
          <a:prstGeom prst="roundRect">
            <a:avLst>
              <a:gd name="adj" fmla="val 16306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92550" y="1975545"/>
            <a:ext cx="22022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Expensive simulations exist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97300" y="2306985"/>
            <a:ext cx="2349550" cy="350490"/>
          </a:xfrm>
          <a:prstGeom prst="roundRect">
            <a:avLst>
              <a:gd name="adj" fmla="val 16306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92550" y="2402235"/>
            <a:ext cx="22022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Many parameter combinations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97300" y="2733675"/>
            <a:ext cx="2349550" cy="350490"/>
          </a:xfrm>
          <a:prstGeom prst="roundRect">
            <a:avLst>
              <a:gd name="adj" fmla="val 16306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92550" y="2828925"/>
            <a:ext cx="22022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Real-time predictions needed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97300" y="3160365"/>
            <a:ext cx="2349550" cy="350490"/>
          </a:xfrm>
          <a:prstGeom prst="roundRect">
            <a:avLst>
              <a:gd name="adj" fmla="val 16306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492550" y="3255615"/>
            <a:ext cx="22022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Uncertainty quantification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97300" y="3587055"/>
            <a:ext cx="2349550" cy="350490"/>
          </a:xfrm>
          <a:prstGeom prst="roundRect">
            <a:avLst>
              <a:gd name="adj" fmla="val 16306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92550" y="3682305"/>
            <a:ext cx="22022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Optimization loops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73804" y="4070896"/>
            <a:ext cx="239654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scenarios, engineering design, drug discovery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6127849" y="1290786"/>
            <a:ext cx="2730550" cy="3190577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318349" y="1481286"/>
            <a:ext cx="2349550" cy="377130"/>
          </a:xfrm>
          <a:prstGeom prst="roundRect">
            <a:avLst>
              <a:gd name="adj" fmla="val 15154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430871" y="1576536"/>
            <a:ext cx="212450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Hybrid When...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18349" y="1953667"/>
            <a:ext cx="2349550" cy="350490"/>
          </a:xfrm>
          <a:prstGeom prst="roundRect">
            <a:avLst>
              <a:gd name="adj" fmla="val 16306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413599" y="2048917"/>
            <a:ext cx="22022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Physics is partially known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18349" y="2380357"/>
            <a:ext cx="2349550" cy="350490"/>
          </a:xfrm>
          <a:prstGeom prst="roundRect">
            <a:avLst>
              <a:gd name="adj" fmla="val 16306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413599" y="2475607"/>
            <a:ext cx="22022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Both sim + experimental data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18349" y="2807047"/>
            <a:ext cx="2349550" cy="350490"/>
          </a:xfrm>
          <a:prstGeom prst="roundRect">
            <a:avLst>
              <a:gd name="adj" fmla="val 16306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413599" y="2902297"/>
            <a:ext cx="22022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High accuracy required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18349" y="3233738"/>
            <a:ext cx="2349550" cy="350490"/>
          </a:xfrm>
          <a:prstGeom prst="roundRect">
            <a:avLst>
              <a:gd name="adj" fmla="val 16306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413599" y="3328988"/>
            <a:ext cx="22022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Model correction needed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18349" y="3660428"/>
            <a:ext cx="2349550" cy="350490"/>
          </a:xfrm>
          <a:prstGeom prst="roundRect">
            <a:avLst>
              <a:gd name="adj" fmla="val 16306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413599" y="3755678"/>
            <a:ext cx="22022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Missing physics terms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94854" y="4144268"/>
            <a:ext cx="23965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prediction, turbulence, multi-physics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0" y="3238500"/>
            <a:ext cx="1333500" cy="1333500"/>
          </a:xfrm>
          <a:prstGeom prst="roundRect">
            <a:avLst>
              <a:gd name="adj" fmla="val 68571"/>
            </a:avLst>
          </a:prstGeom>
          <a:noFill/>
          <a:ln w="19050">
            <a:solidFill>
              <a:srgbClr val="00C9B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85750" y="1351657"/>
            <a:ext cx="2755850" cy="1219200"/>
          </a:xfrm>
          <a:prstGeom prst="roundRect">
            <a:avLst>
              <a:gd name="adj" fmla="val 7813"/>
            </a:avLst>
          </a:prstGeom>
          <a:solidFill>
            <a:srgbClr val="00C9B7">
              <a:alpha val="10000"/>
            </a:srgbClr>
          </a:solidFill>
          <a:ln w="9525">
            <a:solidFill>
              <a:srgbClr val="00C9B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" y="1532632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00C9B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725" y="1989832"/>
            <a:ext cx="244177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physics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directly into neural networks via loss functions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94000" y="1351657"/>
            <a:ext cx="2755850" cy="1219200"/>
          </a:xfrm>
          <a:prstGeom prst="roundRect">
            <a:avLst>
              <a:gd name="adj" fmla="val 7813"/>
            </a:avLst>
          </a:prstGeom>
          <a:solidFill>
            <a:srgbClr val="3B82F6">
              <a:alpha val="10000"/>
            </a:srgbClr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74975" y="1532632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74975" y="1989832"/>
            <a:ext cx="244177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Autograd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computes PDE derivatives automatically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02251" y="1351657"/>
            <a:ext cx="2755850" cy="1219200"/>
          </a:xfrm>
          <a:prstGeom prst="roundRect">
            <a:avLst>
              <a:gd name="adj" fmla="val 7813"/>
            </a:avLst>
          </a:prstGeom>
          <a:solidFill>
            <a:srgbClr val="8B5CF6">
              <a:alpha val="10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83226" y="1532632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83226" y="1989832"/>
            <a:ext cx="244177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Surrogates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provide 1000×+ speedup for expensive simulations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5750" y="2723257"/>
            <a:ext cx="8572500" cy="1017240"/>
          </a:xfrm>
          <a:prstGeom prst="roundRect">
            <a:avLst>
              <a:gd name="adj" fmla="val 936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6725" y="2904232"/>
            <a:ext cx="83747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00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FROM THIS CHAPTER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5750" y="3892897"/>
            <a:ext cx="2057400" cy="546646"/>
          </a:xfrm>
          <a:prstGeom prst="roundRect">
            <a:avLst>
              <a:gd name="adj" fmla="val 1394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81762" y="4007197"/>
            <a:ext cx="18653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Physics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81762" y="4191893"/>
            <a:ext cx="18653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PDEs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457450" y="3892897"/>
            <a:ext cx="2057400" cy="546646"/>
          </a:xfrm>
          <a:prstGeom prst="roundRect">
            <a:avLst>
              <a:gd name="adj" fmla="val 1394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553462" y="4007197"/>
            <a:ext cx="18653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Rigorously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2553462" y="4191893"/>
            <a:ext cx="18653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vs analytical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629150" y="3892897"/>
            <a:ext cx="2057400" cy="546646"/>
          </a:xfrm>
          <a:prstGeom prst="roundRect">
            <a:avLst>
              <a:gd name="adj" fmla="val 1394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25162" y="4007197"/>
            <a:ext cx="18653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 Uncertainty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725162" y="4191893"/>
            <a:ext cx="18653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confidence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800850" y="3892897"/>
            <a:ext cx="2057400" cy="546646"/>
          </a:xfrm>
          <a:prstGeom prst="roundRect">
            <a:avLst>
              <a:gd name="adj" fmla="val 1394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896862" y="4007197"/>
            <a:ext cx="18653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Simple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6896862" y="4191893"/>
            <a:ext cx="18653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solutions first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28600"/>
            <a:ext cx="43816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 &amp; Resources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285750" y="1410891"/>
            <a:ext cx="42553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Papers: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285750" y="1679377"/>
            <a:ext cx="4171950" cy="699046"/>
          </a:xfrm>
          <a:prstGeom prst="roundRect">
            <a:avLst>
              <a:gd name="adj" fmla="val 109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9575" y="1803202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Raissi et al. (2019)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09575" y="1987897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Physics-informed neural networks: A deep learning framework for solving forward and inverse problems. </a:t>
            </a: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Comp. Physics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85750" y="2473672"/>
            <a:ext cx="4171950" cy="565696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9575" y="2597497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Karniadakis et al. (2021)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09575" y="2782193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Physics-informed machine learning. </a:t>
            </a: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Reviews Physics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85750" y="3134618"/>
            <a:ext cx="4171950" cy="565696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9575" y="3258443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 et al. (2021)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09575" y="3443139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DeepXDE: A deep learning library for solving differential equations. </a:t>
            </a: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SIAM Review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85750" y="3795564"/>
            <a:ext cx="4171950" cy="565696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09575" y="3919389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 et al. (2021)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09575" y="4104084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NSFnets for the incompressible Navier-Stokes equations. </a:t>
            </a: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Comp. Physics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86300" y="1187648"/>
            <a:ext cx="42553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Libraries: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686300" y="1456134"/>
            <a:ext cx="1339900" cy="489496"/>
          </a:xfrm>
          <a:prstGeom prst="roundRect">
            <a:avLst>
              <a:gd name="adj" fmla="val 11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70056" y="1551384"/>
            <a:ext cx="11723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0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DeepXDE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70056" y="1730425"/>
            <a:ext cx="11723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 library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6102400" y="1456134"/>
            <a:ext cx="1339900" cy="489496"/>
          </a:xfrm>
          <a:prstGeom prst="roundRect">
            <a:avLst>
              <a:gd name="adj" fmla="val 11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86156" y="1551384"/>
            <a:ext cx="11723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86156" y="1730425"/>
            <a:ext cx="11723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7518499" y="1456134"/>
            <a:ext cx="1339900" cy="489496"/>
          </a:xfrm>
          <a:prstGeom prst="roundRect">
            <a:avLst>
              <a:gd name="adj" fmla="val 11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602255" y="1551384"/>
            <a:ext cx="11723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JAX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02255" y="1730425"/>
            <a:ext cx="11723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Autodiff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4686300" y="2117080"/>
            <a:ext cx="42553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Sources: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4686300" y="2385566"/>
            <a:ext cx="4171950" cy="681038"/>
          </a:xfrm>
          <a:prstGeom prst="roundRect">
            <a:avLst>
              <a:gd name="adj" fmla="val 1118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91075" y="2490341"/>
            <a:ext cx="404164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ERA5:</a:t>
            </a: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ecmwf.int/era5</a:t>
            </a:r>
            <a:endParaRPr lang="en-US" sz="825" dirty="0"/>
          </a:p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25" dirty="0"/>
          </a:p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NOAA CO₂:</a:t>
            </a: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gml.noaa.gov</a:t>
            </a:r>
            <a:endParaRPr lang="en-US" sz="825" dirty="0"/>
          </a:p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25" dirty="0"/>
          </a:p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GISTEMP:</a:t>
            </a: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data.giss.nasa.gov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686300" y="3161854"/>
            <a:ext cx="4171950" cy="567630"/>
          </a:xfrm>
          <a:prstGeom prst="roundRect">
            <a:avLst>
              <a:gd name="adj" fmla="val 13424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10125" y="3285679"/>
            <a:ext cx="400278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working code:</a:t>
            </a:r>
            <a:endParaRPr lang="en-US" sz="900" dirty="0"/>
          </a:p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rewriting.ai/bookcode/ai4sci.php</a:t>
            </a:r>
            <a:endParaRPr lang="en-US" sz="900" dirty="0"/>
          </a:p>
        </p:txBody>
      </p:sp>
      <p:pic>
        <p:nvPicPr>
          <p:cNvPr id="32" name="Image 0" descr="/tmp/rasterized-gradient-8d78f6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3824734"/>
            <a:ext cx="4171950" cy="75976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4800600" y="3939034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00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Chapter: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4800600" y="4123730"/>
            <a:ext cx="4022217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7 — Domain Applications in Chemistry, Biology, Physics, Geoscience, and Medicine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1334</TotalTime>
  <Words>1552</Words>
  <Application>Microsoft Macintosh PowerPoint</Application>
  <PresentationFormat>On-screen Show (16:9)</PresentationFormat>
  <Paragraphs>314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Physics-Informed Neural Networks</dc:title>
  <dc:subject>PINNs, Surrogates, and Scientific ML</dc:subject>
  <dc:creator>AI for Science - Chapter 6</dc:creator>
  <cp:lastModifiedBy>Paul Liu</cp:lastModifiedBy>
  <cp:revision>8</cp:revision>
  <dcterms:created xsi:type="dcterms:W3CDTF">2026-01-08T18:02:16Z</dcterms:created>
  <dcterms:modified xsi:type="dcterms:W3CDTF">2026-01-11T14:15:57Z</dcterms:modified>
</cp:coreProperties>
</file>