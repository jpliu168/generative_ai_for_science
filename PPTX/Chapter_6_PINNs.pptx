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9267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919F-85A1-90AB-D3C1-5AC3AD3B6F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47A712-7792-D25D-D683-20F3601D65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9C676-A371-43F6-EB77-07BBCB681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2D22E-8F77-FF48-9F1D-38CA6609089B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A3818-B7B7-187E-432D-93F54FDE4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B9E38-A447-AD12-47BB-15F6DF6D1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11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E79DE-816C-ED40-3E96-13DC1C3EB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EE373-0A9F-5CC4-9C33-5E6F4066D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F818E-9816-CF67-4094-6EDF51BF8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A3001-91C0-524C-B03B-FE0F30595DD2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2E8CE-480B-A4C5-133C-083E62521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CE4AC5-D8FC-612A-AD29-B54FBF588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5134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41EA0-D1E9-D5C5-8F3B-0F01ED949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F8338-0322-25A8-AB22-12BC03CDD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86DF5A-4453-3C5D-EA39-4F43CC7FF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1FA5D7-666A-D842-B642-E750C8D9A643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125DC-A41C-94AE-1CB3-40352E5D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DE27B-B80C-1BA3-D207-827177EC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92EFD-902D-00A0-5797-324F2359B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1F729-2A9C-48B2-EDA0-C98BD655E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1347D2-B410-AAC2-6CEA-B7FC2E84F3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F0EF6-5104-76F5-87A4-1D612A35A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6788F-84F4-844C-83CC-07DB16E268C2}" type="datetime1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F8599E-EA86-AD56-E0AD-BEF012167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F88909-8038-3481-5CA9-038B8C462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35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84668-8461-A8C5-8C95-53325418D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838A65-4F2F-4CCC-D7C9-E45946A86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4ED94-4F1B-50FF-7163-4E97939534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5376-F3ED-CF1F-ED4E-40EAB20C70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A278B-1F46-3206-9A4D-655FB563C6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1851C3-9985-17CA-3D52-DCCE2C96D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DA4A3-CAFE-6645-AFAC-81169DB8CCAD}" type="datetime1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4A89B1-CE54-E37D-78DA-A9EEAB923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CCA064-43F0-429F-6E68-D33865E45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088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95EE0-3FE0-1095-7B21-481E8A536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BD6CAB-424A-190C-D192-E0D60D4EF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C33C9-EF3E-9948-9C8A-8C622C67F479}" type="datetime1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DD4B49-992F-98C0-EA02-78CB39CF0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3C2438-2031-60E4-7B24-981638B9C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4166C4-5E42-0195-A96C-7D5F6EB4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3E5EE-0C7C-6049-96B9-85D706917ED8}" type="datetime1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18A99B-5EA1-53D9-67B0-73DDFF1A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DA5012-6099-2670-CD9E-0F81F721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583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66D88-F4FD-10B9-3EBC-85B13C647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C7E6C-D00C-30B6-843D-C8A965E37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5AD162-74B2-B0DD-A426-8D939E1762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7BB7C-9A91-3F36-4EB3-83F2007CC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1CDC5-84A5-9F44-95F1-7BD24C3D16CA}" type="datetime1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220A97-483C-2A37-AA74-B98586B0B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1FCD80-84D1-C8B3-60F1-FB126F36A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822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552B-E2B9-F3DE-4295-3B6117D89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C728F6-A3C2-3DD0-128B-CC026840B4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F2979E-7A21-C0F1-52C1-737865346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72BFE-1843-1AA9-7645-54A08B31D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5F0B0-28E6-8E4E-964F-0ED2395B3C5F}" type="datetime1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4F7CEB-49BD-E0B1-E746-6B1FF0AFC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5917E-01E5-E199-96B1-463A30EE7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684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85240-B58A-00EB-C1EB-C855588A4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FA6B3B-7780-5181-AA4F-ACE6888FAE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598A8-DADB-74AF-2F0A-BD0EB34F0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1A9A3-5F7F-2F44-AFD6-49BF7142143B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418FB-0B31-119E-AB4B-8A01E1C4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ABAD02-4706-3FE7-8837-8331172B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572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2E78E0-CAAE-2C69-CD97-7F5291DF41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74437-2476-7387-89CF-4FCF69D949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7618F-AEB6-C1BF-C5AB-11510677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76592-231F-2647-BE21-2F16621AE408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0550-FB80-F7BA-8CD6-E88712092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A1883-FDCE-DBBB-C12B-72ECA04FE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511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02224E-D0FE-8ECF-1EEE-6A5DC0B5B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4D3578-C78C-415D-FA8F-0693211E5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772F1-AC0A-1AFC-C1C3-B09DD9B47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39D62E-4BB4-3540-B4E9-2A41C77855B7}" type="datetime1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04119-D975-D76B-7520-EB77346FFC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(J. Paul Liu, 2026. Generative AI For Science. Leanpub)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A62D5-948F-B31E-9411-6EB15469F2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ECEFEC-E005-0549-9CD2-27F3B82BD6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308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leanpub.com/generativeaiforscience" TargetMode="Externa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rasterized-gradient-bd6bf6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143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0" y="571500"/>
            <a:ext cx="1714500" cy="1714500"/>
          </a:xfrm>
          <a:prstGeom prst="roundRect">
            <a:avLst>
              <a:gd name="adj" fmla="val 53333"/>
            </a:avLst>
          </a:prstGeom>
          <a:noFill/>
          <a:ln w="2857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7048500" y="952500"/>
            <a:ext cx="952500" cy="952500"/>
          </a:xfrm>
          <a:prstGeom prst="roundRect">
            <a:avLst>
              <a:gd name="adj" fmla="val 96000"/>
            </a:avLst>
          </a:prstGeom>
          <a:noFill/>
          <a:ln w="19050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2476501" y="370765"/>
            <a:ext cx="3948130" cy="9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Bef>
                <a:spcPts val="300"/>
              </a:spcBef>
              <a:spcAft>
                <a:spcPts val="1500"/>
              </a:spcAft>
              <a:buNone/>
            </a:pPr>
            <a:r>
              <a:rPr lang="en-US" sz="14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FOR SCIENCE</a:t>
            </a:r>
          </a:p>
          <a:p>
            <a:pPr algn="ctr">
              <a:lnSpc>
                <a:spcPts val="1470"/>
              </a:lnSpc>
              <a:spcBef>
                <a:spcPts val="300"/>
              </a:spcBef>
              <a:spcAft>
                <a:spcPts val="1500"/>
              </a:spcAft>
            </a:pPr>
            <a:r>
              <a:rPr lang="en-US" sz="14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6 •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117957" y="1445338"/>
            <a:ext cx="4549543" cy="109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spcAft>
                <a:spcPts val="1200"/>
              </a:spcAft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Physics-Informed</a:t>
            </a:r>
            <a:endParaRPr lang="en-US" sz="3600" dirty="0"/>
          </a:p>
          <a:p>
            <a:pPr marL="0" indent="0" algn="ctr">
              <a:lnSpc>
                <a:spcPts val="4320"/>
              </a:lnSpc>
              <a:spcAft>
                <a:spcPts val="1200"/>
              </a:spcAft>
              <a:buNone/>
            </a:pPr>
            <a:r>
              <a:rPr lang="en-US" sz="3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2623249" y="2982202"/>
            <a:ext cx="380225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Aft>
                <a:spcPts val="3000"/>
              </a:spcAft>
              <a:buNone/>
            </a:pPr>
            <a:r>
              <a:rPr lang="en-US" sz="15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Physical Laws in Deep Learning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2390329" y="3841403"/>
            <a:ext cx="757833" cy="420886"/>
          </a:xfrm>
          <a:prstGeom prst="roundRect">
            <a:avLst>
              <a:gd name="adj" fmla="val 18105"/>
            </a:avLst>
          </a:prstGeom>
          <a:solidFill>
            <a:srgbClr val="00C9B7">
              <a:alpha val="15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2586776" y="3965228"/>
            <a:ext cx="36493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PINNs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3376761" y="3841403"/>
            <a:ext cx="1005780" cy="420886"/>
          </a:xfrm>
          <a:prstGeom prst="roundRect">
            <a:avLst>
              <a:gd name="adj" fmla="val 18105"/>
            </a:avLst>
          </a:prstGeom>
          <a:solidFill>
            <a:srgbClr val="00C9B7">
              <a:alpha val="15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3570729" y="3965228"/>
            <a:ext cx="6178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Surrogates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4611142" y="3841403"/>
            <a:ext cx="716607" cy="420886"/>
          </a:xfrm>
          <a:prstGeom prst="roundRect">
            <a:avLst>
              <a:gd name="adj" fmla="val 18105"/>
            </a:avLst>
          </a:prstGeom>
          <a:solidFill>
            <a:srgbClr val="00C9B7">
              <a:alpha val="15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808001" y="3965228"/>
            <a:ext cx="3228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PDEs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5556349" y="3841403"/>
            <a:ext cx="1102072" cy="420886"/>
          </a:xfrm>
          <a:prstGeom prst="roundRect">
            <a:avLst>
              <a:gd name="adj" fmla="val 18105"/>
            </a:avLst>
          </a:prstGeom>
          <a:solidFill>
            <a:srgbClr val="00C9B7">
              <a:alpha val="15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749354" y="3965228"/>
            <a:ext cx="71606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ML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476250" y="4781550"/>
            <a:ext cx="83553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Presentation</a:t>
            </a:r>
            <a:endParaRPr lang="en-US" sz="7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6997B9-2766-AFEA-1FBF-66BEEAF3CB1B}"/>
              </a:ext>
            </a:extLst>
          </p:cNvPr>
          <p:cNvSpPr txBox="1"/>
          <p:nvPr/>
        </p:nvSpPr>
        <p:spPr>
          <a:xfrm>
            <a:off x="2586776" y="4386114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5"/>
              </a:rPr>
              <a:t>https://leanpub.com/generativeaiforscience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63F255E3-4C89-6F11-6122-343CDC314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86776" y="4818713"/>
            <a:ext cx="4233784" cy="274637"/>
          </a:xfrm>
        </p:spPr>
        <p:txBody>
          <a:bodyPr/>
          <a:lstStyle/>
          <a:p>
            <a:r>
              <a:rPr lang="en-US" dirty="0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1225" y="464567"/>
            <a:ext cx="651228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Challenge: Scientific Simulations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467445"/>
            <a:ext cx="874395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scientific simulations are computationally expensive:</a:t>
            </a:r>
            <a:endParaRPr lang="en-US" sz="1125" dirty="0"/>
          </a:p>
        </p:txBody>
      </p:sp>
      <p:pic>
        <p:nvPicPr>
          <p:cNvPr id="5" name="Image 0" descr="/tmp/rasterized-gradient-c96c36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815108"/>
            <a:ext cx="2768650" cy="10913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86558"/>
            <a:ext cx="24742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MODELS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203698"/>
            <a:ext cx="2474265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457200" y="2588419"/>
            <a:ext cx="24742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supercomputers</a:t>
            </a:r>
            <a:endParaRPr lang="en-US" sz="825" dirty="0"/>
          </a:p>
        </p:txBody>
      </p:sp>
      <p:pic>
        <p:nvPicPr>
          <p:cNvPr id="9" name="Image 1" descr="/tmp/rasterized-gradient-9453a3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50" y="1815108"/>
            <a:ext cx="2768650" cy="109135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59200" y="1986558"/>
            <a:ext cx="24742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SIMULATIONS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3359200" y="2203698"/>
            <a:ext cx="2474265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Days</a:t>
            </a:r>
            <a:endParaRPr lang="en-US" sz="1950" dirty="0"/>
          </a:p>
        </p:txBody>
      </p:sp>
      <p:sp>
        <p:nvSpPr>
          <p:cNvPr id="12" name="Text 8"/>
          <p:cNvSpPr/>
          <p:nvPr/>
        </p:nvSpPr>
        <p:spPr>
          <a:xfrm>
            <a:off x="3359200" y="2588419"/>
            <a:ext cx="24742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configuration</a:t>
            </a:r>
            <a:endParaRPr lang="en-US" sz="825" dirty="0"/>
          </a:p>
        </p:txBody>
      </p:sp>
      <p:pic>
        <p:nvPicPr>
          <p:cNvPr id="13" name="Image 2" descr="/tmp/rasterized-gradient-f6b73c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9749" y="1815108"/>
            <a:ext cx="2768650" cy="109135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61199" y="1986558"/>
            <a:ext cx="247426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6261199" y="2203698"/>
            <a:ext cx="2474265" cy="346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30"/>
              </a:lnSpc>
              <a:spcAft>
                <a:spcPts val="300"/>
              </a:spcAft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Hours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6261199" y="2588419"/>
            <a:ext cx="24742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GPU time</a:t>
            </a:r>
            <a:endParaRPr lang="en-US" sz="825" dirty="0"/>
          </a:p>
        </p:txBody>
      </p:sp>
      <p:sp>
        <p:nvSpPr>
          <p:cNvPr id="17" name="Text 12"/>
          <p:cNvSpPr/>
          <p:nvPr/>
        </p:nvSpPr>
        <p:spPr>
          <a:xfrm>
            <a:off x="285750" y="3039814"/>
            <a:ext cx="8572500" cy="666750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3"/>
          <p:cNvSpPr/>
          <p:nvPr/>
        </p:nvSpPr>
        <p:spPr>
          <a:xfrm>
            <a:off x="304800" y="3039814"/>
            <a:ext cx="0" cy="6667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495300" y="3173164"/>
            <a:ext cx="835533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</a:t>
            </a:r>
            <a:r>
              <a:rPr lang="en-US" sz="105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Researchers need to explore thousands of parameter combinations, run sensitivity analyses, and make real-time predictions — but traditional simulations are too slow.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285750" y="3839914"/>
            <a:ext cx="4229100" cy="407640"/>
          </a:xfrm>
          <a:prstGeom prst="roundRect">
            <a:avLst>
              <a:gd name="adj" fmla="val 18693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409575" y="3963739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1:</a:t>
            </a: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PINNs — embed physics directly into neural networks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4629150" y="3839914"/>
            <a:ext cx="4229100" cy="407640"/>
          </a:xfrm>
          <a:prstGeom prst="roundRect">
            <a:avLst>
              <a:gd name="adj" fmla="val 18693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4752975" y="3963739"/>
            <a:ext cx="40610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2:</a:t>
            </a: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Surrogates — 1000×+ speedup with neural approximations</a:t>
            </a:r>
            <a:endParaRPr lang="en-US" sz="900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76BBA78-1D22-B8FD-79CD-AE4FD600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695629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Physics-Informed Neural Networks?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85750" y="1204764"/>
            <a:ext cx="4551164" cy="10477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" y="1385739"/>
            <a:ext cx="4272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PINNs</a:t>
            </a:r>
            <a:r>
              <a:rPr lang="en-US" sz="1125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neural networks trained not only on data but also on </a:t>
            </a:r>
            <a:r>
              <a:rPr lang="en-US" sz="112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Differential Equation </a:t>
            </a:r>
            <a:r>
              <a:rPr lang="en-US" sz="1125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(PDEs, conservation laws, boundary conditions).</a:t>
            </a:r>
            <a:endParaRPr lang="en-US" sz="1125" dirty="0"/>
          </a:p>
        </p:txBody>
      </p:sp>
      <p:pic>
        <p:nvPicPr>
          <p:cNvPr id="6" name="Image 0" descr="/tmp/rasterized-gradient-2cf836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2385864"/>
            <a:ext cx="4551164" cy="9791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557314"/>
            <a:ext cx="429242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2793504"/>
            <a:ext cx="429242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learning patterns purely from data, PINNs </a:t>
            </a:r>
            <a:r>
              <a:rPr lang="en-US" sz="10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centuries of accumulated physical knowledge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directly into the loss function.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85750" y="3498354"/>
            <a:ext cx="4551164" cy="1088082"/>
          </a:xfrm>
          <a:prstGeom prst="roundRect">
            <a:avLst>
              <a:gd name="adj" fmla="val 70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395686" y="3650754"/>
            <a:ext cx="43312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represented as: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95686" y="3886944"/>
            <a:ext cx="4331291" cy="324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uθ(x, t) = PINN(x, t)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395686" y="4287441"/>
            <a:ext cx="433129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θ are the network weights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5065514" y="1366093"/>
            <a:ext cx="386859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Benefits: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65514" y="1686074"/>
            <a:ext cx="3792736" cy="613321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2"/>
          <p:cNvSpPr/>
          <p:nvPr/>
        </p:nvSpPr>
        <p:spPr>
          <a:xfrm>
            <a:off x="5084564" y="1686074"/>
            <a:ext cx="0" cy="613321"/>
          </a:xfrm>
          <a:prstGeom prst="line">
            <a:avLst/>
          </a:prstGeom>
          <a:noFill/>
          <a:ln w="38100">
            <a:solidFill>
              <a:srgbClr val="00C9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236964" y="1800374"/>
            <a:ext cx="355769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Efficiency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236964" y="2025104"/>
            <a:ext cx="35576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less training data due to physics constraints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65514" y="2394645"/>
            <a:ext cx="3792736" cy="613321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5084564" y="2394645"/>
            <a:ext cx="0" cy="61332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236964" y="2508945"/>
            <a:ext cx="355769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Consistency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236964" y="2733675"/>
            <a:ext cx="35576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always obey known physical laws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65514" y="3103215"/>
            <a:ext cx="3792736" cy="613321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Shape 20"/>
          <p:cNvSpPr/>
          <p:nvPr/>
        </p:nvSpPr>
        <p:spPr>
          <a:xfrm>
            <a:off x="5084564" y="3103215"/>
            <a:ext cx="0" cy="613321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236964" y="3217515"/>
            <a:ext cx="355769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Generalization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236964" y="3442246"/>
            <a:ext cx="35576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Extrapolates beyond training data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065514" y="3811786"/>
            <a:ext cx="3792736" cy="613321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4"/>
          <p:cNvSpPr/>
          <p:nvPr/>
        </p:nvSpPr>
        <p:spPr>
          <a:xfrm>
            <a:off x="5084564" y="3811786"/>
            <a:ext cx="0" cy="613321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236964" y="3926086"/>
            <a:ext cx="355769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236964" y="4150816"/>
            <a:ext cx="355769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data and theory explicitly</a:t>
            </a:r>
            <a:endParaRPr lang="en-US" sz="900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8D0FAB7E-CEE0-45E3-BD54-7D48C8829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531437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Neural Network vs. PINN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365945"/>
            <a:ext cx="3857625" cy="3040112"/>
          </a:xfrm>
          <a:prstGeom prst="roundRect">
            <a:avLst>
              <a:gd name="adj" fmla="val 376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95300" y="1575495"/>
            <a:ext cx="3438525" cy="377130"/>
          </a:xfrm>
          <a:prstGeom prst="roundRect">
            <a:avLst>
              <a:gd name="adj" fmla="val 15154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6932" y="1670745"/>
            <a:ext cx="323526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Neural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95300" y="2066925"/>
            <a:ext cx="3438525" cy="826591"/>
          </a:xfrm>
          <a:prstGeom prst="roundRect">
            <a:avLst>
              <a:gd name="adj" fmla="val 9219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16363" y="2219325"/>
            <a:ext cx="31964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Process: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28415" y="2442121"/>
            <a:ext cx="450056" cy="298996"/>
          </a:xfrm>
          <a:prstGeom prst="roundRect">
            <a:avLst>
              <a:gd name="adj" fmla="val 19114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240500" y="2518321"/>
            <a:ext cx="2258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652957" y="2471589"/>
            <a:ext cx="1748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2321" y="2442121"/>
            <a:ext cx="379958" cy="298996"/>
          </a:xfrm>
          <a:prstGeom prst="roundRect">
            <a:avLst>
              <a:gd name="adj" fmla="val 19114"/>
            </a:avLst>
          </a:prstGeom>
          <a:solidFill>
            <a:srgbClr val="64748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15108" y="2518321"/>
            <a:ext cx="1543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2356765" y="2471589"/>
            <a:ext cx="1748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606129" y="2442121"/>
            <a:ext cx="694581" cy="298996"/>
          </a:xfrm>
          <a:prstGeom prst="roundRect">
            <a:avLst>
              <a:gd name="adj" fmla="val 19114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715769" y="2518321"/>
            <a:ext cx="4753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495300" y="3007816"/>
            <a:ext cx="3438525" cy="388590"/>
          </a:xfrm>
          <a:prstGeom prst="roundRect">
            <a:avLst>
              <a:gd name="adj" fmla="val 14707"/>
            </a:avLst>
          </a:prstGeom>
          <a:solidFill>
            <a:srgbClr val="FEF2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7501" y="3122116"/>
            <a:ext cx="32741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MSE(ŷ, 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5300" y="3510707"/>
            <a:ext cx="3507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Ignores physical laws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✗ Requires lots of data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✗ May violate physics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✗ Poor extrapolation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381500" y="2695575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03992" y="2792760"/>
            <a:ext cx="1360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00625" y="1075581"/>
            <a:ext cx="3857625" cy="3620988"/>
          </a:xfrm>
          <a:prstGeom prst="roundRect">
            <a:avLst>
              <a:gd name="adj" fmla="val 3157"/>
            </a:avLst>
          </a:prstGeom>
          <a:solidFill>
            <a:srgbClr val="FFFFFF"/>
          </a:solidFill>
          <a:ln w="19050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210175" y="1285131"/>
            <a:ext cx="3438525" cy="377130"/>
          </a:xfrm>
          <a:prstGeom prst="roundRect">
            <a:avLst>
              <a:gd name="adj" fmla="val 15154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11807" y="1380381"/>
            <a:ext cx="323526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Physics-Informed NN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210175" y="1776561"/>
            <a:ext cx="3438525" cy="1420862"/>
          </a:xfrm>
          <a:prstGeom prst="roundRect">
            <a:avLst>
              <a:gd name="adj" fmla="val 5363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31238" y="1928961"/>
            <a:ext cx="31964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Process: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84046" y="2161282"/>
            <a:ext cx="391716" cy="247650"/>
          </a:xfrm>
          <a:prstGeom prst="roundRect">
            <a:avLst>
              <a:gd name="adj" fmla="val 23077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77283" y="2218432"/>
            <a:ext cx="205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531798" y="2151757"/>
            <a:ext cx="11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01385" y="2161282"/>
            <a:ext cx="518666" cy="247650"/>
          </a:xfrm>
          <a:prstGeom prst="roundRect">
            <a:avLst>
              <a:gd name="adj" fmla="val 23077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93353" y="2218432"/>
            <a:ext cx="334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890576" y="2475607"/>
            <a:ext cx="7772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89973" y="2746028"/>
            <a:ext cx="478929" cy="298996"/>
          </a:xfrm>
          <a:prstGeom prst="roundRect">
            <a:avLst>
              <a:gd name="adj" fmla="val 19114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801770" y="2822228"/>
            <a:ext cx="25533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5210175" y="3311723"/>
            <a:ext cx="3438525" cy="375196"/>
          </a:xfrm>
          <a:prstGeom prst="roundRect">
            <a:avLst>
              <a:gd name="adj" fmla="val 15232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92376" y="3426023"/>
            <a:ext cx="32741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 = Data + Physics + BC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10175" y="3801219"/>
            <a:ext cx="3507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Embeds </a:t>
            </a: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</a:t>
            </a: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laws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 Data efficient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 Always physics-consistent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 Better extrapolation</a:t>
            </a:r>
            <a:endParaRPr lang="en-US" sz="9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7CF79B26-6EA9-52DA-AAC7-7700D0999348}"/>
              </a:ext>
            </a:extLst>
          </p:cNvPr>
          <p:cNvSpPr/>
          <p:nvPr/>
        </p:nvSpPr>
        <p:spPr>
          <a:xfrm>
            <a:off x="7309378" y="2111796"/>
            <a:ext cx="379958" cy="298996"/>
          </a:xfrm>
          <a:prstGeom prst="roundRect">
            <a:avLst>
              <a:gd name="adj" fmla="val 19114"/>
            </a:avLst>
          </a:prstGeom>
          <a:solidFill>
            <a:srgbClr val="64748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8333EC3A-E591-E6B8-13C6-9E1FADD74B56}"/>
              </a:ext>
            </a:extLst>
          </p:cNvPr>
          <p:cNvSpPr/>
          <p:nvPr/>
        </p:nvSpPr>
        <p:spPr>
          <a:xfrm>
            <a:off x="7422165" y="2187996"/>
            <a:ext cx="1543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825" dirty="0"/>
          </a:p>
        </p:txBody>
      </p:sp>
      <p:sp>
        <p:nvSpPr>
          <p:cNvPr id="44" name="Footer Placeholder 43">
            <a:extLst>
              <a:ext uri="{FF2B5EF4-FFF2-40B4-BE49-F238E27FC236}">
                <a16:creationId xmlns:a16="http://schemas.microsoft.com/office/drawing/2014/main" id="{368A6958-88DB-DA01-8D2D-DC60364A5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28600"/>
            <a:ext cx="509092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PINN Architecture &amp; Loss Function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285750" y="1382167"/>
            <a:ext cx="468089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ARCHITECTURE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285750" y="1688753"/>
            <a:ext cx="4589115" cy="1939082"/>
          </a:xfrm>
          <a:prstGeom prst="roundRect">
            <a:avLst>
              <a:gd name="adj" fmla="val 4912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6250" y="2013496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76250" y="2432596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734" y="2889796"/>
            <a:ext cx="2161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067" y="18792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90067" y="2184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90067" y="24888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56742" y="2793653"/>
            <a:ext cx="1360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⋮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5643" y="3037433"/>
            <a:ext cx="97307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427684" y="18792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427684" y="2184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427684" y="24888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494359" y="2793653"/>
            <a:ext cx="1360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⋮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513261" y="3037433"/>
            <a:ext cx="97307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75" dirty="0"/>
          </a:p>
        </p:txBody>
      </p:sp>
      <p:sp>
        <p:nvSpPr>
          <p:cNvPr id="18" name="Text 16"/>
          <p:cNvSpPr/>
          <p:nvPr/>
        </p:nvSpPr>
        <p:spPr>
          <a:xfrm>
            <a:off x="3365302" y="18792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65302" y="21840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65302" y="2488853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C48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31977" y="2793653"/>
            <a:ext cx="13601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⋮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50878" y="3037433"/>
            <a:ext cx="97307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675" dirty="0"/>
          </a:p>
        </p:txBody>
      </p:sp>
      <p:sp>
        <p:nvSpPr>
          <p:cNvPr id="23" name="Text 21"/>
          <p:cNvSpPr/>
          <p:nvPr/>
        </p:nvSpPr>
        <p:spPr>
          <a:xfrm>
            <a:off x="4302919" y="2203996"/>
            <a:ext cx="381000" cy="381000"/>
          </a:xfrm>
          <a:prstGeom prst="roundRect">
            <a:avLst>
              <a:gd name="adj" fmla="val 240000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50395" y="2699296"/>
            <a:ext cx="2917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4169" y="3290739"/>
            <a:ext cx="429227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105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hidden layers × 50 neurons • tanh activation • 7,851 parameters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285750" y="3761184"/>
            <a:ext cx="4589115" cy="628650"/>
          </a:xfrm>
          <a:prstGeom prst="roundRect">
            <a:avLst>
              <a:gd name="adj" fmla="val 12121"/>
            </a:avLst>
          </a:prstGeom>
          <a:solidFill>
            <a:srgbClr val="00C9B7">
              <a:alpha val="15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8625" y="3904059"/>
            <a:ext cx="43894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Innovation:</a:t>
            </a: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PyTorch autograd to compute derivatives ∂u/∂x, ∂u/∂t, ∂²u/∂x² automatically!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03465" y="1163092"/>
            <a:ext cx="38298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FUNCTION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5103465" y="1450628"/>
            <a:ext cx="3754785" cy="550962"/>
          </a:xfrm>
          <a:prstGeom prst="roundRect">
            <a:avLst>
              <a:gd name="adj" fmla="val 138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221365" y="1603028"/>
            <a:ext cx="3518984" cy="246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ℒ = ℒPDE + λ₁ℒIC + λ₂ℒBC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03465" y="2115889"/>
            <a:ext cx="3754785" cy="597991"/>
          </a:xfrm>
          <a:prstGeom prst="roundRect">
            <a:avLst>
              <a:gd name="adj" fmla="val 12743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217765" y="2230189"/>
            <a:ext cx="3596708" cy="1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ℒPDE — Physics Residual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7765" y="2452985"/>
            <a:ext cx="35967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well does solution satisfy the PDE?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5103465" y="2828181"/>
            <a:ext cx="3754785" cy="597991"/>
          </a:xfrm>
          <a:prstGeom prst="roundRect">
            <a:avLst>
              <a:gd name="adj" fmla="val 12743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17765" y="2942481"/>
            <a:ext cx="3596708" cy="1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ℒIC — Initial Condition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17765" y="3165277"/>
            <a:ext cx="35967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u(x, 0) = sin(πx)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5103465" y="3540472"/>
            <a:ext cx="3754785" cy="597991"/>
          </a:xfrm>
          <a:prstGeom prst="roundRect">
            <a:avLst>
              <a:gd name="adj" fmla="val 12743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217765" y="3654772"/>
            <a:ext cx="3596708" cy="18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ℒBC — Boundary Conditions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17765" y="3877568"/>
            <a:ext cx="359670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u(0,t) = u(1,t) = 0</a:t>
            </a:r>
            <a:endParaRPr lang="en-US" sz="825" dirty="0"/>
          </a:p>
        </p:txBody>
      </p:sp>
      <p:sp>
        <p:nvSpPr>
          <p:cNvPr id="40" name="Text 38"/>
          <p:cNvSpPr/>
          <p:nvPr/>
        </p:nvSpPr>
        <p:spPr>
          <a:xfrm>
            <a:off x="5103465" y="4252764"/>
            <a:ext cx="3754785" cy="356146"/>
          </a:xfrm>
          <a:prstGeom prst="roundRect">
            <a:avLst>
              <a:gd name="adj" fmla="val 16047"/>
            </a:avLst>
          </a:prstGeom>
          <a:solidFill>
            <a:srgbClr val="F59E0B">
              <a:alpha val="20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208240" y="4357539"/>
            <a:ext cx="361613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= 10</a:t>
            </a:r>
            <a:r>
              <a:rPr lang="en-US" sz="825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weights IC/BC more heavily during training</a:t>
            </a:r>
            <a:endParaRPr lang="en-US" sz="825" dirty="0"/>
          </a:p>
        </p:txBody>
      </p:sp>
      <p:sp>
        <p:nvSpPr>
          <p:cNvPr id="46" name="Footer Placeholder 45">
            <a:extLst>
              <a:ext uri="{FF2B5EF4-FFF2-40B4-BE49-F238E27FC236}">
                <a16:creationId xmlns:a16="http://schemas.microsoft.com/office/drawing/2014/main" id="{844E9434-FABB-C5F0-FC3B-5086155FC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1: 1D Heat Equation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430834"/>
            <a:ext cx="425538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the classic heat diffusion equation: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750814"/>
            <a:ext cx="4171950" cy="1198066"/>
          </a:xfrm>
          <a:prstGeom prst="roundRect">
            <a:avLst>
              <a:gd name="adj" fmla="val 7950"/>
            </a:avLst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341" y="1941314"/>
            <a:ext cx="386676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GOVERNING PDE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38341" y="2183160"/>
            <a:ext cx="386676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∂u/∂t = α · ∂²u/∂x²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38341" y="2598390"/>
            <a:ext cx="386676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750"/>
              </a:spcBef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0.01 (thermal diffusivity)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85750" y="3082230"/>
            <a:ext cx="2028825" cy="676126"/>
          </a:xfrm>
          <a:prstGeom prst="roundRect">
            <a:avLst>
              <a:gd name="adj" fmla="val 112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8625" y="3225105"/>
            <a:ext cx="17779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Condition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428625" y="3428851"/>
            <a:ext cx="177793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u(x, 0) = sin(πx)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28875" y="3082230"/>
            <a:ext cx="2028825" cy="676126"/>
          </a:xfrm>
          <a:prstGeom prst="roundRect">
            <a:avLst>
              <a:gd name="adj" fmla="val 112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38100" dist="9525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571750" y="3225105"/>
            <a:ext cx="177793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Conditions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2571750" y="3428851"/>
            <a:ext cx="177793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u(0,t) = u(1,t) = 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5750" y="3891707"/>
            <a:ext cx="4171950" cy="449461"/>
          </a:xfrm>
          <a:prstGeom prst="roundRect">
            <a:avLst>
              <a:gd name="adj" fmla="val 16954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19100" y="4025057"/>
            <a:ext cx="3983355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u(x,t)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temperature • </a:t>
            </a: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position [0,1] • </a:t>
            </a: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time [0,1]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86300" y="1347788"/>
            <a:ext cx="425538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Setup: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86300" y="1648718"/>
            <a:ext cx="4171950" cy="1359843"/>
          </a:xfrm>
          <a:prstGeom prst="roundRect">
            <a:avLst>
              <a:gd name="adj" fmla="val 700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836160" y="1810643"/>
            <a:ext cx="123068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00C9B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836160" y="2222004"/>
            <a:ext cx="12306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Collocation Points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6157009" y="1810643"/>
            <a:ext cx="123068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157009" y="2222004"/>
            <a:ext cx="12306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 Points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7477859" y="1810643"/>
            <a:ext cx="123068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8B5C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477859" y="2222004"/>
            <a:ext cx="123068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 Points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4848225" y="2482900"/>
            <a:ext cx="3848100" cy="363736"/>
          </a:xfrm>
          <a:prstGeom prst="roundRect">
            <a:avLst>
              <a:gd name="adj" fmla="val 15712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906899" y="2578150"/>
            <a:ext cx="373075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5,400 training points</a:t>
            </a:r>
            <a:endParaRPr lang="en-US" sz="975" dirty="0"/>
          </a:p>
        </p:txBody>
      </p:sp>
      <p:sp>
        <p:nvSpPr>
          <p:cNvPr id="27" name="Text 25"/>
          <p:cNvSpPr/>
          <p:nvPr/>
        </p:nvSpPr>
        <p:spPr>
          <a:xfrm>
            <a:off x="4686300" y="3122861"/>
            <a:ext cx="1327100" cy="639961"/>
          </a:xfrm>
          <a:prstGeom prst="roundRect">
            <a:avLst>
              <a:gd name="adj" fmla="val 89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89615" y="3237161"/>
            <a:ext cx="11204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789615" y="3408611"/>
            <a:ext cx="1120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3,000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108650" y="3122861"/>
            <a:ext cx="1327100" cy="639961"/>
          </a:xfrm>
          <a:prstGeom prst="roundRect">
            <a:avLst>
              <a:gd name="adj" fmla="val 89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11965" y="3237161"/>
            <a:ext cx="11204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11965" y="3408611"/>
            <a:ext cx="1120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Adam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531001" y="3122861"/>
            <a:ext cx="1327100" cy="639961"/>
          </a:xfrm>
          <a:prstGeom prst="roundRect">
            <a:avLst>
              <a:gd name="adj" fmla="val 89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634316" y="3237161"/>
            <a:ext cx="11204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LR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634316" y="3408611"/>
            <a:ext cx="112047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10⁻³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4686300" y="3877121"/>
            <a:ext cx="4171950" cy="547092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705350" y="3877121"/>
            <a:ext cx="0" cy="547092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38700" y="3991421"/>
            <a:ext cx="3983355" cy="318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solution exists:</a:t>
            </a:r>
            <a:endParaRPr lang="en-US" sz="825" dirty="0"/>
          </a:p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u(x,t) = sin(πx) · e</a:t>
            </a:r>
            <a:endParaRPr lang="en-US" sz="825" dirty="0"/>
          </a:p>
        </p:txBody>
      </p:sp>
      <p:sp>
        <p:nvSpPr>
          <p:cNvPr id="43" name="Footer Placeholder 42">
            <a:extLst>
              <a:ext uri="{FF2B5EF4-FFF2-40B4-BE49-F238E27FC236}">
                <a16:creationId xmlns:a16="http://schemas.microsoft.com/office/drawing/2014/main" id="{B152E199-B4C5-F64E-0BFD-42DFFCB0C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 Equation: Results</a:t>
            </a:r>
            <a:endParaRPr lang="en-US" sz="2550" dirty="0"/>
          </a:p>
        </p:txBody>
      </p:sp>
      <p:pic>
        <p:nvPicPr>
          <p:cNvPr id="4" name="Image 0" descr="/tmp/rasterized-gradient-570899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262063"/>
            <a:ext cx="5423595" cy="24765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1062" y="1666875"/>
            <a:ext cx="235282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spcAft>
                <a:spcPts val="900"/>
              </a:spcAft>
              <a:buNone/>
            </a:pPr>
            <a:r>
              <a:rPr lang="en-US" sz="10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 Solution vs Analytical Solution</a:t>
            </a:r>
            <a:endParaRPr lang="en-US" sz="1050" dirty="0"/>
          </a:p>
        </p:txBody>
      </p:sp>
      <p:pic>
        <p:nvPicPr>
          <p:cNvPr id="6" name="Image 1" descr="/tmp/rasterized-gradient-5244c8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297" y="1967805"/>
            <a:ext cx="952500" cy="762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26880" y="2939355"/>
            <a:ext cx="25533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</a:t>
            </a:r>
            <a:endParaRPr lang="en-US" sz="825" dirty="0"/>
          </a:p>
        </p:txBody>
      </p:sp>
      <p:pic>
        <p:nvPicPr>
          <p:cNvPr id="8" name="Image 2" descr="/tmp/rasterized-gradient-9ab55c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21297" y="1967805"/>
            <a:ext cx="952500" cy="762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768779" y="2939355"/>
            <a:ext cx="45738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</a:t>
            </a:r>
            <a:endParaRPr lang="en-US" sz="825" dirty="0"/>
          </a:p>
        </p:txBody>
      </p:sp>
      <p:pic>
        <p:nvPicPr>
          <p:cNvPr id="10" name="Image 3" descr="/tmp/rasterized-gradient-863d399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297" y="1967805"/>
            <a:ext cx="952500" cy="762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021686" y="2939355"/>
            <a:ext cx="23757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825" dirty="0"/>
          </a:p>
        </p:txBody>
      </p:sp>
      <p:sp>
        <p:nvSpPr>
          <p:cNvPr id="12" name="Text 6"/>
          <p:cNvSpPr/>
          <p:nvPr/>
        </p:nvSpPr>
        <p:spPr>
          <a:xfrm>
            <a:off x="1723147" y="3200251"/>
            <a:ext cx="25488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Bef>
                <a:spcPts val="90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Contour plots of temperature u(x,t) over space-time domain</a:t>
            </a:r>
            <a:endParaRPr lang="en-US" sz="750" dirty="0"/>
          </a:p>
        </p:txBody>
      </p:sp>
      <p:sp>
        <p:nvSpPr>
          <p:cNvPr id="13" name="Text 7"/>
          <p:cNvSpPr/>
          <p:nvPr/>
        </p:nvSpPr>
        <p:spPr>
          <a:xfrm>
            <a:off x="285750" y="3852863"/>
            <a:ext cx="5423595" cy="657225"/>
          </a:xfrm>
          <a:prstGeom prst="roundRect">
            <a:avLst>
              <a:gd name="adj" fmla="val 11594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428625" y="3995738"/>
            <a:ext cx="524060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Observation:</a:t>
            </a:r>
            <a:r>
              <a:rPr lang="en-US" sz="975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PINN solution is visually indistinguishable from the analytical solution. Error is uniformly small across the entire domain.</a:t>
            </a:r>
            <a:endParaRPr lang="en-US" sz="975" dirty="0"/>
          </a:p>
        </p:txBody>
      </p:sp>
      <p:sp>
        <p:nvSpPr>
          <p:cNvPr id="15" name="Text 9"/>
          <p:cNvSpPr/>
          <p:nvPr/>
        </p:nvSpPr>
        <p:spPr>
          <a:xfrm>
            <a:off x="5937945" y="1153716"/>
            <a:ext cx="297871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Metrics:</a:t>
            </a:r>
            <a:endParaRPr lang="en-US" sz="1050" dirty="0"/>
          </a:p>
        </p:txBody>
      </p:sp>
      <p:pic>
        <p:nvPicPr>
          <p:cNvPr id="16" name="Image 4" descr="/tmp/rasterized-gradient-74c4276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7945" y="1454646"/>
            <a:ext cx="2920305" cy="1243757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083620" y="1626096"/>
            <a:ext cx="262895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VS ANALYTICAL</a:t>
            </a:r>
            <a:endParaRPr lang="en-US" sz="825" dirty="0"/>
          </a:p>
        </p:txBody>
      </p:sp>
      <p:sp>
        <p:nvSpPr>
          <p:cNvPr id="18" name="Text 11"/>
          <p:cNvSpPr/>
          <p:nvPr/>
        </p:nvSpPr>
        <p:spPr>
          <a:xfrm>
            <a:off x="6083620" y="1829842"/>
            <a:ext cx="2628954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78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0.0023</a:t>
            </a:r>
            <a:endParaRPr lang="en-US" sz="2700" dirty="0"/>
          </a:p>
        </p:txBody>
      </p:sp>
      <p:sp>
        <p:nvSpPr>
          <p:cNvPr id="19" name="Text 12"/>
          <p:cNvSpPr/>
          <p:nvPr/>
        </p:nvSpPr>
        <p:spPr>
          <a:xfrm>
            <a:off x="6083620" y="2366963"/>
            <a:ext cx="262895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450"/>
              </a:spcBef>
              <a:buNone/>
            </a:pPr>
            <a:r>
              <a:rPr lang="en-US" sz="9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Excellent accuracy!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5937945" y="2812703"/>
            <a:ext cx="1412528" cy="659011"/>
          </a:xfrm>
          <a:prstGeom prst="roundRect">
            <a:avLst>
              <a:gd name="adj" fmla="val 115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4"/>
          <p:cNvSpPr/>
          <p:nvPr/>
        </p:nvSpPr>
        <p:spPr>
          <a:xfrm>
            <a:off x="6050121" y="2936528"/>
            <a:ext cx="11881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Error</a:t>
            </a:r>
            <a:endParaRPr lang="en-US" sz="750" dirty="0"/>
          </a:p>
        </p:txBody>
      </p:sp>
      <p:sp>
        <p:nvSpPr>
          <p:cNvPr id="22" name="Text 15"/>
          <p:cNvSpPr/>
          <p:nvPr/>
        </p:nvSpPr>
        <p:spPr>
          <a:xfrm>
            <a:off x="6050121" y="3107978"/>
            <a:ext cx="118817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0.0044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7445722" y="2812703"/>
            <a:ext cx="1412528" cy="659011"/>
          </a:xfrm>
          <a:prstGeom prst="roundRect">
            <a:avLst>
              <a:gd name="adj" fmla="val 1156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7"/>
          <p:cNvSpPr/>
          <p:nvPr/>
        </p:nvSpPr>
        <p:spPr>
          <a:xfrm>
            <a:off x="7557898" y="2936528"/>
            <a:ext cx="11881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750" dirty="0"/>
          </a:p>
        </p:txBody>
      </p:sp>
      <p:sp>
        <p:nvSpPr>
          <p:cNvPr id="25" name="Text 18"/>
          <p:cNvSpPr/>
          <p:nvPr/>
        </p:nvSpPr>
        <p:spPr>
          <a:xfrm>
            <a:off x="7557898" y="3107978"/>
            <a:ext cx="118817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 min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5937945" y="3586014"/>
            <a:ext cx="2920305" cy="1032421"/>
          </a:xfrm>
          <a:prstGeom prst="roundRect">
            <a:avLst>
              <a:gd name="adj" fmla="val 738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7" name="Text 20"/>
          <p:cNvSpPr/>
          <p:nvPr/>
        </p:nvSpPr>
        <p:spPr>
          <a:xfrm>
            <a:off x="6071295" y="3719364"/>
            <a:ext cx="270667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Training Losses:</a:t>
            </a:r>
            <a:endParaRPr lang="en-US" sz="825" dirty="0"/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FCF8DF28-8B0C-F93F-BB61-256FD978B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34250" y="762000"/>
            <a:ext cx="1428750" cy="1428750"/>
          </a:xfrm>
          <a:prstGeom prst="roundRect">
            <a:avLst>
              <a:gd name="adj" fmla="val 64000"/>
            </a:avLst>
          </a:prstGeom>
          <a:noFill/>
          <a:ln w="19050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874395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EXAMPLE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85750" y="46479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Navier-Stokes Equations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85750" y="1556445"/>
            <a:ext cx="87439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1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fundamental equations governing fluid motion — air, water, blood, ocean currents.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285750" y="1937445"/>
            <a:ext cx="2755850" cy="942826"/>
          </a:xfrm>
          <a:prstGeom prst="roundRect">
            <a:avLst>
              <a:gd name="adj" fmla="val 1010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7675" y="2099370"/>
            <a:ext cx="24806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X-MOMENTUM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447675" y="2322165"/>
            <a:ext cx="2480640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∂u/∂t + u·∂u/∂x + v·∂u/∂y</a:t>
            </a:r>
            <a:endParaRPr lang="en-US" sz="975" dirty="0"/>
          </a:p>
          <a:p>
            <a:pPr marL="0" indent="0" algn="l">
              <a:lnSpc>
                <a:spcPts val="156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-∂p/∂x + ν∇²u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3194000" y="1937445"/>
            <a:ext cx="2755850" cy="942826"/>
          </a:xfrm>
          <a:prstGeom prst="roundRect">
            <a:avLst>
              <a:gd name="adj" fmla="val 10103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355925" y="2099370"/>
            <a:ext cx="24806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Y-MOMENTUM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3355925" y="2322165"/>
            <a:ext cx="2480640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∂v/∂t + u·∂v/∂x + v·∂v/∂y</a:t>
            </a:r>
            <a:endParaRPr lang="en-US" sz="975" dirty="0"/>
          </a:p>
          <a:p>
            <a:pPr marL="0" indent="0" algn="l">
              <a:lnSpc>
                <a:spcPts val="1560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-∂p/∂y + ν∇²v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6102251" y="1908870"/>
            <a:ext cx="2755850" cy="999976"/>
          </a:xfrm>
          <a:prstGeom prst="roundRect">
            <a:avLst>
              <a:gd name="adj" fmla="val 952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64176" y="2070795"/>
            <a:ext cx="24806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CONTINUITY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6264176" y="2293590"/>
            <a:ext cx="248064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∂u/∂x + ∂v/∂y = 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4176" y="2613571"/>
            <a:ext cx="24806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(mass conservation)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85750" y="3061246"/>
            <a:ext cx="8572500" cy="458986"/>
          </a:xfrm>
          <a:prstGeom prst="roundRect">
            <a:avLst>
              <a:gd name="adj" fmla="val 16602"/>
            </a:avLst>
          </a:prstGeom>
          <a:solidFill>
            <a:srgbClr val="00C9B7">
              <a:alpha val="10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28625" y="3204121"/>
            <a:ext cx="845248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0C9B7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Variables:</a:t>
            </a: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u,v = velocity components • p = pressure • ν = kinematic viscosity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285750" y="3672632"/>
            <a:ext cx="4210050" cy="798165"/>
          </a:xfrm>
          <a:prstGeom prst="roundRect">
            <a:avLst>
              <a:gd name="adj" fmla="val 954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9100" y="3805982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Use Analytical Benchmark?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9100" y="4023122"/>
            <a:ext cx="40222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Taylor-Green vortex (known solution) to verify PINN works before applying to real problems without analytical solutions.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648200" y="3672632"/>
            <a:ext cx="4210050" cy="798165"/>
          </a:xfrm>
          <a:prstGeom prst="roundRect">
            <a:avLst>
              <a:gd name="adj" fmla="val 954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81550" y="3805982"/>
            <a:ext cx="402221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 Approach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781550" y="4023122"/>
            <a:ext cx="40222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(x, y, t) → Output: (u, v, p)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hidden layers, 64 neurons each</a:t>
            </a:r>
            <a:endParaRPr lang="en-US" sz="825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48D74185-A3B2-9089-3565-A5502870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Navier-Stokes PINN: Results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355527"/>
            <a:ext cx="8572500" cy="1537246"/>
          </a:xfrm>
          <a:prstGeom prst="roundRect">
            <a:avLst>
              <a:gd name="adj" fmla="val 743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0735" y="1517452"/>
            <a:ext cx="122491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Magnitude |u|</a:t>
            </a:r>
            <a:endParaRPr lang="en-US" sz="900" dirty="0"/>
          </a:p>
        </p:txBody>
      </p:sp>
      <p:pic>
        <p:nvPicPr>
          <p:cNvPr id="6" name="Image 0" descr="/tmp/rasterized-gradient-20b375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181" y="1753642"/>
            <a:ext cx="857250" cy="6667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14301" y="2610892"/>
            <a:ext cx="374350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</a:t>
            </a:r>
            <a:endParaRPr lang="en-US" sz="675" dirty="0"/>
          </a:p>
        </p:txBody>
      </p:sp>
      <p:pic>
        <p:nvPicPr>
          <p:cNvPr id="8" name="Image 1" descr="/tmp/rasterized-gradient-9801fa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631" y="1753642"/>
            <a:ext cx="857250" cy="6667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28714" y="2610892"/>
            <a:ext cx="20903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</a:t>
            </a:r>
            <a:endParaRPr lang="en-US" sz="675" dirty="0"/>
          </a:p>
        </p:txBody>
      </p:sp>
      <p:pic>
        <p:nvPicPr>
          <p:cNvPr id="10" name="Image 2" descr="/tmp/rasterized-gradient-dd48d1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081" y="1753642"/>
            <a:ext cx="857250" cy="666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69456" y="2610892"/>
            <a:ext cx="194310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675" dirty="0"/>
          </a:p>
        </p:txBody>
      </p:sp>
      <p:sp>
        <p:nvSpPr>
          <p:cNvPr id="12" name="Text 7"/>
          <p:cNvSpPr/>
          <p:nvPr/>
        </p:nvSpPr>
        <p:spPr>
          <a:xfrm>
            <a:off x="6299746" y="1517452"/>
            <a:ext cx="84251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p(x,y)</a:t>
            </a:r>
            <a:endParaRPr lang="en-US" sz="900" dirty="0"/>
          </a:p>
        </p:txBody>
      </p:sp>
      <p:pic>
        <p:nvPicPr>
          <p:cNvPr id="13" name="Image 3" descr="/tmp/rasterized-gradient-ef132a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0669" y="1753642"/>
            <a:ext cx="857250" cy="6667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595789" y="2610892"/>
            <a:ext cx="374350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</a:t>
            </a:r>
            <a:endParaRPr lang="en-US" sz="675" dirty="0"/>
          </a:p>
        </p:txBody>
      </p:sp>
      <p:pic>
        <p:nvPicPr>
          <p:cNvPr id="15" name="Image 4" descr="/tmp/rasterized-gradient-747cfb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119" y="1753642"/>
            <a:ext cx="857250" cy="6667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10201" y="2610892"/>
            <a:ext cx="20903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</a:t>
            </a:r>
            <a:endParaRPr lang="en-US" sz="675" dirty="0"/>
          </a:p>
        </p:txBody>
      </p:sp>
      <p:pic>
        <p:nvPicPr>
          <p:cNvPr id="17" name="Image 5" descr="/tmp/rasterized-gradient-9ab77d2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17569" y="1753642"/>
            <a:ext cx="857250" cy="66675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7550944" y="2610892"/>
            <a:ext cx="194310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spcBef>
                <a:spcPts val="300"/>
              </a:spcBef>
              <a:buNone/>
            </a:pPr>
            <a:r>
              <a:rPr lang="en-US" sz="67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675" dirty="0"/>
          </a:p>
        </p:txBody>
      </p:sp>
      <p:pic>
        <p:nvPicPr>
          <p:cNvPr id="19" name="Image 6" descr="/tmp/rasterized-gradient-2d6005c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750" y="3026122"/>
            <a:ext cx="2755850" cy="849511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413639" y="3178522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 RMSE</a:t>
            </a:r>
            <a:endParaRPr lang="en-US" sz="750" dirty="0"/>
          </a:p>
        </p:txBody>
      </p:sp>
      <p:sp>
        <p:nvSpPr>
          <p:cNvPr id="21" name="Text 12"/>
          <p:cNvSpPr/>
          <p:nvPr/>
        </p:nvSpPr>
        <p:spPr>
          <a:xfrm>
            <a:off x="413639" y="3349972"/>
            <a:ext cx="250007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2.7×10⁻³</a:t>
            </a:r>
            <a:endParaRPr lang="en-US" sz="2100" dirty="0"/>
          </a:p>
        </p:txBody>
      </p:sp>
      <p:pic>
        <p:nvPicPr>
          <p:cNvPr id="22" name="Image 7" descr="/tmp/rasterized-gradient-2bc230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4000" y="3026122"/>
            <a:ext cx="2755850" cy="849511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3321890" y="3178522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RMSE</a:t>
            </a:r>
            <a:endParaRPr lang="en-US" sz="750" dirty="0"/>
          </a:p>
        </p:txBody>
      </p:sp>
      <p:sp>
        <p:nvSpPr>
          <p:cNvPr id="24" name="Text 14"/>
          <p:cNvSpPr/>
          <p:nvPr/>
        </p:nvSpPr>
        <p:spPr>
          <a:xfrm>
            <a:off x="3321890" y="3349972"/>
            <a:ext cx="250007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1.7×10⁻³</a:t>
            </a:r>
            <a:endParaRPr lang="en-US" sz="2100" dirty="0"/>
          </a:p>
        </p:txBody>
      </p:sp>
      <p:pic>
        <p:nvPicPr>
          <p:cNvPr id="25" name="Image 8" descr="/tmp/rasterized-gradient-0b9a711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02251" y="3026122"/>
            <a:ext cx="2755850" cy="849511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6230140" y="3178522"/>
            <a:ext cx="25000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ERROR</a:t>
            </a:r>
            <a:endParaRPr lang="en-US" sz="750" dirty="0"/>
          </a:p>
        </p:txBody>
      </p:sp>
      <p:sp>
        <p:nvSpPr>
          <p:cNvPr id="27" name="Text 16"/>
          <p:cNvSpPr/>
          <p:nvPr/>
        </p:nvSpPr>
        <p:spPr>
          <a:xfrm>
            <a:off x="6230140" y="3349972"/>
            <a:ext cx="250007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&lt;1%</a:t>
            </a:r>
            <a:endParaRPr lang="en-US" sz="2100" dirty="0"/>
          </a:p>
        </p:txBody>
      </p:sp>
      <p:sp>
        <p:nvSpPr>
          <p:cNvPr id="28" name="Text 17"/>
          <p:cNvSpPr/>
          <p:nvPr/>
        </p:nvSpPr>
        <p:spPr>
          <a:xfrm>
            <a:off x="285750" y="4008983"/>
            <a:ext cx="2781300" cy="407640"/>
          </a:xfrm>
          <a:prstGeom prst="roundRect">
            <a:avLst>
              <a:gd name="adj" fmla="val 18693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18"/>
          <p:cNvSpPr/>
          <p:nvPr/>
        </p:nvSpPr>
        <p:spPr>
          <a:xfrm>
            <a:off x="409575" y="4132808"/>
            <a:ext cx="258432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PINN captures full vector structure of the flow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3181350" y="4008983"/>
            <a:ext cx="2781300" cy="407640"/>
          </a:xfrm>
          <a:prstGeom prst="roundRect">
            <a:avLst>
              <a:gd name="adj" fmla="val 18693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0"/>
          <p:cNvSpPr/>
          <p:nvPr/>
        </p:nvSpPr>
        <p:spPr>
          <a:xfrm>
            <a:off x="3305175" y="4132808"/>
            <a:ext cx="258432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Correct vortex rotation and symmetry</a:t>
            </a:r>
            <a:endParaRPr lang="en-US" sz="900" dirty="0"/>
          </a:p>
        </p:txBody>
      </p:sp>
      <p:sp>
        <p:nvSpPr>
          <p:cNvPr id="32" name="Text 21"/>
          <p:cNvSpPr/>
          <p:nvPr/>
        </p:nvSpPr>
        <p:spPr>
          <a:xfrm>
            <a:off x="6076950" y="4008983"/>
            <a:ext cx="2781300" cy="407640"/>
          </a:xfrm>
          <a:prstGeom prst="roundRect">
            <a:avLst>
              <a:gd name="adj" fmla="val 18693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2"/>
          <p:cNvSpPr/>
          <p:nvPr/>
        </p:nvSpPr>
        <p:spPr>
          <a:xfrm>
            <a:off x="6200775" y="4132808"/>
            <a:ext cx="258432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Sub-percent errors across domain</a:t>
            </a:r>
            <a:endParaRPr lang="en-US" sz="900" dirty="0"/>
          </a:p>
        </p:txBody>
      </p:sp>
      <p:sp>
        <p:nvSpPr>
          <p:cNvPr id="38" name="Footer Placeholder 37">
            <a:extLst>
              <a:ext uri="{FF2B5EF4-FFF2-40B4-BE49-F238E27FC236}">
                <a16:creationId xmlns:a16="http://schemas.microsoft.com/office/drawing/2014/main" id="{05D38C5C-765F-7725-FA7D-0A2A6B6E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PINNs for Climate Modeling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218605"/>
            <a:ext cx="425538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Atmospheric modeling with real ERA5 reanalysis data: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532930"/>
            <a:ext cx="4171950" cy="710357"/>
          </a:xfrm>
          <a:prstGeom prst="roundRect">
            <a:avLst>
              <a:gd name="adj" fmla="val 134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7675" y="1694855"/>
            <a:ext cx="16904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(4D)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47675" y="1898600"/>
            <a:ext cx="169049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lat, lon, pressure, time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57425" y="1728043"/>
            <a:ext cx="23317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38425" y="1694855"/>
            <a:ext cx="16904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(3 vars)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2638425" y="1898600"/>
            <a:ext cx="1690497" cy="182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q, u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5750" y="2357586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Constraints Enforced: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85750" y="2645122"/>
            <a:ext cx="4171950" cy="559891"/>
          </a:xfrm>
          <a:prstGeom prst="roundRect">
            <a:avLst>
              <a:gd name="adj" fmla="val 1361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0050" y="2759422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Hydrostatic Balance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400050" y="2944118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∂T/∂p ≈ -(g/R)·(T/p)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285750" y="3319314"/>
            <a:ext cx="4171950" cy="559891"/>
          </a:xfrm>
          <a:prstGeom prst="roundRect">
            <a:avLst>
              <a:gd name="adj" fmla="val 1361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00050" y="3433614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Conservation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400050" y="3618309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∂T/∂t + u·∂T/∂x ≈ 0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285750" y="3993505"/>
            <a:ext cx="4171950" cy="559891"/>
          </a:xfrm>
          <a:prstGeom prst="roundRect">
            <a:avLst>
              <a:gd name="adj" fmla="val 1361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00050" y="4107805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Moisture Conservation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400050" y="4292501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∂q/∂t + u·∂q/∂x ≈ 0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4686300" y="1370261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Capabilities Gained: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686300" y="1657796"/>
            <a:ext cx="4171950" cy="999083"/>
          </a:xfrm>
          <a:prstGeom prst="roundRect">
            <a:avLst>
              <a:gd name="adj" fmla="val 953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48225" y="1819721"/>
            <a:ext cx="18848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 (Discrete)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4848225" y="2023467"/>
            <a:ext cx="1884807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pressure levels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1°×1° grid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6-hourly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6848475" y="1819721"/>
            <a:ext cx="188480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 (Continuous)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6848475" y="2023467"/>
            <a:ext cx="1884807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pressure level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location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time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4686300" y="2771180"/>
            <a:ext cx="4171950" cy="350490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705350" y="2771180"/>
            <a:ext cx="0" cy="35049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38700" y="2866430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Interpolation:</a:t>
            </a: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Predict at any pressure level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86300" y="3197870"/>
            <a:ext cx="4171950" cy="350490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705350" y="3197870"/>
            <a:ext cx="0" cy="35049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38700" y="3293120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Super-resolution:</a:t>
            </a: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Finer spatial resolution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86300" y="3624560"/>
            <a:ext cx="4171950" cy="350490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705350" y="3624560"/>
            <a:ext cx="0" cy="35049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38700" y="3719810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Derivatives:</a:t>
            </a:r>
            <a:r>
              <a:rPr lang="en-US" sz="9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Automatic ∂T/∂p, ∂q/∂t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86300" y="4051250"/>
            <a:ext cx="4171950" cy="350490"/>
          </a:xfrm>
          <a:prstGeom prst="rect">
            <a:avLst/>
          </a:prstGeom>
          <a:solidFill>
            <a:srgbClr val="F3E8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705350" y="4051250"/>
            <a:ext cx="0" cy="350490"/>
          </a:xfrm>
          <a:prstGeom prst="line">
            <a:avLst/>
          </a:prstGeom>
          <a:noFill/>
          <a:ln w="381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38700" y="4146500"/>
            <a:ext cx="398335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filling:</a:t>
            </a:r>
            <a:r>
              <a:rPr lang="en-US" sz="900" dirty="0">
                <a:solidFill>
                  <a:srgbClr val="6B21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Smooth interpolation</a:t>
            </a:r>
            <a:endParaRPr lang="en-US" sz="900" dirty="0"/>
          </a:p>
        </p:txBody>
      </p:sp>
      <p:sp>
        <p:nvSpPr>
          <p:cNvPr id="43" name="Footer Placeholder 42">
            <a:extLst>
              <a:ext uri="{FF2B5EF4-FFF2-40B4-BE49-F238E27FC236}">
                <a16:creationId xmlns:a16="http://schemas.microsoft.com/office/drawing/2014/main" id="{29C9B304-E815-74DB-5D10-F782A3DAE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66700"/>
            <a:ext cx="87439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285750" y="470446"/>
            <a:ext cx="438169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 Surrogates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5750" y="1327100"/>
            <a:ext cx="874395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expensive simulations with fast neural network approximations.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628031"/>
            <a:ext cx="4210050" cy="874068"/>
          </a:xfrm>
          <a:prstGeom prst="roundRect">
            <a:avLst>
              <a:gd name="adj" fmla="val 8718"/>
            </a:avLst>
          </a:prstGeom>
          <a:solidFill>
            <a:srgbClr val="DC2626">
              <a:alpha val="15000"/>
            </a:srgbClr>
          </a:solidFill>
          <a:ln w="9525">
            <a:solidFill>
              <a:srgbClr val="DC262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28625" y="1770906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SIMULATION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28625" y="1993702"/>
            <a:ext cx="400278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Hours/days per run  •  ✗ Expensive HPC clusters  •  ✗ Limited exploration  •  ✗ No real-time predictions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48200" y="1628031"/>
            <a:ext cx="4210050" cy="874068"/>
          </a:xfrm>
          <a:prstGeom prst="roundRect">
            <a:avLst>
              <a:gd name="adj" fmla="val 8718"/>
            </a:avLst>
          </a:prstGeom>
          <a:solidFill>
            <a:srgbClr val="10B981">
              <a:alpha val="15000"/>
            </a:srgbClr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91075" y="1770906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6EE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SURROGATE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4791075" y="1993702"/>
            <a:ext cx="4002786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Milliseconds/prediction  •  ✓ Runs on laptop  •  ✓ 1000s of scenarios  •  ✓ Real-time analysis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5750" y="2616398"/>
            <a:ext cx="8572500" cy="1030486"/>
          </a:xfrm>
          <a:prstGeom prst="roundRect">
            <a:avLst>
              <a:gd name="adj" fmla="val 7395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28625" y="2759273"/>
            <a:ext cx="845248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75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2322314" y="3001119"/>
            <a:ext cx="1117997" cy="50289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466582" y="3096369"/>
            <a:ext cx="8294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466582" y="3248769"/>
            <a:ext cx="8294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simulations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54611" y="3119140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59411" y="3001119"/>
            <a:ext cx="1170980" cy="50289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003149" y="3096369"/>
            <a:ext cx="8835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003149" y="3248769"/>
            <a:ext cx="88350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NN on data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44691" y="3119140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49491" y="3001119"/>
            <a:ext cx="1372046" cy="50289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591218" y="3096369"/>
            <a:ext cx="10885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591218" y="3248769"/>
            <a:ext cx="108859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NN for inference</a:t>
            </a:r>
            <a:endParaRPr lang="en-US" sz="900" dirty="0"/>
          </a:p>
        </p:txBody>
      </p:sp>
      <p:pic>
        <p:nvPicPr>
          <p:cNvPr id="24" name="Image 0" descr="/tmp/rasterized-gradient-1fda7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3761184"/>
            <a:ext cx="4210050" cy="75426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360235" y="3875484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SPEEDUP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60235" y="4027884"/>
            <a:ext cx="406107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1000×+</a:t>
            </a:r>
            <a:endParaRPr lang="en-US" sz="2100" dirty="0"/>
          </a:p>
        </p:txBody>
      </p:sp>
      <p:pic>
        <p:nvPicPr>
          <p:cNvPr id="27" name="Image 1" descr="/tmp/rasterized-gradient-158a54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3761184"/>
            <a:ext cx="4210050" cy="75426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722685" y="3875484"/>
            <a:ext cx="40610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(R²)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4722685" y="4027884"/>
            <a:ext cx="4061079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~0.98</a:t>
            </a:r>
            <a:endParaRPr lang="en-US" sz="2100" dirty="0"/>
          </a:p>
        </p:txBody>
      </p:sp>
      <p:sp>
        <p:nvSpPr>
          <p:cNvPr id="34" name="Footer Placeholder 33">
            <a:extLst>
              <a:ext uri="{FF2B5EF4-FFF2-40B4-BE49-F238E27FC236}">
                <a16:creationId xmlns:a16="http://schemas.microsoft.com/office/drawing/2014/main" id="{3BEBFEA6-882A-F755-0B36-E7DFDD15A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584873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CO₂ → Temperature Surrogate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227981"/>
            <a:ext cx="425538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 surrogate to predict global temperature anomaly from CO₂ concentration using real observational data.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5750" y="1742331"/>
            <a:ext cx="4171950" cy="975271"/>
          </a:xfrm>
          <a:prstGeom prst="roundRect">
            <a:avLst>
              <a:gd name="adj" fmla="val 976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bl" rotWithShape="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47675" y="1904256"/>
            <a:ext cx="39250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750"/>
              </a:spcAft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47675" y="220131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0075" y="2159496"/>
            <a:ext cx="206074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CO₂: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NOAA Mauna Loa (1958–present)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7675" y="2437507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0075" y="2395686"/>
            <a:ext cx="18034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</a:t>
            </a: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NASA GISTEMP anomalies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5750" y="2831902"/>
            <a:ext cx="4171950" cy="1037779"/>
          </a:xfrm>
          <a:prstGeom prst="roundRect">
            <a:avLst>
              <a:gd name="adj" fmla="val 73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9100" y="2965252"/>
            <a:ext cx="398335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 SURROGATE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19100" y="3188047"/>
            <a:ext cx="3983355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CO₂ sequence (24 months)</a:t>
            </a:r>
            <a:endParaRPr lang="en-US" sz="900" dirty="0"/>
          </a:p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Hidden: 64 units, 2 layers</a:t>
            </a:r>
            <a:endParaRPr lang="en-US" sz="900" dirty="0"/>
          </a:p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Output: Temperature sequence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85750" y="3983980"/>
            <a:ext cx="425538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Scenarios: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5750" y="4258270"/>
            <a:ext cx="985838" cy="28575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3616" y="4334470"/>
            <a:ext cx="8501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Stabilization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347788" y="4258270"/>
            <a:ext cx="985838" cy="28575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15653" y="4334470"/>
            <a:ext cx="8501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Growth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409825" y="4258270"/>
            <a:ext cx="985838" cy="28575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477691" y="4334470"/>
            <a:ext cx="8501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471863" y="4258270"/>
            <a:ext cx="985838" cy="28575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39728" y="4334470"/>
            <a:ext cx="8501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Growth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686300" y="1274564"/>
            <a:ext cx="4171950" cy="1714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03752" y="1436489"/>
            <a:ext cx="11597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Predictions</a:t>
            </a:r>
            <a:endParaRPr lang="en-US" sz="900" dirty="0"/>
          </a:p>
        </p:txBody>
      </p:sp>
      <p:pic>
        <p:nvPicPr>
          <p:cNvPr id="25" name="Image 0" descr="/tmp/rasterized-gradient-bd13ff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225" y="1710779"/>
            <a:ext cx="3848100" cy="906810"/>
          </a:xfrm>
          <a:prstGeom prst="rect">
            <a:avLst/>
          </a:prstGeom>
        </p:spPr>
      </p:pic>
      <p:pic>
        <p:nvPicPr>
          <p:cNvPr id="26" name="Image 1" descr="/tmp/rasterized-svg-56b7d4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25" y="1710779"/>
            <a:ext cx="3848100" cy="90681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658594" y="2693789"/>
            <a:ext cx="22717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response under different CO₂ pathways</a:t>
            </a:r>
            <a:endParaRPr lang="en-US" sz="750" dirty="0"/>
          </a:p>
        </p:txBody>
      </p:sp>
      <p:pic>
        <p:nvPicPr>
          <p:cNvPr id="28" name="Image 2" descr="/tmp/rasterized-gradient-e16c65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3103364"/>
            <a:ext cx="2028825" cy="75813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802029" y="3236714"/>
            <a:ext cx="17973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Score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4802029" y="3408164"/>
            <a:ext cx="179736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0.978</a:t>
            </a:r>
            <a:endParaRPr lang="en-US" sz="1800" dirty="0"/>
          </a:p>
        </p:txBody>
      </p:sp>
      <p:pic>
        <p:nvPicPr>
          <p:cNvPr id="31" name="Image 3" descr="/tmp/rasterized-gradient-0c76f9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9425" y="3103364"/>
            <a:ext cx="2028825" cy="75813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45154" y="3236714"/>
            <a:ext cx="17973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750" dirty="0"/>
          </a:p>
        </p:txBody>
      </p:sp>
      <p:sp>
        <p:nvSpPr>
          <p:cNvPr id="33" name="Text 27"/>
          <p:cNvSpPr/>
          <p:nvPr/>
        </p:nvSpPr>
        <p:spPr>
          <a:xfrm>
            <a:off x="6945154" y="3408164"/>
            <a:ext cx="1797368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3282×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4686300" y="3975795"/>
            <a:ext cx="4171950" cy="521791"/>
          </a:xfrm>
          <a:prstGeom prst="rect">
            <a:avLst/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29"/>
          <p:cNvSpPr/>
          <p:nvPr/>
        </p:nvSpPr>
        <p:spPr>
          <a:xfrm>
            <a:off x="4705350" y="3975795"/>
            <a:ext cx="0" cy="521791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4838700" y="4090095"/>
            <a:ext cx="3983355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</a:t>
            </a:r>
            <a:r>
              <a:rPr lang="en-US" sz="825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Simplified teaching demo. Real climate involves aerosols, methane, volcanic activity, solar variability, and internal cycles.</a:t>
            </a:r>
            <a:endParaRPr lang="en-US" sz="825" dirty="0"/>
          </a:p>
        </p:txBody>
      </p:sp>
      <p:sp>
        <p:nvSpPr>
          <p:cNvPr id="41" name="Footer Placeholder 40">
            <a:extLst>
              <a:ext uri="{FF2B5EF4-FFF2-40B4-BE49-F238E27FC236}">
                <a16:creationId xmlns:a16="http://schemas.microsoft.com/office/drawing/2014/main" id="{C9B1422F-B12C-24BF-4F3F-091298693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What?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290786"/>
            <a:ext cx="2730550" cy="3190577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9050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76250" y="1481286"/>
            <a:ext cx="2349550" cy="377130"/>
          </a:xfrm>
          <a:prstGeom prst="roundRect">
            <a:avLst>
              <a:gd name="adj" fmla="val 15154"/>
            </a:avLst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88772" y="1576536"/>
            <a:ext cx="212450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PINNs When...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6250" y="195366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1500" y="204891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Physical laws (PDEs) are known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6250" y="238035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1500" y="247560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Data is limited or expensive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6250" y="280704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1500" y="290229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Physics consistency is critical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6250" y="3233738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1500" y="3328988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Solving inverse problems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6250" y="3660428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0FDF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71500" y="3755678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Complex boundary conditions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755" y="4144268"/>
            <a:ext cx="23965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transfer, fluid dynamics, structural mechanics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3206800" y="1217414"/>
            <a:ext cx="2730550" cy="3337173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397300" y="1407914"/>
            <a:ext cx="2349550" cy="377130"/>
          </a:xfrm>
          <a:prstGeom prst="roundRect">
            <a:avLst>
              <a:gd name="adj" fmla="val 15154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509821" y="1503164"/>
            <a:ext cx="212450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Surrogates When...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97300" y="1880295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92550" y="1975545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Expensive simulations exist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97300" y="2306985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92550" y="2402235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Many parameter combinations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97300" y="2733675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92550" y="2828925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Real-time predictions needed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97300" y="3160365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92550" y="3255615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Uncertainty quantification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97300" y="3587055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92550" y="3682305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Optimization loops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73804" y="4070896"/>
            <a:ext cx="2396541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scenarios, engineering design, drug discovery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6127849" y="1290786"/>
            <a:ext cx="2730550" cy="3190577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18349" y="1481286"/>
            <a:ext cx="2349550" cy="377130"/>
          </a:xfrm>
          <a:prstGeom prst="roundRect">
            <a:avLst>
              <a:gd name="adj" fmla="val 15154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30871" y="1576536"/>
            <a:ext cx="212450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Hybrid When...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318349" y="195366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413599" y="204891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Physics is partially known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318349" y="238035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413599" y="247560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Both sim + experimental data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349" y="2807047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413599" y="2902297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High accuracy required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18349" y="3233738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413599" y="3328988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Model correction needed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18349" y="3660428"/>
            <a:ext cx="2349550" cy="350490"/>
          </a:xfrm>
          <a:prstGeom prst="roundRect">
            <a:avLst>
              <a:gd name="adj" fmla="val 16306"/>
            </a:avLst>
          </a:prstGeom>
          <a:solidFill>
            <a:srgbClr val="F5F3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413599" y="3755678"/>
            <a:ext cx="22022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Missing physics terms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294854" y="4144268"/>
            <a:ext cx="2396541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300"/>
              </a:spcBef>
              <a:buNone/>
            </a:pPr>
            <a:r>
              <a:rPr lang="en-US" sz="825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prediction, turbulence, multi-physics</a:t>
            </a:r>
            <a:endParaRPr lang="en-US" sz="825" dirty="0"/>
          </a:p>
        </p:txBody>
      </p:sp>
      <p:sp>
        <p:nvSpPr>
          <p:cNvPr id="50" name="Footer Placeholder 49">
            <a:extLst>
              <a:ext uri="{FF2B5EF4-FFF2-40B4-BE49-F238E27FC236}">
                <a16:creationId xmlns:a16="http://schemas.microsoft.com/office/drawing/2014/main" id="{4891F6EB-3629-AE51-A11B-F8369F24B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39000" y="3238500"/>
            <a:ext cx="1333500" cy="1333500"/>
          </a:xfrm>
          <a:prstGeom prst="roundRect">
            <a:avLst>
              <a:gd name="adj" fmla="val 68571"/>
            </a:avLst>
          </a:prstGeom>
          <a:noFill/>
          <a:ln w="19050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85750" y="1351657"/>
            <a:ext cx="2755850" cy="1219200"/>
          </a:xfrm>
          <a:prstGeom prst="roundRect">
            <a:avLst>
              <a:gd name="adj" fmla="val 7813"/>
            </a:avLst>
          </a:prstGeom>
          <a:solidFill>
            <a:srgbClr val="00C9B7">
              <a:alpha val="10000"/>
            </a:srgbClr>
          </a:solidFill>
          <a:ln w="9525">
            <a:solidFill>
              <a:srgbClr val="00C9B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" y="153263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00C9B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6725" y="1989832"/>
            <a:ext cx="24417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physics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directly into neural networks via loss functions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194000" y="1351657"/>
            <a:ext cx="2755850" cy="1219200"/>
          </a:xfrm>
          <a:prstGeom prst="roundRect">
            <a:avLst>
              <a:gd name="adj" fmla="val 7813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74975" y="153263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74975" y="1989832"/>
            <a:ext cx="24417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Autograd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computes PDE derivatives automatically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02251" y="1351657"/>
            <a:ext cx="2755850" cy="1219200"/>
          </a:xfrm>
          <a:prstGeom prst="roundRect">
            <a:avLst>
              <a:gd name="adj" fmla="val 7813"/>
            </a:avLst>
          </a:prstGeom>
          <a:solidFill>
            <a:srgbClr val="8B5CF6">
              <a:alpha val="10000"/>
            </a:srgbClr>
          </a:solidFill>
          <a:ln w="9525">
            <a:solidFill>
              <a:srgbClr val="8B5CF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83226" y="1532632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8B5C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83226" y="1989832"/>
            <a:ext cx="24417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Surrogates</a:t>
            </a: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provide 1000×+ speedup for expensive simulations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85750" y="2723257"/>
            <a:ext cx="8572500" cy="1017240"/>
          </a:xfrm>
          <a:prstGeom prst="roundRect">
            <a:avLst>
              <a:gd name="adj" fmla="val 9364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6725" y="2904232"/>
            <a:ext cx="83747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FROM THIS CHAPTER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5750" y="3892897"/>
            <a:ext cx="2057400" cy="546646"/>
          </a:xfrm>
          <a:prstGeom prst="roundRect">
            <a:avLst>
              <a:gd name="adj" fmla="val 139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81762" y="4007197"/>
            <a:ext cx="18653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Physics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381762" y="4191893"/>
            <a:ext cx="18653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 the PDEs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57450" y="3892897"/>
            <a:ext cx="2057400" cy="546646"/>
          </a:xfrm>
          <a:prstGeom prst="roundRect">
            <a:avLst>
              <a:gd name="adj" fmla="val 139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53462" y="4007197"/>
            <a:ext cx="18653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Rigorously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2553462" y="4191893"/>
            <a:ext cx="18653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vs analytical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629150" y="3892897"/>
            <a:ext cx="2057400" cy="546646"/>
          </a:xfrm>
          <a:prstGeom prst="roundRect">
            <a:avLst>
              <a:gd name="adj" fmla="val 139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5162" y="4007197"/>
            <a:ext cx="18653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Quantify Uncertainty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4725162" y="4191893"/>
            <a:ext cx="18653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confidence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00850" y="3892897"/>
            <a:ext cx="2057400" cy="546646"/>
          </a:xfrm>
          <a:prstGeom prst="roundRect">
            <a:avLst>
              <a:gd name="adj" fmla="val 139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896862" y="4007197"/>
            <a:ext cx="186537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Simple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6896862" y="4191893"/>
            <a:ext cx="18653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solutions first</a:t>
            </a:r>
            <a:endParaRPr lang="en-US" sz="750" dirty="0"/>
          </a:p>
        </p:txBody>
      </p:sp>
      <p:sp>
        <p:nvSpPr>
          <p:cNvPr id="31" name="Footer Placeholder 30">
            <a:extLst>
              <a:ext uri="{FF2B5EF4-FFF2-40B4-BE49-F238E27FC236}">
                <a16:creationId xmlns:a16="http://schemas.microsoft.com/office/drawing/2014/main" id="{64E6D911-4955-645E-B3CC-63975B4F0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0A162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85750" y="228600"/>
            <a:ext cx="43816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0A16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Resources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285750" y="1410891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Papers: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285750" y="1679377"/>
            <a:ext cx="4171950" cy="699046"/>
          </a:xfrm>
          <a:prstGeom prst="roundRect">
            <a:avLst>
              <a:gd name="adj" fmla="val 1090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9575" y="1803202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Raissi et al. (2019)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09575" y="1987897"/>
            <a:ext cx="40027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Physics-informed neural networks: A deep learning framework for solving forward and inverse problems. </a:t>
            </a:r>
            <a:r>
              <a:rPr lang="en-US" sz="7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J. Comp. Physics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85750" y="2473672"/>
            <a:ext cx="4171950" cy="565696"/>
          </a:xfrm>
          <a:prstGeom prst="roundRect">
            <a:avLst>
              <a:gd name="adj" fmla="val 134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9575" y="2597497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Karniadakis et al. (2021)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409575" y="2782193"/>
            <a:ext cx="40027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Physics-informed machine learning. </a:t>
            </a:r>
            <a:r>
              <a:rPr lang="en-US" sz="7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Nature Reviews Physics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285750" y="3134618"/>
            <a:ext cx="4171950" cy="565696"/>
          </a:xfrm>
          <a:prstGeom prst="roundRect">
            <a:avLst>
              <a:gd name="adj" fmla="val 134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09575" y="3258443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 et al. (2021)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09575" y="3443139"/>
            <a:ext cx="40027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DeepXDE: A deep learning library for solving differential equations. </a:t>
            </a:r>
            <a:r>
              <a:rPr lang="en-US" sz="7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SIAM Review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85750" y="3795564"/>
            <a:ext cx="4171950" cy="565696"/>
          </a:xfrm>
          <a:prstGeom prst="roundRect">
            <a:avLst>
              <a:gd name="adj" fmla="val 1347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9575" y="3919389"/>
            <a:ext cx="400278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 et al. (2021)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409575" y="4104084"/>
            <a:ext cx="40027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NSFnets for the incompressible Navier-Stokes equations. </a:t>
            </a:r>
            <a:r>
              <a:rPr lang="en-US" sz="7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J. Comp. Physics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686300" y="1187648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Libraries: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4686300" y="1456134"/>
            <a:ext cx="1339900" cy="489496"/>
          </a:xfrm>
          <a:prstGeom prst="roundRect">
            <a:avLst>
              <a:gd name="adj" fmla="val 11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770056" y="1551384"/>
            <a:ext cx="11723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DeepXDE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70056" y="1730425"/>
            <a:ext cx="117238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 library</a:t>
            </a:r>
            <a:endParaRPr lang="en-US" sz="675" dirty="0"/>
          </a:p>
        </p:txBody>
      </p:sp>
      <p:sp>
        <p:nvSpPr>
          <p:cNvPr id="21" name="Text 19"/>
          <p:cNvSpPr/>
          <p:nvPr/>
        </p:nvSpPr>
        <p:spPr>
          <a:xfrm>
            <a:off x="6102400" y="1456134"/>
            <a:ext cx="1339900" cy="489496"/>
          </a:xfrm>
          <a:prstGeom prst="roundRect">
            <a:avLst>
              <a:gd name="adj" fmla="val 11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86156" y="1551384"/>
            <a:ext cx="11723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6156" y="1730425"/>
            <a:ext cx="117238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675" dirty="0"/>
          </a:p>
        </p:txBody>
      </p:sp>
      <p:sp>
        <p:nvSpPr>
          <p:cNvPr id="24" name="Text 22"/>
          <p:cNvSpPr/>
          <p:nvPr/>
        </p:nvSpPr>
        <p:spPr>
          <a:xfrm>
            <a:off x="7518499" y="1456134"/>
            <a:ext cx="1339900" cy="489496"/>
          </a:xfrm>
          <a:prstGeom prst="roundRect">
            <a:avLst>
              <a:gd name="adj" fmla="val 11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602255" y="1551384"/>
            <a:ext cx="117238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2255" y="1730425"/>
            <a:ext cx="117238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spcBef>
                <a:spcPts val="150"/>
              </a:spcBef>
              <a:buNone/>
            </a:pPr>
            <a:r>
              <a:rPr lang="en-US" sz="67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Autodiff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4686300" y="2117080"/>
            <a:ext cx="425538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600"/>
              </a:spcBef>
              <a:buNone/>
            </a:pPr>
            <a:r>
              <a:rPr lang="en-US" sz="975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4686300" y="2385566"/>
            <a:ext cx="4171950" cy="681038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91075" y="2490341"/>
            <a:ext cx="4041648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ERA5:</a:t>
            </a: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ecmwf.int/era5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NOAA CO₂:</a:t>
            </a: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gml.noaa.gov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825" dirty="0"/>
          </a:p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GISTEMP:</a:t>
            </a:r>
            <a:r>
              <a:rPr lang="en-US" sz="825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data.giss.nasa.gov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4686300" y="3161854"/>
            <a:ext cx="4171950" cy="567630"/>
          </a:xfrm>
          <a:prstGeom prst="roundRect">
            <a:avLst>
              <a:gd name="adj" fmla="val 13424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10125" y="3285679"/>
            <a:ext cx="400278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working code:</a:t>
            </a:r>
            <a:endParaRPr lang="en-US" sz="900" dirty="0"/>
          </a:p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rewriting.ai/bookcode/ai4sci.php</a:t>
            </a:r>
            <a:endParaRPr lang="en-US" sz="900" dirty="0"/>
          </a:p>
        </p:txBody>
      </p:sp>
      <p:pic>
        <p:nvPicPr>
          <p:cNvPr id="32" name="Image 0" descr="/tmp/rasterized-gradient-8d78f6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0" y="3824734"/>
            <a:ext cx="4171950" cy="75976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800600" y="3939034"/>
            <a:ext cx="402221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00C9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Chapter:</a:t>
            </a:r>
            <a:endParaRPr lang="en-US" sz="825" dirty="0"/>
          </a:p>
        </p:txBody>
      </p:sp>
      <p:sp>
        <p:nvSpPr>
          <p:cNvPr id="34" name="Text 31"/>
          <p:cNvSpPr/>
          <p:nvPr/>
        </p:nvSpPr>
        <p:spPr>
          <a:xfrm>
            <a:off x="4800600" y="4123730"/>
            <a:ext cx="4022217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7 — Domain Applications in Chemistry, Biology, Physics, Geoscience, and Medicine</a:t>
            </a:r>
            <a:endParaRPr lang="en-US" sz="975" dirty="0"/>
          </a:p>
        </p:txBody>
      </p:sp>
      <p:sp>
        <p:nvSpPr>
          <p:cNvPr id="39" name="Footer Placeholder 38">
            <a:extLst>
              <a:ext uri="{FF2B5EF4-FFF2-40B4-BE49-F238E27FC236}">
                <a16:creationId xmlns:a16="http://schemas.microsoft.com/office/drawing/2014/main" id="{B6A400EF-351B-CB22-C728-CE318B537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(J. Paul Liu, 2026. Generative AI For Science. Leanpub)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1757</Words>
  <Application>Microsoft Macintosh PowerPoint</Application>
  <PresentationFormat>On-screen Show (16:9)</PresentationFormat>
  <Paragraphs>327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Courier New</vt:lpstr>
      <vt:lpstr>Georgia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Physics-Informed Neural Networks</dc:title>
  <dc:subject>PINNs, Surrogates, and Scientific ML</dc:subject>
  <dc:creator>AI for Science - Chapter 6</dc:creator>
  <cp:lastModifiedBy>Paul Liu</cp:lastModifiedBy>
  <cp:revision>5</cp:revision>
  <dcterms:created xsi:type="dcterms:W3CDTF">2026-01-08T18:02:16Z</dcterms:created>
  <dcterms:modified xsi:type="dcterms:W3CDTF">2026-01-08T19:36:11Z</dcterms:modified>
</cp:coreProperties>
</file>