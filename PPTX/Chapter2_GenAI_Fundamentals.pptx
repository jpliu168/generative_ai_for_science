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968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0" y="381000"/>
            <a:ext cx="1238250" cy="1238250"/>
          </a:xfrm>
          <a:prstGeom prst="roundRect">
            <a:avLst>
              <a:gd name="adj" fmla="val 73846"/>
            </a:avLst>
          </a:prstGeom>
          <a:noFill/>
          <a:ln w="19050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524250"/>
            <a:ext cx="762000" cy="762000"/>
          </a:xfrm>
          <a:prstGeom prst="roundRect">
            <a:avLst>
              <a:gd name="adj" fmla="val 120000"/>
            </a:avLst>
          </a:prstGeom>
          <a:noFill/>
          <a:ln w="19050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52500" y="1524000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A78BFA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59053" y="733574"/>
            <a:ext cx="10257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47235" y="1186011"/>
            <a:ext cx="3745086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40"/>
              </a:lnSpc>
              <a:spcAft>
                <a:spcPts val="900"/>
              </a:spcAft>
              <a:buNone/>
            </a:pPr>
            <a:r>
              <a:rPr lang="en-US" sz="3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2706615" y="1773137"/>
            <a:ext cx="3517026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140"/>
              </a:lnSpc>
              <a:spcAft>
                <a:spcPts val="1500"/>
              </a:spcAft>
              <a:buNone/>
            </a:pPr>
            <a:r>
              <a:rPr lang="en-US" sz="34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3201205" y="2885926"/>
            <a:ext cx="27414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2100"/>
              </a:spcAft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Building Blocks of Generation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69369" y="3571726"/>
            <a:ext cx="848618" cy="304800"/>
          </a:xfrm>
          <a:prstGeom prst="roundRect">
            <a:avLst>
              <a:gd name="adj" fmla="val 62500"/>
            </a:avLst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06615" y="3657451"/>
            <a:ext cx="574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13237" y="3571726"/>
            <a:ext cx="988219" cy="304800"/>
          </a:xfrm>
          <a:prstGeom prst="roundRect">
            <a:avLst>
              <a:gd name="adj" fmla="val 62500"/>
            </a:avLst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49087" y="3657451"/>
            <a:ext cx="7165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96705" y="3571726"/>
            <a:ext cx="899815" cy="304800"/>
          </a:xfrm>
          <a:prstGeom prst="roundRect">
            <a:avLst>
              <a:gd name="adj" fmla="val 62500"/>
            </a:avLst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3440" y="3657451"/>
            <a:ext cx="6263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Matching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591770" y="3571726"/>
            <a:ext cx="982861" cy="304800"/>
          </a:xfrm>
          <a:prstGeom prst="roundRect">
            <a:avLst>
              <a:gd name="adj" fmla="val 62500"/>
            </a:avLst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27674" y="3657451"/>
            <a:ext cx="711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VAEs and GANs</a:t>
            </a:r>
            <a:endParaRPr lang="en-US" sz="750" dirty="0"/>
          </a:p>
        </p:txBody>
      </p:sp>
      <p:pic>
        <p:nvPicPr>
          <p:cNvPr id="17" name="Image 0" descr="/tmp/rasterized-gradient-064a5e8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4371826"/>
            <a:ext cx="1143000" cy="381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48293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6148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 of Generative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438573"/>
            <a:ext cx="874395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generative AI rests on three major architectural families: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285750" y="1745159"/>
            <a:ext cx="2768650" cy="1704677"/>
          </a:xfrm>
          <a:prstGeom prst="roundRect">
            <a:avLst>
              <a:gd name="adj" fmla="val 6705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/tmp/rasterized-gradient-af04b8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16609"/>
            <a:ext cx="2425750" cy="363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098" y="2011859"/>
            <a:ext cx="22799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and LLMs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57200" y="2375595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</a:t>
            </a: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Self-attention over sequences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57200" y="261744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Text, code, sequences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457200" y="2859286"/>
            <a:ext cx="2425750" cy="419100"/>
          </a:xfrm>
          <a:prstGeom prst="roundRect">
            <a:avLst>
              <a:gd name="adj" fmla="val 13636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33400" y="2935486"/>
            <a:ext cx="23188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synthesis, protein sequences, code generation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187750" y="1811834"/>
            <a:ext cx="2768650" cy="1571327"/>
          </a:xfrm>
          <a:prstGeom prst="roundRect">
            <a:avLst>
              <a:gd name="adj" fmla="val 727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/tmp/rasterized-gradient-f6f12e0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200" y="1983284"/>
            <a:ext cx="2425750" cy="3637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32097" y="2078534"/>
            <a:ext cx="22799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and Flow Models</a:t>
            </a:r>
            <a:endParaRPr lang="en-US" sz="975" dirty="0"/>
          </a:p>
        </p:txBody>
      </p:sp>
      <p:sp>
        <p:nvSpPr>
          <p:cNvPr id="15" name="Text 11"/>
          <p:cNvSpPr/>
          <p:nvPr/>
        </p:nvSpPr>
        <p:spPr>
          <a:xfrm>
            <a:off x="3359200" y="244227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</a:t>
            </a: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Iterative denoising / flow matching</a:t>
            </a:r>
            <a:endParaRPr lang="en-US" sz="825" dirty="0"/>
          </a:p>
        </p:txBody>
      </p:sp>
      <p:sp>
        <p:nvSpPr>
          <p:cNvPr id="16" name="Text 12"/>
          <p:cNvSpPr/>
          <p:nvPr/>
        </p:nvSpPr>
        <p:spPr>
          <a:xfrm>
            <a:off x="3359200" y="2684115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Structured outputs, images</a:t>
            </a:r>
            <a:endParaRPr lang="en-US" sz="825" dirty="0"/>
          </a:p>
        </p:txBody>
      </p:sp>
      <p:sp>
        <p:nvSpPr>
          <p:cNvPr id="17" name="Text 13"/>
          <p:cNvSpPr/>
          <p:nvPr/>
        </p:nvSpPr>
        <p:spPr>
          <a:xfrm>
            <a:off x="3359200" y="2925961"/>
            <a:ext cx="2425750" cy="285750"/>
          </a:xfrm>
          <a:prstGeom prst="roundRect">
            <a:avLst>
              <a:gd name="adj" fmla="val 20000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435400" y="3002161"/>
            <a:ext cx="2318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structures, protein folding, climate data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6089749" y="1811834"/>
            <a:ext cx="2768650" cy="1571327"/>
          </a:xfrm>
          <a:prstGeom prst="roundRect">
            <a:avLst>
              <a:gd name="adj" fmla="val 727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/tmp/rasterized-gradient-6bcf93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1199" y="1983284"/>
            <a:ext cx="2425750" cy="3637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34097" y="2078534"/>
            <a:ext cx="22799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VAEs and GANs</a:t>
            </a:r>
            <a:endParaRPr lang="en-US" sz="975" dirty="0"/>
          </a:p>
        </p:txBody>
      </p:sp>
      <p:sp>
        <p:nvSpPr>
          <p:cNvPr id="22" name="Text 17"/>
          <p:cNvSpPr/>
          <p:nvPr/>
        </p:nvSpPr>
        <p:spPr>
          <a:xfrm>
            <a:off x="6261199" y="2442270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</a:t>
            </a: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Latent space learning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6261199" y="2684115"/>
            <a:ext cx="24742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Data generation, interpolation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6261199" y="2925961"/>
            <a:ext cx="2425750" cy="28575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6337399" y="3002161"/>
            <a:ext cx="2318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data, anomaly detection, compression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285750" y="3583186"/>
            <a:ext cx="8572500" cy="636091"/>
          </a:xfrm>
          <a:prstGeom prst="roundRect">
            <a:avLst>
              <a:gd name="adj" fmla="val 14974"/>
            </a:avLst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19100" y="3716536"/>
            <a:ext cx="84719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UNDERSTANDING FUNDAMENTALS MATTERS</a:t>
            </a:r>
            <a:endParaRPr lang="en-US" sz="825" dirty="0"/>
          </a:p>
        </p:txBody>
      </p:sp>
      <p:sp>
        <p:nvSpPr>
          <p:cNvPr id="28" name="Text 23"/>
          <p:cNvSpPr/>
          <p:nvPr/>
        </p:nvSpPr>
        <p:spPr>
          <a:xfrm>
            <a:off x="419100" y="3939332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appropriate models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2533650" y="3939332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and fix failures</a:t>
            </a:r>
            <a:endParaRPr lang="en-US" sz="825" dirty="0"/>
          </a:p>
        </p:txBody>
      </p:sp>
      <p:sp>
        <p:nvSpPr>
          <p:cNvPr id="30" name="Text 25"/>
          <p:cNvSpPr/>
          <p:nvPr/>
        </p:nvSpPr>
        <p:spPr>
          <a:xfrm>
            <a:off x="4648200" y="3939332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pre-trained models</a:t>
            </a:r>
            <a:endParaRPr lang="en-US" sz="825" dirty="0"/>
          </a:p>
        </p:txBody>
      </p:sp>
      <p:sp>
        <p:nvSpPr>
          <p:cNvPr id="31" name="Text 26"/>
          <p:cNvSpPr/>
          <p:nvPr/>
        </p:nvSpPr>
        <p:spPr>
          <a:xfrm>
            <a:off x="6762750" y="3939332"/>
            <a:ext cx="20013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with researchers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I: TRANSFORMERS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32346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Attention Revolution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5750" y="1430685"/>
            <a:ext cx="42942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neural networks process sequences step-by-step. </a:t>
            </a:r>
            <a:r>
              <a:rPr lang="en-US" sz="900" b="1" dirty="0">
                <a:solidFill>
                  <a:srgbClr val="A78BFA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let every element directly attend to every other element simultaneously.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887885"/>
            <a:ext cx="4210050" cy="1617166"/>
          </a:xfrm>
          <a:prstGeom prst="roundRect">
            <a:avLst>
              <a:gd name="adj" fmla="val 5890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203076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ATTENTION COMPONENTS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428625" y="227632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9084" y="2335411"/>
            <a:ext cx="1058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8675" y="2272605"/>
            <a:ext cx="258918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8675" y="2451646"/>
            <a:ext cx="25891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am I looking for?" — The question each element asks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28625" y="266491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2805" y="2724001"/>
            <a:ext cx="983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8675" y="2661196"/>
            <a:ext cx="25044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8675" y="2840236"/>
            <a:ext cx="2504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I contain?" — How each element describes itself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8625" y="3053507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6525" y="3112591"/>
            <a:ext cx="9077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8675" y="3049786"/>
            <a:ext cx="2821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8675" y="3228826"/>
            <a:ext cx="28214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I contribute?" — The information each element provides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5750" y="3619351"/>
            <a:ext cx="4210050" cy="792361"/>
          </a:xfrm>
          <a:prstGeom prst="roundRect">
            <a:avLst>
              <a:gd name="adj" fmla="val 96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3733651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FORMULA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0050" y="3924151"/>
            <a:ext cx="406107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= softmax(Q·K^T / sqrt(d_k)) · V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48200" y="1501378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 FOR SCIENCE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48200" y="1743224"/>
            <a:ext cx="4210050" cy="592336"/>
          </a:xfrm>
          <a:prstGeom prst="roundRect">
            <a:avLst>
              <a:gd name="adj" fmla="val 12864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72025" y="1867049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Sequences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2025" y="2065139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distant amino acids that interact in 3D space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48200" y="2411760"/>
            <a:ext cx="4210050" cy="592336"/>
          </a:xfrm>
          <a:prstGeom prst="roundRect">
            <a:avLst>
              <a:gd name="adj" fmla="val 12864"/>
            </a:avLst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2025" y="2535585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Literature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2025" y="2733675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concepts mentioned paragraphs apart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48200" y="3080296"/>
            <a:ext cx="4210050" cy="592336"/>
          </a:xfrm>
          <a:prstGeom prst="roundRect">
            <a:avLst>
              <a:gd name="adj" fmla="val 12864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72025" y="3204121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Reactions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72025" y="3402211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relationships between reactants and products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648200" y="3748832"/>
            <a:ext cx="4210050" cy="592336"/>
          </a:xfrm>
          <a:prstGeom prst="roundRect">
            <a:avLst>
              <a:gd name="adj" fmla="val 12864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72025" y="3872657"/>
            <a:ext cx="404164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2025" y="4070747"/>
            <a:ext cx="40416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long-range temporal dependencies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Transformer Architecture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5750" y="1389906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 architecture with stacked attention and feed-forward layers: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664196"/>
            <a:ext cx="4191000" cy="2584698"/>
          </a:xfrm>
          <a:prstGeom prst="roundRect">
            <a:avLst>
              <a:gd name="adj" fmla="val 3685"/>
            </a:avLst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86011" y="1797546"/>
            <a:ext cx="2390477" cy="298996"/>
          </a:xfrm>
          <a:prstGeom prst="roundRect">
            <a:avLst>
              <a:gd name="adj" fmla="val 1911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76511" y="1873746"/>
            <a:ext cx="20496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→ Embedding → Positional Encoding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347913" y="2153692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9100" y="2397472"/>
            <a:ext cx="3924300" cy="1118146"/>
          </a:xfrm>
          <a:prstGeom prst="roundRect">
            <a:avLst>
              <a:gd name="adj" fmla="val 681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40507" y="2502247"/>
            <a:ext cx="1881485" cy="247650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73857" y="2559397"/>
            <a:ext cx="16470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 → Add and Norm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52675" y="2787997"/>
            <a:ext cx="582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70286" y="2986088"/>
            <a:ext cx="1621929" cy="24765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03636" y="3043238"/>
            <a:ext cx="13823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→ Add and Norm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6727" y="3290888"/>
            <a:ext cx="378904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450"/>
              </a:spcBef>
              <a:buNone/>
            </a:pPr>
            <a:r>
              <a:rPr lang="en-US" sz="675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N layers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2347913" y="3572768"/>
            <a:ext cx="680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33550" y="3816548"/>
            <a:ext cx="1295400" cy="298996"/>
          </a:xfrm>
          <a:prstGeom prst="roundRect">
            <a:avLst>
              <a:gd name="adj" fmla="val 1911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924050" y="3892748"/>
            <a:ext cx="9326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Probabilities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667250" y="1369814"/>
            <a:ext cx="42748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Components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7250" y="1625054"/>
            <a:ext cx="4191000" cy="508546"/>
          </a:xfrm>
          <a:prstGeom prst="roundRect">
            <a:avLst>
              <a:gd name="adj" fmla="val 14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2025" y="1729829"/>
            <a:ext cx="323495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Attention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772025" y="1895475"/>
            <a:ext cx="32349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different relationship patterns simultaneously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8038802" y="1762125"/>
            <a:ext cx="714673" cy="234255"/>
          </a:xfrm>
          <a:prstGeom prst="roundRect">
            <a:avLst>
              <a:gd name="adj" fmla="val 16264"/>
            </a:avLst>
          </a:prstGeom>
          <a:solidFill>
            <a:srgbClr val="F5F3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34052" y="1819275"/>
            <a:ext cx="53465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types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4667250" y="2190750"/>
            <a:ext cx="4191000" cy="508546"/>
          </a:xfrm>
          <a:prstGeom prst="roundRect">
            <a:avLst>
              <a:gd name="adj" fmla="val 14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72025" y="2295525"/>
            <a:ext cx="307951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72025" y="2461171"/>
            <a:ext cx="30795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training of very deep networks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886402" y="2327821"/>
            <a:ext cx="867073" cy="234255"/>
          </a:xfrm>
          <a:prstGeom prst="roundRect">
            <a:avLst>
              <a:gd name="adj" fmla="val 16264"/>
            </a:avLst>
          </a:prstGeom>
          <a:solidFill>
            <a:srgbClr val="ECFE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81652" y="2384971"/>
            <a:ext cx="69010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params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667250" y="2756446"/>
            <a:ext cx="4191000" cy="508546"/>
          </a:xfrm>
          <a:prstGeom prst="roundRect">
            <a:avLst>
              <a:gd name="adj" fmla="val 14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72025" y="2861221"/>
            <a:ext cx="307450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Normalization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772025" y="3026866"/>
            <a:ext cx="30745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Stabilize and speed up training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881491" y="2893516"/>
            <a:ext cx="871984" cy="234255"/>
          </a:xfrm>
          <a:prstGeom prst="roundRect">
            <a:avLst>
              <a:gd name="adj" fmla="val 16264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976741" y="2950666"/>
            <a:ext cx="6951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convergence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667250" y="3322141"/>
            <a:ext cx="4191000" cy="508546"/>
          </a:xfrm>
          <a:prstGeom prst="roundRect">
            <a:avLst>
              <a:gd name="adj" fmla="val 149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2025" y="3426916"/>
            <a:ext cx="31136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Positional Encoding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772025" y="3592562"/>
            <a:ext cx="31136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sequence order without recurrence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919889" y="3459212"/>
            <a:ext cx="833586" cy="234255"/>
          </a:xfrm>
          <a:prstGeom prst="roundRect">
            <a:avLst>
              <a:gd name="adj" fmla="val 1626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015139" y="3516362"/>
            <a:ext cx="65594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DNA, time series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667250" y="3925937"/>
            <a:ext cx="4191000" cy="34290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 w="9525">
            <a:solidFill>
              <a:srgbClr val="C4B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72025" y="4030712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et al. (2017):</a:t>
            </a: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"Attention Is All You Need" — the paper that started it all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58875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Transformers to Large Language Models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85750" y="1459557"/>
            <a:ext cx="4210050" cy="1411188"/>
          </a:xfrm>
          <a:prstGeom prst="roundRect">
            <a:avLst>
              <a:gd name="adj" fmla="val 6750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625" y="1602432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PRE-TRAINING: LEARNING GENERAL PATTERNS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428625" y="1825228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Predict next token given context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28625" y="2048024"/>
            <a:ext cx="3924300" cy="679847"/>
          </a:xfrm>
          <a:prstGeom prst="roundRect">
            <a:avLst>
              <a:gd name="adj" fmla="val 840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3875" y="2143274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523875" y="2301329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"The protein binds to the"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23875" y="2486025"/>
            <a:ext cx="38084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"receptor"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85750" y="2965996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PRE-TRAINED MODELS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85750" y="3207841"/>
            <a:ext cx="2066925" cy="457051"/>
          </a:xfrm>
          <a:prstGeom prst="roundRect">
            <a:avLst>
              <a:gd name="adj" fmla="val 1250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1475" y="3293566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SciBERT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71475" y="3459212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papers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428875" y="3207841"/>
            <a:ext cx="2066925" cy="457051"/>
          </a:xfrm>
          <a:prstGeom prst="roundRect">
            <a:avLst>
              <a:gd name="adj" fmla="val 1250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14600" y="3293566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ESM-2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514600" y="3459212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750M protein sequences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285750" y="3722043"/>
            <a:ext cx="2066925" cy="457051"/>
          </a:xfrm>
          <a:prstGeom prst="roundRect">
            <a:avLst>
              <a:gd name="adj" fmla="val 12504"/>
            </a:avLst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1475" y="3807768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ESM-3 (2025)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371475" y="3973413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98B params, multimodal protein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428875" y="3722043"/>
            <a:ext cx="2066925" cy="457051"/>
          </a:xfrm>
          <a:prstGeom prst="roundRect">
            <a:avLst>
              <a:gd name="adj" fmla="val 1250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14600" y="3807768"/>
            <a:ext cx="193338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3.1/3.3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514600" y="3973413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128K context, open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648200" y="1441252"/>
            <a:ext cx="4210050" cy="1365796"/>
          </a:xfrm>
          <a:prstGeom prst="roundRect">
            <a:avLst>
              <a:gd name="adj" fmla="val 6974"/>
            </a:avLst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1075" y="1584127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FINE-TUNING: DOMAIN SPECIALIZATION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791075" y="1806922"/>
            <a:ext cx="666750" cy="247650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2132" y="1864072"/>
            <a:ext cx="524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34025" y="1864072"/>
            <a:ext cx="13988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params — 10K-100K data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91075" y="2111722"/>
            <a:ext cx="666750" cy="24765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62132" y="2168872"/>
            <a:ext cx="524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34025" y="2168872"/>
            <a:ext cx="13934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0.1-1% params — 100-10K data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91075" y="2416522"/>
            <a:ext cx="666750" cy="247650"/>
          </a:xfrm>
          <a:prstGeom prst="roundRect">
            <a:avLst>
              <a:gd name="adj" fmla="val 1538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62132" y="2473672"/>
            <a:ext cx="5246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34025" y="2473672"/>
            <a:ext cx="10260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70B on consumer GPU!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48200" y="2902297"/>
            <a:ext cx="4210050" cy="1295251"/>
          </a:xfrm>
          <a:prstGeom prst="roundRect">
            <a:avLst>
              <a:gd name="adj" fmla="val 7354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91075" y="3045172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PROMPTING: ZERO-SHOT AND FEW-SHOT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791075" y="3267968"/>
            <a:ext cx="3924300" cy="786705"/>
          </a:xfrm>
          <a:prstGeom prst="roundRect">
            <a:avLst>
              <a:gd name="adj" fmla="val 726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86325" y="3363218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EXAMPLE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4886325" y="3521273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CCO → Ethanol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86325" y="3654623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CC(C)O → Propan-2-ol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86325" y="3826073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CCCO → ?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PARADIGM 2024-2025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85750" y="432346"/>
            <a:ext cx="564470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 Models: Think Before Responding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85750" y="1732657"/>
            <a:ext cx="427482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standard LLMs that generate answers in a single pass, </a:t>
            </a: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models</a:t>
            </a: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produce an internal chain of thought before responding.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2319338"/>
            <a:ext cx="2028825" cy="685800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9575" y="2443163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LLM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36848" y="2633663"/>
            <a:ext cx="402431" cy="247650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32098" y="2690813"/>
            <a:ext cx="2161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96429" y="2664172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86929" y="2633663"/>
            <a:ext cx="476548" cy="247650"/>
          </a:xfrm>
          <a:prstGeom prst="roundRect">
            <a:avLst>
              <a:gd name="adj" fmla="val 15385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82179" y="2690813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428875" y="2218432"/>
            <a:ext cx="2047875" cy="887611"/>
          </a:xfrm>
          <a:prstGeom prst="roundRect">
            <a:avLst>
              <a:gd name="adj" fmla="val 10731"/>
            </a:avLst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62225" y="2351782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50034" y="2542282"/>
            <a:ext cx="343198" cy="196155"/>
          </a:xfrm>
          <a:prstGeom prst="roundRect">
            <a:avLst>
              <a:gd name="adj" fmla="val 1942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26234" y="2580382"/>
            <a:ext cx="1946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031331" y="256029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83731" y="2542282"/>
            <a:ext cx="362099" cy="196155"/>
          </a:xfrm>
          <a:prstGeom prst="roundRect">
            <a:avLst>
              <a:gd name="adj" fmla="val 1942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59931" y="2580382"/>
            <a:ext cx="21389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583930" y="256029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736330" y="2542282"/>
            <a:ext cx="366861" cy="196155"/>
          </a:xfrm>
          <a:prstGeom prst="roundRect">
            <a:avLst>
              <a:gd name="adj" fmla="val 19423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12530" y="2580382"/>
            <a:ext cx="21875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4141291" y="256029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7876" y="2776538"/>
            <a:ext cx="409873" cy="196155"/>
          </a:xfrm>
          <a:prstGeom prst="roundRect">
            <a:avLst>
              <a:gd name="adj" fmla="val 1942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24076" y="2814638"/>
            <a:ext cx="2626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85750" y="3220343"/>
            <a:ext cx="4191000" cy="889546"/>
          </a:xfrm>
          <a:prstGeom prst="roundRect">
            <a:avLst>
              <a:gd name="adj" fmla="val 107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09575" y="3344168"/>
            <a:ext cx="40222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09575" y="3566964"/>
            <a:ext cx="1933575" cy="4191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775" y="3643164"/>
            <a:ext cx="1816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reasoning time for complex problems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419350" y="3633639"/>
            <a:ext cx="1933575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495550" y="3709839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planning and self-verification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67250" y="1292572"/>
            <a:ext cx="4274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APPLICATIONS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67250" y="1534418"/>
            <a:ext cx="4191000" cy="5028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686300" y="1534418"/>
            <a:ext cx="0" cy="50289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38700" y="162966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Mathematical Proofs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8700" y="1808708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derivations with verification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7250" y="2113508"/>
            <a:ext cx="4191000" cy="5028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686300" y="2113508"/>
            <a:ext cx="0" cy="50289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38700" y="220875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38700" y="2387798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multi-step procedures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67250" y="2692598"/>
            <a:ext cx="4191000" cy="5028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86300" y="2692598"/>
            <a:ext cx="0" cy="50289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38700" y="2787848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Debugging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38700" y="296688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error analysis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667250" y="3271689"/>
            <a:ext cx="4191000" cy="50289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86300" y="3271689"/>
            <a:ext cx="0" cy="5028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38700" y="3366939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Evaluation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38700" y="3545979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chains of reasoning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667250" y="3869829"/>
            <a:ext cx="4191000" cy="679996"/>
          </a:xfrm>
          <a:prstGeom prst="roundRect">
            <a:avLst>
              <a:gd name="adj" fmla="val 14007"/>
            </a:avLst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781550" y="3984129"/>
            <a:ext cx="40416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MODELS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81550" y="4174629"/>
            <a:ext cx="875258" cy="260896"/>
          </a:xfrm>
          <a:prstGeom prst="roundRect">
            <a:avLst>
              <a:gd name="adj" fmla="val 219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895850" y="4231779"/>
            <a:ext cx="65959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o1/o3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5733008" y="4174629"/>
            <a:ext cx="1123504" cy="260896"/>
          </a:xfrm>
          <a:prstGeom prst="roundRect">
            <a:avLst>
              <a:gd name="adj" fmla="val 219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47308" y="4231779"/>
            <a:ext cx="91280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Deep Think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6932712" y="4174629"/>
            <a:ext cx="560636" cy="260896"/>
          </a:xfrm>
          <a:prstGeom prst="roundRect">
            <a:avLst>
              <a:gd name="adj" fmla="val 2190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047012" y="4231779"/>
            <a:ext cx="33867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II: DIFFUSION AND FLOW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32346"/>
            <a:ext cx="53921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Diffusion Models: The Denoising Paradigm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5750" y="1484114"/>
            <a:ext cx="429425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learn to generate by reversing a noise-addition process: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85750" y="1758404"/>
            <a:ext cx="4210050" cy="794296"/>
          </a:xfrm>
          <a:prstGeom prst="roundRect">
            <a:avLst>
              <a:gd name="adj" fmla="val 11992"/>
            </a:avLst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625" y="1901279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PROCESS: ADDING NOISE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115020" y="2124075"/>
            <a:ext cx="578048" cy="28575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29320" y="2200275"/>
            <a:ext cx="3564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x0 (real)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750219" y="218688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1669" y="2124075"/>
            <a:ext cx="329208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35969" y="2200275"/>
            <a:ext cx="102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308027" y="218688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79477" y="2124075"/>
            <a:ext cx="308074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93777" y="2200275"/>
            <a:ext cx="81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44701" y="2186880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16151" y="2124075"/>
            <a:ext cx="650379" cy="28575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30451" y="2200275"/>
            <a:ext cx="4302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 (noise)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85750" y="2667000"/>
            <a:ext cx="4210050" cy="794296"/>
          </a:xfrm>
          <a:prstGeom prst="roundRect">
            <a:avLst>
              <a:gd name="adj" fmla="val 11992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8625" y="2809875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PROCESS: LEARNING TO DENOISE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1093887" y="3032671"/>
            <a:ext cx="650379" cy="28575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08187" y="3108871"/>
            <a:ext cx="4302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xT (noise)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01416" y="3095476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72866" y="3032671"/>
            <a:ext cx="308074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87166" y="3108871"/>
            <a:ext cx="810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338090" y="3095476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09540" y="3032671"/>
            <a:ext cx="329208" cy="285750"/>
          </a:xfrm>
          <a:prstGeom prst="roundRect">
            <a:avLst>
              <a:gd name="adj" fmla="val 2000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23840" y="3108871"/>
            <a:ext cx="1026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895898" y="3095476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67348" y="3032671"/>
            <a:ext cx="620316" cy="28575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181648" y="3108871"/>
            <a:ext cx="3995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x0 (new!)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85750" y="3575596"/>
            <a:ext cx="4210050" cy="782836"/>
          </a:xfrm>
          <a:prstGeom prst="roundRect">
            <a:avLst>
              <a:gd name="adj" fmla="val 973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00050" y="3689896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OBJECTIVE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00050" y="3880396"/>
            <a:ext cx="406107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E[||epsilon - epsilon_pred(x_t, t)||^2]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00050" y="4110782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network to predict the added noise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48200" y="1431727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DIFFUSION WORKS FOR SCIENCE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4648200" y="1673572"/>
            <a:ext cx="2066925" cy="495151"/>
          </a:xfrm>
          <a:prstGeom prst="roundRect">
            <a:avLst>
              <a:gd name="adj" fmla="val 153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52975" y="1778347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Quality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752975" y="1943993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structures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791325" y="1673572"/>
            <a:ext cx="2066925" cy="495151"/>
          </a:xfrm>
          <a:prstGeom prst="roundRect">
            <a:avLst>
              <a:gd name="adj" fmla="val 153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96100" y="1778347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Training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896100" y="1943993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than GANs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4648200" y="2225873"/>
            <a:ext cx="2066925" cy="495151"/>
          </a:xfrm>
          <a:prstGeom prst="roundRect">
            <a:avLst>
              <a:gd name="adj" fmla="val 153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752975" y="2330648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4752975" y="2496294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generation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6791325" y="2225873"/>
            <a:ext cx="2066925" cy="495151"/>
          </a:xfrm>
          <a:prstGeom prst="roundRect">
            <a:avLst>
              <a:gd name="adj" fmla="val 15389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896100" y="2330648"/>
            <a:ext cx="18945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150"/>
              </a:spcAft>
              <a:buNone/>
            </a:pPr>
            <a:r>
              <a:rPr lang="en-US" sz="825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6896100" y="2496294"/>
            <a:ext cx="189452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constraints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4648200" y="2854375"/>
            <a:ext cx="429425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4648200" y="3096220"/>
            <a:ext cx="4210050" cy="285750"/>
          </a:xfrm>
          <a:prstGeom prst="rect">
            <a:avLst/>
          </a:prstGeom>
          <a:solidFill>
            <a:srgbClr val="A78BFA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662488" y="3096220"/>
            <a:ext cx="0" cy="285750"/>
          </a:xfrm>
          <a:prstGeom prst="line">
            <a:avLst/>
          </a:prstGeom>
          <a:noFill/>
          <a:ln w="285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91075" y="3172420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conformations</a:t>
            </a: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valency constraints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648200" y="3439120"/>
            <a:ext cx="4210050" cy="285750"/>
          </a:xfrm>
          <a:prstGeom prst="rect">
            <a:avLst/>
          </a:prstGeom>
          <a:solidFill>
            <a:srgbClr val="0891B2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4662488" y="3439120"/>
            <a:ext cx="0" cy="285750"/>
          </a:xfrm>
          <a:prstGeom prst="line">
            <a:avLst/>
          </a:prstGeom>
          <a:noFill/>
          <a:ln w="285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791075" y="3515320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RFdiffusion</a:t>
            </a: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protein structure design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648200" y="3782020"/>
            <a:ext cx="4210050" cy="285750"/>
          </a:xfrm>
          <a:prstGeom prst="rect">
            <a:avLst/>
          </a:prstGeom>
          <a:solidFill>
            <a:srgbClr val="059669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4662488" y="3782020"/>
            <a:ext cx="0" cy="285750"/>
          </a:xfrm>
          <a:prstGeom prst="line">
            <a:avLst/>
          </a:prstGeom>
          <a:noFill/>
          <a:ln w="28575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91075" y="3858220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GenCast</a:t>
            </a: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probabilistic weather forecasting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648200" y="4124920"/>
            <a:ext cx="4210050" cy="285750"/>
          </a:xfrm>
          <a:prstGeom prst="rect">
            <a:avLst/>
          </a:prstGeom>
          <a:solidFill>
            <a:srgbClr val="FBBF2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4662488" y="4124920"/>
            <a:ext cx="0" cy="285750"/>
          </a:xfrm>
          <a:prstGeom prst="line">
            <a:avLst/>
          </a:prstGeom>
          <a:noFill/>
          <a:ln w="285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791075" y="4201120"/>
            <a:ext cx="403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</a:t>
            </a: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high-resolution images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2023-2025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285750" y="432346"/>
            <a:ext cx="490632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Matching: A Powerful Alternative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85750" y="1235869"/>
            <a:ext cx="427482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learning to reverse a noising process, </a:t>
            </a:r>
            <a:r>
              <a:rPr lang="en-US" sz="9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matching</a:t>
            </a:r>
            <a:r>
              <a:rPr lang="en-US" sz="9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learns a velocity field that transports samples from noise to data along continuous paths.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285750" y="1916906"/>
            <a:ext cx="2028825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9575" y="2040731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09575" y="2231231"/>
            <a:ext cx="1781175" cy="66675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8918" y="2326481"/>
            <a:ext cx="1622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Curved, noisy paths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88918" y="2497931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〰️ → 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28875" y="1907381"/>
            <a:ext cx="2047875" cy="1123950"/>
          </a:xfrm>
          <a:prstGeom prst="roundRect">
            <a:avLst>
              <a:gd name="adj" fmla="val 8475"/>
            </a:avLst>
          </a:prstGeom>
          <a:solidFill>
            <a:srgbClr val="ECFEFF"/>
          </a:solidFill>
          <a:ln w="19050">
            <a:solidFill>
              <a:srgbClr val="0891B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62225" y="2040731"/>
            <a:ext cx="18167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MATCHING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562225" y="2231231"/>
            <a:ext cx="1781175" cy="666750"/>
          </a:xfrm>
          <a:prstGeom prst="roundRect">
            <a:avLst>
              <a:gd name="adj" fmla="val 8571"/>
            </a:avLst>
          </a:prstGeom>
          <a:solidFill>
            <a:srgbClr val="CFF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641568" y="2326481"/>
            <a:ext cx="1622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Straighter trajectories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41568" y="2497931"/>
            <a:ext cx="16224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→ 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5750" y="3145631"/>
            <a:ext cx="4191000" cy="1461046"/>
          </a:xfrm>
          <a:prstGeom prst="roundRect">
            <a:avLst>
              <a:gd name="adj" fmla="val 65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8625" y="3288506"/>
            <a:ext cx="39833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750"/>
              </a:spcAft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28625" y="353035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7384" y="355892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5325" y="3552230"/>
            <a:ext cx="228086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sampling steps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straighter trajectories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28625" y="377800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7384" y="380657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5325" y="3799880"/>
            <a:ext cx="17580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training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simpler objectives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28625" y="402565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7384" y="405422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95325" y="4047530"/>
            <a:ext cx="17030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2-4x faster inference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than diffusion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28625" y="4273302"/>
            <a:ext cx="190500" cy="1905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7384" y="430187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5325" y="4295180"/>
            <a:ext cx="21082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conditioning</a:t>
            </a:r>
            <a:r>
              <a:rPr lang="en-US" sz="82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natural constraints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67250" y="1308795"/>
            <a:ext cx="4274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MATCHING IN BIOLOGY (2024-2025)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667250" y="1550640"/>
            <a:ext cx="419100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91075" y="1674465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Molecule Generation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91075" y="1872555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NeurIPS 2023 — drug-like compounds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7250" y="2205930"/>
            <a:ext cx="419100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91075" y="2329755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Backbone Generation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91075" y="252784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SE(3)-equivariant flows (ICLR 2024)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67250" y="2861221"/>
            <a:ext cx="419100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791075" y="2985046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Antibody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91075" y="318313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IgFlow and dyAb frameworks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67250" y="3516511"/>
            <a:ext cx="419100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91075" y="3640336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 Generation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91075" y="3838426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ICML 2024 — biological sequences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67250" y="4190851"/>
            <a:ext cx="4191000" cy="342900"/>
          </a:xfrm>
          <a:prstGeom prst="roundRect">
            <a:avLst>
              <a:gd name="adj" fmla="val 22222"/>
            </a:avLst>
          </a:prstGeom>
          <a:solidFill>
            <a:srgbClr val="F5F3FF"/>
          </a:solidFill>
          <a:ln w="9525">
            <a:solidFill>
              <a:srgbClr val="C4B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72025" y="4295626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Lipman et al. (ICLR 2023):</a:t>
            </a:r>
            <a:r>
              <a:rPr lang="en-US" sz="7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Flow Matching for Generative Modeling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7439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III: CLASSICAL GENERATIVE MODELS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85750" y="432346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VAEs and GANs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5750" y="1427857"/>
            <a:ext cx="4210050" cy="2986832"/>
          </a:xfrm>
          <a:prstGeom prst="roundRect">
            <a:avLst>
              <a:gd name="adj" fmla="val 3827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625" y="1570732"/>
            <a:ext cx="3924300" cy="377130"/>
          </a:xfrm>
          <a:prstGeom prst="roundRect">
            <a:avLst>
              <a:gd name="adj" fmla="val 2020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6537" y="1665982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 Autoencoders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8625" y="2043113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probabilistic latent representations through variational inference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28625" y="2284958"/>
            <a:ext cx="3924300" cy="843855"/>
          </a:xfrm>
          <a:prstGeom prst="roundRect">
            <a:avLst>
              <a:gd name="adj" fmla="val 90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23875" y="2380208"/>
            <a:ext cx="38084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1533376" y="2557314"/>
            <a:ext cx="17490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Encoder: x → [mu(x), sigma(x)]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47676" y="2728764"/>
            <a:ext cx="15159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Sample: z ~ N(mu, sigma^2)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76276" y="2900214"/>
            <a:ext cx="1049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Decoder: z → x_hat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8625" y="3224064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USES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8625" y="3452664"/>
            <a:ext cx="39243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3875" y="3509814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Chemistry: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Interpolate between molecules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8625" y="3738414"/>
            <a:ext cx="39243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23875" y="3795564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Materials: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Optimize in latent space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8625" y="4024164"/>
            <a:ext cx="39243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3875" y="4081314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Genomics: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Compress gene expression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48200" y="1415504"/>
            <a:ext cx="4210050" cy="3011537"/>
          </a:xfrm>
          <a:prstGeom prst="roundRect">
            <a:avLst>
              <a:gd name="adj" fmla="val 3795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91075" y="1558379"/>
            <a:ext cx="3924300" cy="377130"/>
          </a:xfrm>
          <a:prstGeom prst="roundRect">
            <a:avLst>
              <a:gd name="adj" fmla="val 2020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48987" y="1653629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Adversarial Networks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91075" y="2030760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networks in adversarial competition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791075" y="2272605"/>
            <a:ext cx="192405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86325" y="2367855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886325" y="2539305"/>
            <a:ext cx="17682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fakes to fool discriminator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791325" y="2272605"/>
            <a:ext cx="1924050" cy="481905"/>
          </a:xfrm>
          <a:prstGeom prst="roundRect">
            <a:avLst>
              <a:gd name="adj" fmla="val 158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886575" y="2367855"/>
            <a:ext cx="17682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886575" y="2539305"/>
            <a:ext cx="176822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 real vs fake samples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4791075" y="2849761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USES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91075" y="3078361"/>
            <a:ext cx="39243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86325" y="313551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augmentation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rare samples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91075" y="3364111"/>
            <a:ext cx="39243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86325" y="342126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Super-resolution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imaging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91075" y="3649861"/>
            <a:ext cx="3924300" cy="247650"/>
          </a:xfrm>
          <a:prstGeom prst="roundRect">
            <a:avLst>
              <a:gd name="adj" fmla="val 15385"/>
            </a:avLst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86325" y="3707011"/>
            <a:ext cx="3808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MolGAN:</a:t>
            </a: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Molecular graph generation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91075" y="3992761"/>
            <a:ext cx="3924300" cy="291405"/>
          </a:xfrm>
          <a:prstGeom prst="roundRect">
            <a:avLst>
              <a:gd name="adj" fmla="val 19612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76800" y="4078486"/>
            <a:ext cx="382790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Challenges:</a:t>
            </a:r>
            <a:r>
              <a:rPr lang="en-US" sz="675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 collapse, training instability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Comparison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5750" y="1548854"/>
            <a:ext cx="8572500" cy="1822996"/>
          </a:xfrm>
          <a:prstGeom prst="roundRect">
            <a:avLst>
              <a:gd name="adj" fmla="val 5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95275" y="1558379"/>
            <a:ext cx="8553450" cy="337096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089249" y="1558379"/>
            <a:ext cx="0" cy="33709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9575" y="1653629"/>
            <a:ext cx="15918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825" dirty="0"/>
          </a:p>
        </p:txBody>
      </p:sp>
      <p:sp>
        <p:nvSpPr>
          <p:cNvPr id="8" name="Shape 6"/>
          <p:cNvSpPr/>
          <p:nvPr/>
        </p:nvSpPr>
        <p:spPr>
          <a:xfrm>
            <a:off x="3780234" y="1558379"/>
            <a:ext cx="0" cy="33709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347707" y="1653629"/>
            <a:ext cx="13264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5471220" y="1558379"/>
            <a:ext cx="0" cy="33709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38692" y="1653629"/>
            <a:ext cx="13264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7162205" y="1558379"/>
            <a:ext cx="0" cy="337096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29677" y="1653629"/>
            <a:ext cx="13264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7420663" y="1653629"/>
            <a:ext cx="13264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Matching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295275" y="2185987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5275" y="1895475"/>
            <a:ext cx="1798737" cy="2857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089249" y="18954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9575" y="1971675"/>
            <a:ext cx="1591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780234" y="18954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47707" y="19716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71220" y="18954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038692" y="19716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62205" y="18954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29677" y="19716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420663" y="19716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295275" y="2190750"/>
            <a:ext cx="8553450" cy="295275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295275" y="2481263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5275" y="2190750"/>
            <a:ext cx="1798737" cy="2857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089249" y="219075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09575" y="2266950"/>
            <a:ext cx="1591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80234" y="219075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47707" y="226695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71220" y="219075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038692" y="226695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62205" y="219075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29677" y="226695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420663" y="226695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Stable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95275" y="2776537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5275" y="2486025"/>
            <a:ext cx="1798737" cy="2857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2089249" y="248602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09575" y="2562225"/>
            <a:ext cx="1591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780234" y="248602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47707" y="256222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71220" y="248602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038692" y="256222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162205" y="248602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729677" y="256222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420663" y="256222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95275" y="2781300"/>
            <a:ext cx="8553450" cy="295275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295275" y="3071812"/>
            <a:ext cx="8553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95275" y="2781300"/>
            <a:ext cx="1798737" cy="2857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2089249" y="278130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09575" y="2857500"/>
            <a:ext cx="1591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780234" y="278130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47707" y="285750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71220" y="278130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038692" y="285750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162205" y="2781300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729677" y="285750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420663" y="2857500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95275" y="3076575"/>
            <a:ext cx="1798737" cy="28575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2089249" y="30765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09575" y="3152775"/>
            <a:ext cx="15918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Space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780234" y="30765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347707" y="31527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471220" y="30765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038692" y="31527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7162205" y="3076575"/>
            <a:ext cx="0" cy="2857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729677" y="31527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420663" y="3152775"/>
            <a:ext cx="13264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Implicit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85750" y="3505200"/>
            <a:ext cx="2781300" cy="584746"/>
          </a:xfrm>
          <a:prstGeom prst="roundRect">
            <a:avLst>
              <a:gd name="adj" fmla="val 13031"/>
            </a:avLst>
          </a:prstGeom>
          <a:solidFill>
            <a:srgbClr val="F5F3FF"/>
          </a:solidFill>
          <a:ln w="9525">
            <a:solidFill>
              <a:srgbClr val="C4B5F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409575" y="3629025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Structured Outputs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409575" y="3832771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or Flow Matching → molecules, proteins, images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3181350" y="3505200"/>
            <a:ext cx="2781300" cy="584746"/>
          </a:xfrm>
          <a:prstGeom prst="roundRect">
            <a:avLst>
              <a:gd name="adj" fmla="val 13031"/>
            </a:avLst>
          </a:prstGeom>
          <a:solidFill>
            <a:srgbClr val="ECFDF5"/>
          </a:solidFill>
          <a:ln w="9525">
            <a:solidFill>
              <a:srgbClr val="6EE7B7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305175" y="3629025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Exploration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3305175" y="3832771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→ interpretable latent space, interpolation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076950" y="3505200"/>
            <a:ext cx="2781300" cy="584746"/>
          </a:xfrm>
          <a:prstGeom prst="roundRect">
            <a:avLst>
              <a:gd name="adj" fmla="val 13031"/>
            </a:avLst>
          </a:prstGeom>
          <a:solidFill>
            <a:srgbClr val="FFFBEB"/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6200775" y="3629025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Fast Augmentation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6200775" y="3832771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or VAE → quick generation, data augmentation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43816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Selection Guide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285750" y="1109811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architecture for your scientific problem: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85750" y="1365052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A78BFA">
              <a:alpha val="15000"/>
            </a:srgbClr>
          </a:solidFill>
          <a:ln w="9525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0525" y="1469827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scientific text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390525" y="1654522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LLM → Excellent at language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610100" y="1365052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FBBF24">
              <a:alpha val="15000"/>
            </a:srgbClr>
          </a:solidFill>
          <a:ln w="9525">
            <a:solidFill>
              <a:srgbClr val="FBBF2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14875" y="1469827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DE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reasoning/math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714875" y="1654522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models (o1/o3) → Multi-step verification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85750" y="1968847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0891B2">
              <a:alpha val="15000"/>
            </a:srgbClr>
          </a:solidFill>
          <a:ln w="9525">
            <a:solidFill>
              <a:srgbClr val="0891B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0525" y="2073622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7E8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molecules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90525" y="2258318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or Flow Matching → High-quality structures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10100" y="1968847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14875" y="2073622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protein structure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714875" y="2258318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ESM-3, AlphaFold 3 → State-of-the-art specialized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85750" y="2572643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EC4899">
              <a:alpha val="15000"/>
            </a:srgbClr>
          </a:solidFill>
          <a:ln w="9525">
            <a:solidFill>
              <a:srgbClr val="EC48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0525" y="2677418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missing data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90525" y="2862114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diffusion → Respects constraints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10100" y="2572643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14875" y="2677418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augmentation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714875" y="2862114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 or VAE → Fast generation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5750" y="3176439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0525" y="3281214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design space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90525" y="3465909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→ Interpretable latent space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10100" y="3176439"/>
            <a:ext cx="4248150" cy="527596"/>
          </a:xfrm>
          <a:prstGeom prst="roundRect">
            <a:avLst>
              <a:gd name="adj" fmla="val 14443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14875" y="3281214"/>
            <a:ext cx="41193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forecasting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14875" y="3465909"/>
            <a:ext cx="41193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GenCast (diffusion) → Probabilistic outputs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85750" y="3799284"/>
            <a:ext cx="8572500" cy="729555"/>
          </a:xfrm>
          <a:prstGeom prst="roundRect">
            <a:avLst>
              <a:gd name="adj" fmla="val 13056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9575" y="3923109"/>
            <a:ext cx="8491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REQUIREMENTS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9575" y="4132659"/>
            <a:ext cx="20353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small LLM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409575" y="4271665"/>
            <a:ext cx="2035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GPU, 1-2 days (use LoRA/QLoRA)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519363" y="4132659"/>
            <a:ext cx="20353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diffusion model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2519363" y="4271665"/>
            <a:ext cx="2035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4-8 GPUs, 3-7 days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29150" y="4132659"/>
            <a:ext cx="20353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(LLM)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4629150" y="4271665"/>
            <a:ext cx="2035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GPU or CPU (quantize)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738938" y="4132659"/>
            <a:ext cx="20353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structure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6738938" y="4271665"/>
            <a:ext cx="20353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GPU, minutes (or API)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546011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Principles for Scientific Applications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5750" y="1684139"/>
            <a:ext cx="4210050" cy="1215182"/>
          </a:xfrm>
          <a:prstGeom prst="roundRect">
            <a:avLst>
              <a:gd name="adj" fmla="val 7838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836539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4293" y="1876574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" y="1836539"/>
            <a:ext cx="25837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Incorporate Domain Knowledge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800100" y="2066925"/>
            <a:ext cx="25837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Physics-Informed NNs:</a:t>
            </a: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Embed PDEs in loss function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800100" y="2270671"/>
            <a:ext cx="2533055" cy="2857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6300" y="2346871"/>
            <a:ext cx="24282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Data_Loss + lambda * Physics_Loss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0100" y="2613571"/>
            <a:ext cx="25837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generalization, physical consistency, data efficiency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5750" y="2994571"/>
            <a:ext cx="4210050" cy="959941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150" y="3146971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4293" y="3187005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0100" y="3146971"/>
            <a:ext cx="356209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 Uncertainty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800100" y="3377357"/>
            <a:ext cx="1243459" cy="234255"/>
          </a:xfrm>
          <a:prstGeom prst="roundRect">
            <a:avLst>
              <a:gd name="adj" fmla="val 1626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5350" y="3434507"/>
            <a:ext cx="10740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Ensemble:</a:t>
            </a: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Multiple models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100709" y="3377357"/>
            <a:ext cx="1091208" cy="234255"/>
          </a:xfrm>
          <a:prstGeom prst="roundRect">
            <a:avLst>
              <a:gd name="adj" fmla="val 1626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95959" y="3434507"/>
            <a:ext cx="9187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Bayesian:</a:t>
            </a: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Distributions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249067" y="3377357"/>
            <a:ext cx="1043285" cy="234255"/>
          </a:xfrm>
          <a:prstGeom prst="roundRect">
            <a:avLst>
              <a:gd name="adj" fmla="val 16264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44317" y="3434507"/>
            <a:ext cx="86984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Conformal:</a:t>
            </a:r>
            <a:r>
              <a:rPr lang="en-US" sz="675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Coverage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800100" y="3668762"/>
            <a:ext cx="3562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decisions have consequences—know when uncertain!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648200" y="1611809"/>
            <a:ext cx="4210050" cy="965597"/>
          </a:xfrm>
          <a:prstGeom prst="roundRect">
            <a:avLst>
              <a:gd name="adj" fmla="val 9864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00600" y="1764209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96743" y="1804243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62550" y="1764209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Reproducibility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5162550" y="1994595"/>
            <a:ext cx="848171" cy="196155"/>
          </a:xfrm>
          <a:prstGeom prst="roundRect">
            <a:avLst>
              <a:gd name="adj" fmla="val 1942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38750" y="2032695"/>
            <a:ext cx="7096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random seeds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048821" y="1994595"/>
            <a:ext cx="967383" cy="196155"/>
          </a:xfrm>
          <a:prstGeom prst="roundRect">
            <a:avLst>
              <a:gd name="adj" fmla="val 1942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25021" y="2032695"/>
            <a:ext cx="8312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hyperparameters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7054304" y="1994595"/>
            <a:ext cx="719584" cy="196155"/>
          </a:xfrm>
          <a:prstGeom prst="roundRect">
            <a:avLst>
              <a:gd name="adj" fmla="val 1942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30504" y="2032695"/>
            <a:ext cx="57852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5162550" y="2228850"/>
            <a:ext cx="1038671" cy="196155"/>
          </a:xfrm>
          <a:prstGeom prst="roundRect">
            <a:avLst>
              <a:gd name="adj" fmla="val 1942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38750" y="2266950"/>
            <a:ext cx="90399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environment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6239321" y="2228850"/>
            <a:ext cx="681335" cy="196155"/>
          </a:xfrm>
          <a:prstGeom prst="roundRect">
            <a:avLst>
              <a:gd name="adj" fmla="val 19423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15521" y="2266950"/>
            <a:ext cx="539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models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648200" y="2672655"/>
            <a:ext cx="4210050" cy="1354336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00600" y="2825055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96743" y="2865090"/>
            <a:ext cx="757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162550" y="2825055"/>
            <a:ext cx="181467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Rigorously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5162550" y="3055441"/>
            <a:ext cx="1814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Hold-out test — Independent performance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62550" y="3226891"/>
            <a:ext cx="1814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— Robust estimates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5162550" y="3398341"/>
            <a:ext cx="1814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 — Scientific plausibility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162550" y="3569791"/>
            <a:ext cx="1814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constraints — Obey natural laws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162550" y="3741241"/>
            <a:ext cx="18146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Out-of-distribution — Generalization limits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0500" y="3524250"/>
            <a:ext cx="857250" cy="857250"/>
          </a:xfrm>
          <a:prstGeom prst="roundRect">
            <a:avLst>
              <a:gd name="adj" fmla="val 106667"/>
            </a:avLst>
          </a:prstGeom>
          <a:noFill/>
          <a:ln w="19050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612702"/>
            <a:ext cx="4274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85750" y="1854547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8201" y="1888778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1854547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excel at sequential data through attention — text, code, protein sequences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5750" y="2250728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8201" y="2284958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9600" y="2250728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and Flow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generate high-quality structures — molecules, proteins, climate data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750" y="2646908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8201" y="268113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2646908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VAEs and GANs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provide complementary approaches — exploration, augmentation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85750" y="3043089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68201" y="3077319"/>
            <a:ext cx="649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" y="3043089"/>
            <a:ext cx="39444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models</a:t>
            </a: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(2024-2025) transform complex scientific problem-solving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5750" y="3458319"/>
            <a:ext cx="4191000" cy="586680"/>
          </a:xfrm>
          <a:prstGeom prst="roundRect">
            <a:avLst>
              <a:gd name="adj" fmla="val 16235"/>
            </a:avLst>
          </a:prstGeom>
          <a:solidFill>
            <a:srgbClr val="A78BFA">
              <a:alpha val="15000"/>
            </a:srgbClr>
          </a:solidFill>
          <a:ln w="19050">
            <a:solidFill>
              <a:srgbClr val="A78BF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9857" y="3591669"/>
            <a:ext cx="400278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C4B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"Scientists don't need to be ML experts, but understanding fundamentals enables effective application."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7250" y="1290042"/>
            <a:ext cx="4274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EMPOWERS YOU TO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67250" y="1531888"/>
            <a:ext cx="4191000" cy="356146"/>
          </a:xfrm>
          <a:prstGeom prst="roundRect">
            <a:avLst>
              <a:gd name="adj" fmla="val 21396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2025" y="1636663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appropriate models for your scientific problems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67250" y="1945184"/>
            <a:ext cx="4191000" cy="356146"/>
          </a:xfrm>
          <a:prstGeom prst="roundRect">
            <a:avLst>
              <a:gd name="adj" fmla="val 21396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72025" y="2049959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 existing models to new domains with PEFT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67250" y="2358479"/>
            <a:ext cx="4191000" cy="356146"/>
          </a:xfrm>
          <a:prstGeom prst="roundRect">
            <a:avLst>
              <a:gd name="adj" fmla="val 21396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72025" y="2463254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 and fix failures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67250" y="2771775"/>
            <a:ext cx="4191000" cy="356146"/>
          </a:xfrm>
          <a:prstGeom prst="roundRect">
            <a:avLst>
              <a:gd name="adj" fmla="val 21396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72025" y="2876550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 effectively with AI researchers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67250" y="3185071"/>
            <a:ext cx="4191000" cy="356146"/>
          </a:xfrm>
          <a:prstGeom prst="roundRect">
            <a:avLst>
              <a:gd name="adj" fmla="val 21396"/>
            </a:avLst>
          </a:prstGeom>
          <a:solidFill>
            <a:srgbClr val="059669">
              <a:alpha val="15000"/>
            </a:srgbClr>
          </a:solidFill>
          <a:ln w="9525">
            <a:solidFill>
              <a:srgbClr val="05966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72025" y="3289846"/>
            <a:ext cx="4061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the boundaries in your field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667250" y="3636466"/>
            <a:ext cx="4191000" cy="731341"/>
          </a:xfrm>
          <a:prstGeom prst="roundRect">
            <a:avLst>
              <a:gd name="adj" fmla="val 13024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91075" y="3760291"/>
            <a:ext cx="40222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OF TRANSFER LEARNING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91075" y="3950791"/>
            <a:ext cx="402221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 on millions of examples → Fine-tune with your domain data (hundreds to thousands)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85750" y="2286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 and Further Reading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85750" y="1164282"/>
            <a:ext cx="4274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PAPERS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285750" y="1387078"/>
            <a:ext cx="4191000" cy="434280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0525" y="1472803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et al. (NeurIPS 2017)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90525" y="1615678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— Transformers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85750" y="1868984"/>
            <a:ext cx="4191000" cy="434280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0525" y="1954709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 et al. (NeurIPS 2020)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90525" y="2097584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Denoising Diffusion Probabilistic Models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85750" y="2350889"/>
            <a:ext cx="4191000" cy="434280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0525" y="2436614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Lipman et al. (ICLR 2023)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90525" y="2579489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Matching for Generative Modeling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85750" y="2832795"/>
            <a:ext cx="4191000" cy="434280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0525" y="2918520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et al. (ICLR 2022)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90525" y="3061395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LoRA: Low-Rank Adaptation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285750" y="3314700"/>
            <a:ext cx="4191000" cy="434280"/>
          </a:xfrm>
          <a:prstGeom prst="roundRect">
            <a:avLst>
              <a:gd name="adj" fmla="val 13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0525" y="3400425"/>
            <a:ext cx="40610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Hayes et al. (Science 2025)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90525" y="3543300"/>
            <a:ext cx="406107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ESM-3: Simulating 500M years of evolution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285750" y="3863280"/>
            <a:ext cx="4274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TEXTBOOKS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85750" y="4086076"/>
            <a:ext cx="2066925" cy="407491"/>
          </a:xfrm>
          <a:prstGeom prst="roundRect">
            <a:avLst>
              <a:gd name="adj" fmla="val 140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1475" y="4171801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 (2023)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371475" y="4301282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Deep Learning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09825" y="4086076"/>
            <a:ext cx="2066925" cy="407491"/>
          </a:xfrm>
          <a:prstGeom prst="roundRect">
            <a:avLst>
              <a:gd name="adj" fmla="val 140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95550" y="4171801"/>
            <a:ext cx="19333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Raschka (2024)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495550" y="4301282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LLM From Scratch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667250" y="1084213"/>
            <a:ext cx="42748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MODELS FOR SCIENCE (2024-2025)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67250" y="1326059"/>
            <a:ext cx="2066925" cy="420886"/>
          </a:xfrm>
          <a:prstGeom prst="roundRect">
            <a:avLst>
              <a:gd name="adj" fmla="val 13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2975" y="1411784"/>
            <a:ext cx="1933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3.1/3.3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52975" y="1554659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weights, 128K context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791325" y="1326059"/>
            <a:ext cx="2066925" cy="420886"/>
          </a:xfrm>
          <a:prstGeom prst="roundRect">
            <a:avLst>
              <a:gd name="adj" fmla="val 13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77050" y="1411784"/>
            <a:ext cx="1933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ESM-3 Open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77050" y="1554659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1.4B params, protein modeling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667250" y="1794570"/>
            <a:ext cx="2066925" cy="420886"/>
          </a:xfrm>
          <a:prstGeom prst="roundRect">
            <a:avLst>
              <a:gd name="adj" fmla="val 13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52975" y="1880295"/>
            <a:ext cx="1933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Diffusion 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52975" y="2023170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High-resolution images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791325" y="1794570"/>
            <a:ext cx="2066925" cy="420886"/>
          </a:xfrm>
          <a:prstGeom prst="roundRect">
            <a:avLst>
              <a:gd name="adj" fmla="val 135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77050" y="1880295"/>
            <a:ext cx="1933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RFdiffusion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877050" y="2023170"/>
            <a:ext cx="193338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75"/>
              </a:spcBef>
              <a:buNone/>
            </a:pPr>
            <a:r>
              <a:rPr lang="en-US" sz="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structure design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667250" y="2310705"/>
            <a:ext cx="4191000" cy="617190"/>
          </a:xfrm>
          <a:prstGeom prst="roundRect">
            <a:avLst>
              <a:gd name="adj" fmla="val 12346"/>
            </a:avLst>
          </a:prstGeom>
          <a:solidFill>
            <a:srgbClr val="1E1B4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00600" y="2444055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Working Code: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00600" y="2634555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rewriting.ai/bookcode/ai4sci.php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7250" y="3023146"/>
            <a:ext cx="4191000" cy="870496"/>
          </a:xfrm>
          <a:prstGeom prst="roundRect">
            <a:avLst>
              <a:gd name="adj" fmla="val 8754"/>
            </a:avLst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00600" y="3156496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Information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4800600" y="3360241"/>
            <a:ext cx="400278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For Science</a:t>
            </a:r>
            <a:endParaRPr lang="en-US" sz="75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Leanpub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67250" y="3988891"/>
            <a:ext cx="4191000" cy="584746"/>
          </a:xfrm>
          <a:prstGeom prst="roundRect">
            <a:avLst>
              <a:gd name="adj" fmla="val 13031"/>
            </a:avLst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00600" y="4122241"/>
            <a:ext cx="4002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Chapter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4800600" y="4306937"/>
            <a:ext cx="4002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 — Scientific Data and Workflows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85750" y="4775895"/>
            <a:ext cx="382062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J. Paul Liu, 2026. Generative AI For Science. Leanpub, https://leanpub.com/generativeaiforscience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1818</Words>
  <Application>Microsoft Macintosh PowerPoint</Application>
  <PresentationFormat>On-screen Show (16:9)</PresentationFormat>
  <Paragraphs>391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Generative AI Fundamentals</dc:title>
  <dc:subject>The Building Blocks of Generation</dc:subject>
  <dc:creator>J. Paul Liu</dc:creator>
  <cp:lastModifiedBy>Paul Liu</cp:lastModifiedBy>
  <cp:revision>2</cp:revision>
  <dcterms:created xsi:type="dcterms:W3CDTF">2026-01-09T00:14:26Z</dcterms:created>
  <dcterms:modified xsi:type="dcterms:W3CDTF">2026-01-09T00:19:30Z</dcterms:modified>
</cp:coreProperties>
</file>