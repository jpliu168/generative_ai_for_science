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80"/>
    <p:restoredTop sz="94613"/>
  </p:normalViewPr>
  <p:slideViewPr>
    <p:cSldViewPr snapToGrid="0" snapToObjects="1">
      <p:cViewPr varScale="1">
        <p:scale>
          <a:sx n="161" d="100"/>
          <a:sy n="161" d="100"/>
        </p:scale>
        <p:origin x="200" y="5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184E884-CF85-5289-FD22-2978F2D6CB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B990B1-3531-2B3C-AF4E-E8348063483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3A473-8867-7A4A-8BD5-4DB0EB3FA543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98BD4-7367-C858-8ED6-F26D3C75400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Test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3140A-0F6F-0BBB-002C-44F7A75E840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100FFB-D265-3A4F-AD2B-7E9567B90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2568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093918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53250" y="571500"/>
            <a:ext cx="1428750" cy="1428750"/>
          </a:xfrm>
          <a:prstGeom prst="roundRect">
            <a:avLst>
              <a:gd name="adj" fmla="val 64000"/>
            </a:avLst>
          </a:prstGeom>
          <a:noFill/>
          <a:ln w="19050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3429000"/>
            <a:ext cx="952500" cy="952500"/>
          </a:xfrm>
          <a:prstGeom prst="roundRect">
            <a:avLst>
              <a:gd name="adj" fmla="val 96000"/>
            </a:avLst>
          </a:prstGeom>
          <a:noFill/>
          <a:ln w="19050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59053" y="1053554"/>
            <a:ext cx="102574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093785" y="1537395"/>
            <a:ext cx="4969449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spcAft>
                <a:spcPts val="15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Data-to-Data Models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651974" y="2436465"/>
            <a:ext cx="384005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spcAft>
                <a:spcPts val="2400"/>
              </a:spcAft>
              <a:buNone/>
            </a:pPr>
            <a:r>
              <a:rPr lang="en-US" sz="1650" dirty="0">
                <a:solidFill>
                  <a:srgbClr val="FFFFF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for Scientific Data Challenges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080766" y="3187005"/>
            <a:ext cx="984498" cy="331440"/>
          </a:xfrm>
          <a:prstGeom prst="roundRect">
            <a:avLst>
              <a:gd name="adj" fmla="val 57476"/>
            </a:avLst>
          </a:prstGeom>
          <a:solidFill>
            <a:srgbClr val="0D9488">
              <a:alpha val="20000"/>
            </a:srgbClr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36085" y="3272730"/>
            <a:ext cx="67386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Data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179564" y="3187005"/>
            <a:ext cx="1391394" cy="331440"/>
          </a:xfrm>
          <a:prstGeom prst="roundRect">
            <a:avLst>
              <a:gd name="adj" fmla="val 57476"/>
            </a:avLst>
          </a:prstGeom>
          <a:solidFill>
            <a:srgbClr val="0D9488">
              <a:alpha val="20000"/>
            </a:srgbClr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30814" y="3272730"/>
            <a:ext cx="10888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Generation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85258" y="3187005"/>
            <a:ext cx="1334244" cy="331440"/>
          </a:xfrm>
          <a:prstGeom prst="roundRect">
            <a:avLst>
              <a:gd name="adj" fmla="val 57476"/>
            </a:avLst>
          </a:prstGeom>
          <a:solidFill>
            <a:srgbClr val="0D9488">
              <a:alpha val="20000"/>
            </a:srgbClr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7079" y="3272730"/>
            <a:ext cx="10306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Interpolation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33802" y="3187005"/>
            <a:ext cx="929432" cy="331440"/>
          </a:xfrm>
          <a:prstGeom prst="roundRect">
            <a:avLst>
              <a:gd name="adj" fmla="val 57476"/>
            </a:avLst>
          </a:prstGeom>
          <a:solidFill>
            <a:srgbClr val="0D9488">
              <a:alpha val="20000"/>
            </a:srgbClr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89672" y="3272730"/>
            <a:ext cx="61769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</a:t>
            </a:r>
            <a:endParaRPr lang="en-US" sz="900" dirty="0"/>
          </a:p>
        </p:txBody>
      </p:sp>
      <p:pic>
        <p:nvPicPr>
          <p:cNvPr id="15" name="Image 0" descr="/tmp/rasterized-gradient-480e14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5750" y="4051846"/>
            <a:ext cx="952500" cy="38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Scarcity Problem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359098"/>
            <a:ext cx="874395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instruments don't provide perfect data. The result: datasets with gaps, missing values, and insufficient resolution.</a:t>
            </a:r>
            <a:endParaRPr lang="en-US" sz="1125" dirty="0"/>
          </a:p>
        </p:txBody>
      </p:sp>
      <p:pic>
        <p:nvPicPr>
          <p:cNvPr id="5" name="Image 0" descr="/tmp/rasterized-gradient-b8fa2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706761"/>
            <a:ext cx="2057400" cy="7294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" y="1859161"/>
            <a:ext cx="178765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SATELLITES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420624" y="2043857"/>
            <a:ext cx="178765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 by clouds</a:t>
            </a:r>
            <a:endParaRPr lang="en-US" sz="1350" dirty="0"/>
          </a:p>
        </p:txBody>
      </p:sp>
      <p:pic>
        <p:nvPicPr>
          <p:cNvPr id="8" name="Image 1" descr="/tmp/rasterized-gradient-7253ae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7450" y="1706761"/>
            <a:ext cx="2057400" cy="72940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92324" y="1859161"/>
            <a:ext cx="178765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</a:t>
            </a:r>
            <a:endParaRPr lang="en-US" sz="825" dirty="0"/>
          </a:p>
        </p:txBody>
      </p:sp>
      <p:sp>
        <p:nvSpPr>
          <p:cNvPr id="10" name="Text 6"/>
          <p:cNvSpPr/>
          <p:nvPr/>
        </p:nvSpPr>
        <p:spPr>
          <a:xfrm>
            <a:off x="2592324" y="2043857"/>
            <a:ext cx="178765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 regularly</a:t>
            </a:r>
            <a:endParaRPr lang="en-US" sz="1350" dirty="0"/>
          </a:p>
        </p:txBody>
      </p:sp>
      <p:pic>
        <p:nvPicPr>
          <p:cNvPr id="11" name="Image 2" descr="/tmp/rasterized-gradient-282634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9150" y="1706761"/>
            <a:ext cx="2057400" cy="72940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64024" y="1859161"/>
            <a:ext cx="178765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EXPERIMENTS</a:t>
            </a:r>
            <a:endParaRPr lang="en-US" sz="825" dirty="0"/>
          </a:p>
        </p:txBody>
      </p:sp>
      <p:sp>
        <p:nvSpPr>
          <p:cNvPr id="13" name="Text 8"/>
          <p:cNvSpPr/>
          <p:nvPr/>
        </p:nvSpPr>
        <p:spPr>
          <a:xfrm>
            <a:off x="4764024" y="2043857"/>
            <a:ext cx="178765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Expensive</a:t>
            </a:r>
            <a:endParaRPr lang="en-US" sz="1350" dirty="0"/>
          </a:p>
        </p:txBody>
      </p:sp>
      <p:pic>
        <p:nvPicPr>
          <p:cNvPr id="14" name="Image 3" descr="/tmp/rasterized-gradient-8340b4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0850" y="1706761"/>
            <a:ext cx="2057400" cy="72940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935724" y="1859161"/>
            <a:ext cx="178765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</a:t>
            </a:r>
            <a:endParaRPr lang="en-US" sz="825" dirty="0"/>
          </a:p>
        </p:txBody>
      </p:sp>
      <p:sp>
        <p:nvSpPr>
          <p:cNvPr id="16" name="Text 10"/>
          <p:cNvSpPr/>
          <p:nvPr/>
        </p:nvSpPr>
        <p:spPr>
          <a:xfrm>
            <a:off x="6935724" y="2043857"/>
            <a:ext cx="178765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Sparse coverage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285750" y="2569518"/>
            <a:ext cx="8572500" cy="881658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2"/>
          <p:cNvSpPr/>
          <p:nvPr/>
        </p:nvSpPr>
        <p:spPr>
          <a:xfrm>
            <a:off x="304800" y="2569518"/>
            <a:ext cx="0" cy="881658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495300" y="2702868"/>
            <a:ext cx="835533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Approaches Are Limited:</a:t>
            </a:r>
            <a:endParaRPr lang="en-US" sz="975" dirty="0"/>
          </a:p>
        </p:txBody>
      </p:sp>
      <p:sp>
        <p:nvSpPr>
          <p:cNvPr id="20" name="Text 14"/>
          <p:cNvSpPr/>
          <p:nvPr/>
        </p:nvSpPr>
        <p:spPr>
          <a:xfrm>
            <a:off x="495300" y="2952304"/>
            <a:ext cx="8355330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missing cases → Loses information  •  Mean imputation → Ignores correlations  •  Linear interpolation → Cannot capture non-linear patterns  •  Statistical models → Require strong assumptions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285750" y="3584525"/>
            <a:ext cx="8572500" cy="752326"/>
          </a:xfrm>
          <a:prstGeom prst="roundRect">
            <a:avLst>
              <a:gd name="adj" fmla="val 12661"/>
            </a:avLst>
          </a:prstGeom>
          <a:solidFill>
            <a:srgbClr val="ECFDF5"/>
          </a:solidFill>
          <a:ln w="19050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457200" y="3755975"/>
            <a:ext cx="839419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TRANSFORMS THIS LANDSCAPE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57200" y="3992166"/>
            <a:ext cx="26685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Learn complex patterns from existing data</a:t>
            </a:r>
            <a:endParaRPr lang="en-US" sz="975" dirty="0"/>
          </a:p>
        </p:txBody>
      </p:sp>
      <p:sp>
        <p:nvSpPr>
          <p:cNvPr id="24" name="Text 18"/>
          <p:cNvSpPr/>
          <p:nvPr/>
        </p:nvSpPr>
        <p:spPr>
          <a:xfrm>
            <a:off x="3263950" y="3992166"/>
            <a:ext cx="26685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Generate realistic synthetic observations</a:t>
            </a:r>
            <a:endParaRPr lang="en-US" sz="975" dirty="0"/>
          </a:p>
        </p:txBody>
      </p:sp>
      <p:sp>
        <p:nvSpPr>
          <p:cNvPr id="25" name="Text 19"/>
          <p:cNvSpPr/>
          <p:nvPr/>
        </p:nvSpPr>
        <p:spPr>
          <a:xfrm>
            <a:off x="6070699" y="3992166"/>
            <a:ext cx="26685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Fill gaps respecting physical constraints</a:t>
            </a:r>
            <a:endParaRPr lang="en-US" sz="9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60333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Methods for Data-to-Data Generation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2071836"/>
            <a:ext cx="1623120" cy="1552277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150" y="222423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293" y="2264271"/>
            <a:ext cx="7575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38150" y="2567136"/>
            <a:ext cx="13446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Autoencoders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38150" y="2816572"/>
            <a:ext cx="134468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data imputation via learned compression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38150" y="3185964"/>
            <a:ext cx="1318320" cy="285750"/>
          </a:xfrm>
          <a:prstGeom prst="roundRect">
            <a:avLst>
              <a:gd name="adj" fmla="val 20000"/>
            </a:avLst>
          </a:prstGeom>
          <a:solidFill>
            <a:srgbClr val="F0FD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14350" y="3262164"/>
            <a:ext cx="11892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= 0.83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023170" y="2071836"/>
            <a:ext cx="1623120" cy="1552277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75570" y="222423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271713" y="2264271"/>
            <a:ext cx="7575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75570" y="2567136"/>
            <a:ext cx="13446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GANs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175570" y="2816572"/>
            <a:ext cx="134468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 generation with adversarial training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2175570" y="3185964"/>
            <a:ext cx="1318320" cy="28575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251770" y="3262164"/>
            <a:ext cx="11892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97.3% mode coverage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760589" y="1998464"/>
            <a:ext cx="1623120" cy="1698873"/>
          </a:xfrm>
          <a:prstGeom prst="roundRect">
            <a:avLst>
              <a:gd name="adj" fmla="val 5868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12989" y="215086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009132" y="2190899"/>
            <a:ext cx="7575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912989" y="2493764"/>
            <a:ext cx="13446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VAEs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3912989" y="2743200"/>
            <a:ext cx="1344686" cy="43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latent representations for controlled generation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3912989" y="3259187"/>
            <a:ext cx="1318320" cy="28575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989189" y="3335387"/>
            <a:ext cx="11892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interpolation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498009" y="2071836"/>
            <a:ext cx="1623120" cy="1552277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50409" y="222423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746552" y="2264271"/>
            <a:ext cx="7575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50409" y="2567136"/>
            <a:ext cx="13446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Gaussian Processes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5650409" y="2816572"/>
            <a:ext cx="134468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interpolation with uncertainty quantification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5650409" y="3185964"/>
            <a:ext cx="1318320" cy="285750"/>
          </a:xfrm>
          <a:prstGeom prst="roundRect">
            <a:avLst>
              <a:gd name="adj" fmla="val 20000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726609" y="3262164"/>
            <a:ext cx="11892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 RMSE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235428" y="2071836"/>
            <a:ext cx="1623120" cy="1552277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387828" y="222423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83971" y="2264271"/>
            <a:ext cx="7575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87828" y="2567136"/>
            <a:ext cx="13446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Bidirectional LSTMs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7387828" y="2816572"/>
            <a:ext cx="134468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gap filling with temporal dependencies</a:t>
            </a:r>
            <a:endParaRPr lang="en-US" sz="825" dirty="0"/>
          </a:p>
        </p:txBody>
      </p:sp>
      <p:sp>
        <p:nvSpPr>
          <p:cNvPr id="37" name="Text 35"/>
          <p:cNvSpPr/>
          <p:nvPr/>
        </p:nvSpPr>
        <p:spPr>
          <a:xfrm>
            <a:off x="7387828" y="3185964"/>
            <a:ext cx="1318320" cy="285750"/>
          </a:xfrm>
          <a:prstGeom prst="roundRect">
            <a:avLst>
              <a:gd name="adj" fmla="val 20000"/>
            </a:avLst>
          </a:prstGeom>
          <a:solidFill>
            <a:srgbClr val="FDF2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464028" y="3262164"/>
            <a:ext cx="11892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= 0.76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66700"/>
            <a:ext cx="8743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85750" y="502890"/>
            <a:ext cx="589730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Data Imputation with Autoencoders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900386"/>
            <a:ext cx="512978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Denoising autoencoder learns to reconstruct complete data from partial observations: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2201317"/>
            <a:ext cx="5029200" cy="1131391"/>
          </a:xfrm>
          <a:prstGeom prst="roundRect">
            <a:avLst>
              <a:gd name="adj" fmla="val 8419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53839" y="2426940"/>
            <a:ext cx="2161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40556" y="2598390"/>
            <a:ext cx="838646" cy="350490"/>
          </a:xfrm>
          <a:prstGeom prst="roundRect">
            <a:avLst>
              <a:gd name="adj" fmla="val 16306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3906" y="2693640"/>
            <a:ext cx="5833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features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16769" y="2986980"/>
            <a:ext cx="49579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missing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1555403" y="2660303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08262" y="2363242"/>
            <a:ext cx="361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784003" y="2534692"/>
            <a:ext cx="403473" cy="298996"/>
          </a:xfrm>
          <a:prstGeom prst="roundRect">
            <a:avLst>
              <a:gd name="adj" fmla="val 19114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898303" y="2610892"/>
            <a:ext cx="1783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1813024" y="2871788"/>
            <a:ext cx="345281" cy="298996"/>
          </a:xfrm>
          <a:prstGeom prst="roundRect">
            <a:avLst>
              <a:gd name="adj" fmla="val 19114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927324" y="2947988"/>
            <a:ext cx="11901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2263676" y="2660303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67893" y="2505968"/>
            <a:ext cx="270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92276" y="2677418"/>
            <a:ext cx="616148" cy="350490"/>
          </a:xfrm>
          <a:prstGeom prst="roundRect">
            <a:avLst>
              <a:gd name="adj" fmla="val 16306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625626" y="2772668"/>
            <a:ext cx="35643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64-dim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84624" y="2660303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34804" y="2363242"/>
            <a:ext cx="3673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42246" y="2534692"/>
            <a:ext cx="345281" cy="298996"/>
          </a:xfrm>
          <a:prstGeom prst="roundRect">
            <a:avLst>
              <a:gd name="adj" fmla="val 19114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556546" y="2610892"/>
            <a:ext cx="11901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3413224" y="2871788"/>
            <a:ext cx="403473" cy="298996"/>
          </a:xfrm>
          <a:prstGeom prst="roundRect">
            <a:avLst>
              <a:gd name="adj" fmla="val 19114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27524" y="2947988"/>
            <a:ext cx="1783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3892897" y="2660303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97722" y="2426940"/>
            <a:ext cx="291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121497" y="2598390"/>
            <a:ext cx="838646" cy="350490"/>
          </a:xfrm>
          <a:prstGeom prst="roundRect">
            <a:avLst>
              <a:gd name="adj" fmla="val 16306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254847" y="2693640"/>
            <a:ext cx="5833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features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45335" y="2986980"/>
            <a:ext cx="39863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Complete!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285750" y="3447008"/>
            <a:ext cx="2466975" cy="565696"/>
          </a:xfrm>
          <a:prstGeom prst="roundRect">
            <a:avLst>
              <a:gd name="adj" fmla="val 13470"/>
            </a:avLst>
          </a:prstGeom>
          <a:solidFill>
            <a:srgbClr val="0D9488">
              <a:alpha val="20000"/>
            </a:srgbClr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09575" y="3570833"/>
            <a:ext cx="226371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BatchNorm + Dropout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409575" y="3755529"/>
            <a:ext cx="22637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 and regularization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2847975" y="3447008"/>
            <a:ext cx="2466975" cy="565696"/>
          </a:xfrm>
          <a:prstGeom prst="roundRect">
            <a:avLst>
              <a:gd name="adj" fmla="val 13470"/>
            </a:avLst>
          </a:prstGeom>
          <a:solidFill>
            <a:srgbClr val="0D9488">
              <a:alpha val="20000"/>
            </a:srgbClr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971800" y="3570833"/>
            <a:ext cx="226371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Loss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2971800" y="3755529"/>
            <a:ext cx="22637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on observed values only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505450" y="1131987"/>
            <a:ext cx="3352800" cy="1121718"/>
          </a:xfrm>
          <a:prstGeom prst="roundRect">
            <a:avLst>
              <a:gd name="adj" fmla="val 8491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648325" y="1274862"/>
            <a:ext cx="312839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825" dirty="0"/>
          </a:p>
        </p:txBody>
      </p:sp>
      <p:sp>
        <p:nvSpPr>
          <p:cNvPr id="39" name="Text 37"/>
          <p:cNvSpPr/>
          <p:nvPr/>
        </p:nvSpPr>
        <p:spPr>
          <a:xfrm>
            <a:off x="5648325" y="1516707"/>
            <a:ext cx="312839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samples × 20 features</a:t>
            </a:r>
            <a:endParaRPr lang="en-US" sz="975" dirty="0"/>
          </a:p>
        </p:txBody>
      </p:sp>
      <p:sp>
        <p:nvSpPr>
          <p:cNvPr id="40" name="Text 38"/>
          <p:cNvSpPr/>
          <p:nvPr/>
        </p:nvSpPr>
        <p:spPr>
          <a:xfrm>
            <a:off x="5648325" y="1728043"/>
            <a:ext cx="312839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Climate-like correlated data</a:t>
            </a:r>
            <a:endParaRPr lang="en-US" sz="825" dirty="0"/>
          </a:p>
        </p:txBody>
      </p:sp>
      <p:sp>
        <p:nvSpPr>
          <p:cNvPr id="41" name="Text 39"/>
          <p:cNvSpPr/>
          <p:nvPr/>
        </p:nvSpPr>
        <p:spPr>
          <a:xfrm>
            <a:off x="5648325" y="1950839"/>
            <a:ext cx="31283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missing values (random)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05450" y="2368004"/>
            <a:ext cx="3352800" cy="1350318"/>
          </a:xfrm>
          <a:prstGeom prst="roundRect">
            <a:avLst>
              <a:gd name="adj" fmla="val 7054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648325" y="2510879"/>
            <a:ext cx="312839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CONFIG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5648325" y="2752725"/>
            <a:ext cx="3128391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optimizer (lr=10⁻³)</a:t>
            </a:r>
            <a:endParaRPr lang="en-US" sz="90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decay: 10⁻⁵</a:t>
            </a:r>
            <a:endParaRPr lang="en-US" sz="90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clipping: 1.0</a:t>
            </a:r>
            <a:endParaRPr lang="en-US" sz="90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stopping: patience=20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05450" y="3832622"/>
            <a:ext cx="3352800" cy="948482"/>
          </a:xfrm>
          <a:prstGeom prst="roundRect">
            <a:avLst>
              <a:gd name="adj" fmla="val 1004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648325" y="3975497"/>
            <a:ext cx="312839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SIZE</a:t>
            </a:r>
            <a:endParaRPr lang="en-US" sz="825" dirty="0"/>
          </a:p>
        </p:txBody>
      </p:sp>
      <p:sp>
        <p:nvSpPr>
          <p:cNvPr id="47" name="Text 45"/>
          <p:cNvSpPr/>
          <p:nvPr/>
        </p:nvSpPr>
        <p:spPr>
          <a:xfrm>
            <a:off x="5648325" y="4198293"/>
            <a:ext cx="312839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48,276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5648325" y="4491633"/>
            <a:ext cx="312839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43816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Autoencoder Imputation Results</a:t>
            </a:r>
            <a:endParaRPr lang="en-US" sz="2400" dirty="0"/>
          </a:p>
        </p:txBody>
      </p:sp>
      <p:pic>
        <p:nvPicPr>
          <p:cNvPr id="4" name="Image 0" descr="/tmp/rasterized-gradient-5b951f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192560"/>
            <a:ext cx="4191000" cy="141714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38150" y="1383060"/>
            <a:ext cx="38862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SCORE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38150" y="1581150"/>
            <a:ext cx="38862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38150" y="2259211"/>
            <a:ext cx="38862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 reconstruction quality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85750" y="2724001"/>
            <a:ext cx="1333500" cy="750540"/>
          </a:xfrm>
          <a:prstGeom prst="roundRect">
            <a:avLst>
              <a:gd name="adj" fmla="val 10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18148" y="286687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18148" y="3038326"/>
            <a:ext cx="1068705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0.41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714500" y="2724001"/>
            <a:ext cx="1333500" cy="750540"/>
          </a:xfrm>
          <a:prstGeom prst="roundRect">
            <a:avLst>
              <a:gd name="adj" fmla="val 10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846898" y="286687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846898" y="3038326"/>
            <a:ext cx="1068705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0.31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3143250" y="2724001"/>
            <a:ext cx="1333500" cy="750540"/>
          </a:xfrm>
          <a:prstGeom prst="roundRect">
            <a:avLst>
              <a:gd name="adj" fmla="val 101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3275648" y="286687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3275648" y="3038326"/>
            <a:ext cx="1068705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min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285750" y="3588841"/>
            <a:ext cx="4191000" cy="895350"/>
          </a:xfrm>
          <a:prstGeom prst="roundRect">
            <a:avLst>
              <a:gd name="adj" fmla="val 10638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38150" y="3864173"/>
            <a:ext cx="29359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Mean Imputation Baseline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38150" y="4062264"/>
            <a:ext cx="293590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RMSE: 1.00 → Autoencoder: 0.41</a:t>
            </a:r>
            <a:endParaRPr lang="en-US" sz="825" dirty="0"/>
          </a:p>
        </p:txBody>
      </p:sp>
      <p:sp>
        <p:nvSpPr>
          <p:cNvPr id="20" name="Text 17"/>
          <p:cNvSpPr/>
          <p:nvPr/>
        </p:nvSpPr>
        <p:spPr>
          <a:xfrm>
            <a:off x="3468886" y="3741241"/>
            <a:ext cx="855464" cy="590550"/>
          </a:xfrm>
          <a:prstGeom prst="roundRect">
            <a:avLst>
              <a:gd name="adj" fmla="val 12903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3621286" y="3836491"/>
            <a:ext cx="5616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59%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621286" y="4103191"/>
            <a:ext cx="5616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4667250" y="1129010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Dynamics (Fig 5.2)</a:t>
            </a:r>
            <a:endParaRPr lang="en-US" sz="975" dirty="0"/>
          </a:p>
        </p:txBody>
      </p:sp>
      <p:sp>
        <p:nvSpPr>
          <p:cNvPr id="24" name="Text 21"/>
          <p:cNvSpPr/>
          <p:nvPr/>
        </p:nvSpPr>
        <p:spPr>
          <a:xfrm>
            <a:off x="4667250" y="1416546"/>
            <a:ext cx="4191000" cy="1098798"/>
          </a:xfrm>
          <a:prstGeom prst="roundRect">
            <a:avLst>
              <a:gd name="adj" fmla="val 86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10125" y="1559421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Progression:</a:t>
            </a:r>
            <a:endParaRPr lang="en-US" sz="825" dirty="0"/>
          </a:p>
        </p:txBody>
      </p:sp>
      <p:sp>
        <p:nvSpPr>
          <p:cNvPr id="26" name="Text 23"/>
          <p:cNvSpPr/>
          <p:nvPr/>
        </p:nvSpPr>
        <p:spPr>
          <a:xfrm>
            <a:off x="4810125" y="1782217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50: 0.52 → Epoch 100: 0.45 → Epoch 137: 0.41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810125" y="2041178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Train/val curves track closely (no overfitting)</a:t>
            </a:r>
            <a:endParaRPr lang="en-US" sz="825" dirty="0"/>
          </a:p>
        </p:txBody>
      </p:sp>
      <p:sp>
        <p:nvSpPr>
          <p:cNvPr id="28" name="Text 25"/>
          <p:cNvSpPr/>
          <p:nvPr/>
        </p:nvSpPr>
        <p:spPr>
          <a:xfrm>
            <a:off x="4810125" y="2225873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Early stopping triggered at epoch 137</a:t>
            </a:r>
            <a:endParaRPr lang="en-US" sz="825" dirty="0"/>
          </a:p>
        </p:txBody>
      </p:sp>
      <p:sp>
        <p:nvSpPr>
          <p:cNvPr id="29" name="Text 26"/>
          <p:cNvSpPr/>
          <p:nvPr/>
        </p:nvSpPr>
        <p:spPr>
          <a:xfrm>
            <a:off x="4667250" y="2629644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Achievements (Fig 5.3)</a:t>
            </a:r>
            <a:endParaRPr lang="en-US" sz="975" dirty="0"/>
          </a:p>
        </p:txBody>
      </p:sp>
      <p:sp>
        <p:nvSpPr>
          <p:cNvPr id="30" name="Text 27"/>
          <p:cNvSpPr/>
          <p:nvPr/>
        </p:nvSpPr>
        <p:spPr>
          <a:xfrm>
            <a:off x="4667250" y="2917180"/>
            <a:ext cx="4191000" cy="35049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8"/>
          <p:cNvSpPr/>
          <p:nvPr/>
        </p:nvSpPr>
        <p:spPr>
          <a:xfrm>
            <a:off x="4686300" y="2917180"/>
            <a:ext cx="0" cy="35049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838700" y="3012430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Captures inter-feature correlations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667250" y="3343870"/>
            <a:ext cx="4191000" cy="35049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Shape 31"/>
          <p:cNvSpPr/>
          <p:nvPr/>
        </p:nvSpPr>
        <p:spPr>
          <a:xfrm>
            <a:off x="4686300" y="3343870"/>
            <a:ext cx="0" cy="35049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838700" y="3439120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Preserves statistical distributions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667250" y="3770561"/>
            <a:ext cx="4191000" cy="35049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4"/>
          <p:cNvSpPr/>
          <p:nvPr/>
        </p:nvSpPr>
        <p:spPr>
          <a:xfrm>
            <a:off x="4686300" y="3770561"/>
            <a:ext cx="0" cy="35049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4838700" y="3865811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Residuals centered at zero (unbiased)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667250" y="4197251"/>
            <a:ext cx="4191000" cy="35049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Shape 37"/>
          <p:cNvSpPr/>
          <p:nvPr/>
        </p:nvSpPr>
        <p:spPr>
          <a:xfrm>
            <a:off x="4686300" y="4197251"/>
            <a:ext cx="0" cy="35049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4838700" y="4292501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Suitable for downstream ML training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66700"/>
            <a:ext cx="8743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85750" y="502890"/>
            <a:ext cx="51006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Synthetic Data Generation with GANs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535609"/>
            <a:ext cx="4411563" cy="851446"/>
          </a:xfrm>
          <a:prstGeom prst="roundRect">
            <a:avLst>
              <a:gd name="adj" fmla="val 11187"/>
            </a:avLst>
          </a:prstGeom>
          <a:solidFill>
            <a:srgbClr val="DC2626">
              <a:alpha val="15000"/>
            </a:srgbClr>
          </a:solidFill>
          <a:ln w="9525">
            <a:solidFill>
              <a:srgbClr val="DC262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28625" y="1678484"/>
            <a:ext cx="42083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 COLLAPSE PROBLEM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28625" y="1901279"/>
            <a:ext cx="42083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GANs produce limited variety, failing to capture the full data distribution. Generator finds "easy" modes and ignores others.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5750" y="2501354"/>
            <a:ext cx="4411563" cy="679996"/>
          </a:xfrm>
          <a:prstGeom prst="roundRect">
            <a:avLst>
              <a:gd name="adj" fmla="val 14007"/>
            </a:avLst>
          </a:prstGeom>
          <a:solidFill>
            <a:srgbClr val="3B82F6">
              <a:alpha val="15000"/>
            </a:srgbClr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28625" y="2644229"/>
            <a:ext cx="42083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WGAN-GP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28625" y="2867025"/>
            <a:ext cx="42083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Wasserstein loss + Gradient penalty + Spectral normalization for stable training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85750" y="3295650"/>
            <a:ext cx="4411563" cy="1081832"/>
          </a:xfrm>
          <a:prstGeom prst="roundRect">
            <a:avLst>
              <a:gd name="adj" fmla="val 8805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8625" y="3438525"/>
            <a:ext cx="42083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28625" y="3680371"/>
            <a:ext cx="202644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 (353K params)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8625" y="3897511"/>
            <a:ext cx="20264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z(100) → 256 → 512 → 256 → 20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428625" y="4101257"/>
            <a:ext cx="20264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BatchNorm + LeakyReLU + Dropout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567732" y="3680371"/>
            <a:ext cx="202644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Discriminator (88K params)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67732" y="3897511"/>
            <a:ext cx="20264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→ 256 → 128 → 1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2567732" y="4101257"/>
            <a:ext cx="20264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Spectral Norm + LeakyReLU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887813" y="1269802"/>
            <a:ext cx="3970437" cy="1365796"/>
          </a:xfrm>
          <a:prstGeom prst="roundRect">
            <a:avLst>
              <a:gd name="adj" fmla="val 6974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30688" y="1412677"/>
            <a:ext cx="37583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STRATEGY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5030688" y="1654522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115818" y="1695450"/>
            <a:ext cx="595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5335488" y="1688753"/>
            <a:ext cx="97200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steps per G step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30688" y="1959322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18795" y="2000250"/>
            <a:ext cx="5343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5335488" y="1993553"/>
            <a:ext cx="9841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 coefficient = 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30688" y="2264122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15818" y="2305050"/>
            <a:ext cx="5935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5335488" y="2298353"/>
            <a:ext cx="136806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10⁻⁴, Adam (β=0.5, 0.999)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87813" y="2749897"/>
            <a:ext cx="3970437" cy="925711"/>
          </a:xfrm>
          <a:prstGeom prst="roundRect">
            <a:avLst>
              <a:gd name="adj" fmla="val 82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021163" y="2883247"/>
            <a:ext cx="377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WGAN-GP Loss: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984126" y="3092797"/>
            <a:ext cx="377781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ℒ_D = E[D(G(z))] - E[D(x)] + λ·GP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84126" y="3355628"/>
            <a:ext cx="377781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60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ℒ_G = -E[D(G(z))]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87813" y="3789908"/>
            <a:ext cx="3970437" cy="853232"/>
          </a:xfrm>
          <a:prstGeom prst="roundRect">
            <a:avLst>
              <a:gd name="adj" fmla="val 1116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030688" y="3932783"/>
            <a:ext cx="37583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PROGRESS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5030688" y="4155579"/>
            <a:ext cx="37583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epochs, batch size 64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30688" y="4353669"/>
            <a:ext cx="37583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accuracy stabilizes at ~68% (ideal!)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53921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 Synthetic Data Quality Assessment</a:t>
            </a:r>
            <a:endParaRPr lang="en-US" sz="2400" dirty="0"/>
          </a:p>
        </p:txBody>
      </p:sp>
      <p:pic>
        <p:nvPicPr>
          <p:cNvPr id="4" name="Image 0" descr="/tmp/rasterized-gradient-4eac7b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095673"/>
            <a:ext cx="4191000" cy="12989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8719" y="1267123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COVERAGE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418719" y="1451818"/>
            <a:ext cx="3925062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62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97.3%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418719" y="2076599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 collapse!</a:t>
            </a:r>
            <a:endParaRPr lang="en-US" sz="825" dirty="0"/>
          </a:p>
        </p:txBody>
      </p:sp>
      <p:pic>
        <p:nvPicPr>
          <p:cNvPr id="8" name="Image 1" descr="/tmp/rasterized-gradient-cde6de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2508945"/>
            <a:ext cx="4191000" cy="12989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8719" y="2680395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DISCRIMINATOR ACCURACY</a:t>
            </a:r>
            <a:endParaRPr lang="en-US" sz="825" dirty="0"/>
          </a:p>
        </p:txBody>
      </p:sp>
      <p:sp>
        <p:nvSpPr>
          <p:cNvPr id="10" name="Text 6"/>
          <p:cNvSpPr/>
          <p:nvPr/>
        </p:nvSpPr>
        <p:spPr>
          <a:xfrm>
            <a:off x="418719" y="2865090"/>
            <a:ext cx="3925062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62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67.9%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418719" y="3489871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random guessing (ideal!)</a:t>
            </a:r>
            <a:endParaRPr lang="en-US" sz="825" dirty="0"/>
          </a:p>
        </p:txBody>
      </p:sp>
      <p:sp>
        <p:nvSpPr>
          <p:cNvPr id="12" name="Text 8"/>
          <p:cNvSpPr/>
          <p:nvPr/>
        </p:nvSpPr>
        <p:spPr>
          <a:xfrm>
            <a:off x="285750" y="3922216"/>
            <a:ext cx="1333500" cy="659011"/>
          </a:xfrm>
          <a:prstGeom prst="roundRect">
            <a:avLst>
              <a:gd name="adj" fmla="val 115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398717" y="4046041"/>
            <a:ext cx="11075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Diff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98717" y="4217491"/>
            <a:ext cx="110756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0.037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714500" y="3922216"/>
            <a:ext cx="1333500" cy="659011"/>
          </a:xfrm>
          <a:prstGeom prst="roundRect">
            <a:avLst>
              <a:gd name="adj" fmla="val 115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1827466" y="4046041"/>
            <a:ext cx="11075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 Diff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1827466" y="4217491"/>
            <a:ext cx="110756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0.025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143250" y="3922216"/>
            <a:ext cx="1333500" cy="659011"/>
          </a:xfrm>
          <a:prstGeom prst="roundRect">
            <a:avLst>
              <a:gd name="adj" fmla="val 115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3256217" y="4046041"/>
            <a:ext cx="11075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 Div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3256217" y="4217491"/>
            <a:ext cx="110756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0.086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4667250" y="1245096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Metrics Explained (Fig 5.4)</a:t>
            </a:r>
            <a:endParaRPr lang="en-US" sz="975" dirty="0"/>
          </a:p>
        </p:txBody>
      </p:sp>
      <p:sp>
        <p:nvSpPr>
          <p:cNvPr id="22" name="Text 18"/>
          <p:cNvSpPr/>
          <p:nvPr/>
        </p:nvSpPr>
        <p:spPr>
          <a:xfrm>
            <a:off x="4667250" y="1532632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4791075" y="1656457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Structure Preserved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791075" y="1854547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difference: 0.066 (95% pairs &lt; 0.1)</a:t>
            </a:r>
            <a:endParaRPr lang="en-US" sz="825" dirty="0"/>
          </a:p>
        </p:txBody>
      </p:sp>
      <p:sp>
        <p:nvSpPr>
          <p:cNvPr id="25" name="Text 21"/>
          <p:cNvSpPr/>
          <p:nvPr/>
        </p:nvSpPr>
        <p:spPr>
          <a:xfrm>
            <a:off x="4667250" y="2201168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4791075" y="2324993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Matching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4791075" y="2523083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 divergence &lt; 0.1 = high-quality synthesis</a:t>
            </a:r>
            <a:endParaRPr lang="en-US" sz="825" dirty="0"/>
          </a:p>
        </p:txBody>
      </p:sp>
      <p:sp>
        <p:nvSpPr>
          <p:cNvPr id="28" name="Text 24"/>
          <p:cNvSpPr/>
          <p:nvPr/>
        </p:nvSpPr>
        <p:spPr>
          <a:xfrm>
            <a:off x="4667250" y="2869704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4791075" y="2993529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PCA Space Overlap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791075" y="3191619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94.3% overlap in reduced dimensions</a:t>
            </a:r>
            <a:endParaRPr lang="en-US" sz="825" dirty="0"/>
          </a:p>
        </p:txBody>
      </p:sp>
      <p:sp>
        <p:nvSpPr>
          <p:cNvPr id="31" name="Text 27"/>
          <p:cNvSpPr/>
          <p:nvPr/>
        </p:nvSpPr>
        <p:spPr>
          <a:xfrm>
            <a:off x="4667250" y="3576340"/>
            <a:ext cx="4191000" cy="855315"/>
          </a:xfrm>
          <a:prstGeom prst="roundRect">
            <a:avLst>
              <a:gd name="adj" fmla="val 11136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4819650" y="3728740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EXCELLENT: Publication-Quality Results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4819650" y="3964930"/>
            <a:ext cx="396392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 is realistic and diverse. Suitable for data augmentation, privacy-preserving sharing, and model training.</a:t>
            </a:r>
            <a:endParaRPr lang="en-US" sz="8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66700"/>
            <a:ext cx="8743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85750" y="502890"/>
            <a:ext cx="44108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Variational Autoencoders (VAEs)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376363"/>
            <a:ext cx="42748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VAEs offer advantages over GANs for controlled generation: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677293"/>
            <a:ext cx="4191000" cy="407640"/>
          </a:xfrm>
          <a:prstGeom prst="roundRect">
            <a:avLst>
              <a:gd name="adj" fmla="val 18693"/>
            </a:avLst>
          </a:prstGeom>
          <a:solidFill>
            <a:srgbClr val="8B5CF6">
              <a:alpha val="20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9575" y="1801118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More stable training (no adversarial dynamics)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5750" y="2161133"/>
            <a:ext cx="4191000" cy="407640"/>
          </a:xfrm>
          <a:prstGeom prst="roundRect">
            <a:avLst>
              <a:gd name="adj" fmla="val 18693"/>
            </a:avLst>
          </a:prstGeom>
          <a:solidFill>
            <a:srgbClr val="8B5CF6">
              <a:alpha val="20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9575" y="2284958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Smooth, continuous latent space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85750" y="2644973"/>
            <a:ext cx="4191000" cy="407640"/>
          </a:xfrm>
          <a:prstGeom prst="roundRect">
            <a:avLst>
              <a:gd name="adj" fmla="val 18693"/>
            </a:avLst>
          </a:prstGeom>
          <a:solidFill>
            <a:srgbClr val="8B5CF6">
              <a:alpha val="20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9575" y="2768798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Direct control over generation process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5750" y="3128814"/>
            <a:ext cx="4191000" cy="407640"/>
          </a:xfrm>
          <a:prstGeom prst="roundRect">
            <a:avLst>
              <a:gd name="adj" fmla="val 18693"/>
            </a:avLst>
          </a:prstGeom>
          <a:solidFill>
            <a:srgbClr val="8B5CF6">
              <a:alpha val="20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09575" y="3252639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Built-in regularization via KL divergence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5750" y="3650754"/>
            <a:ext cx="4191000" cy="885825"/>
          </a:xfrm>
          <a:prstGeom prst="roundRect">
            <a:avLst>
              <a:gd name="adj" fmla="val 860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19100" y="3784104"/>
            <a:ext cx="40027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β-VAE Loss Function: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79857" y="3993654"/>
            <a:ext cx="40027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ℒ = ℒ_recon + β · D_KL(q(z|x) || p(z))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379857" y="4269879"/>
            <a:ext cx="40027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controls reconstruction vs regularization trade-off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667250" y="1113086"/>
            <a:ext cx="4191000" cy="1152079"/>
          </a:xfrm>
          <a:prstGeom prst="roundRect">
            <a:avLst>
              <a:gd name="adj" fmla="val 826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810125" y="1255961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(378K PARAMS)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4810125" y="1497806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Encoder: 20 → 512 → 256 → 128 → (μ, σ²)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10125" y="1718667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Latent: 64 dimensions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10125" y="1939528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Decoder: 64 → 128 → 256 → 512 → 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7250" y="2379464"/>
            <a:ext cx="4191000" cy="1154013"/>
          </a:xfrm>
          <a:prstGeom prst="roundRect">
            <a:avLst>
              <a:gd name="adj" fmla="val 8254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10125" y="2522339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 ANNEALING SCHEDULE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4810125" y="2764185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 0-150: β increases 0 → 0.3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10125" y="2985046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 150+: β = 0.3 (fixed)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10125" y="3244007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posterior collapse early in training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4667250" y="3647777"/>
            <a:ext cx="4191000" cy="1152079"/>
          </a:xfrm>
          <a:prstGeom prst="roundRect">
            <a:avLst>
              <a:gd name="adj" fmla="val 826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10125" y="3790652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CONFIG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4810125" y="4032498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epochs, lr=5×10⁻⁴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10125" y="4253359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clipping: 0.5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10125" y="4474220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decay: 10⁻⁵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503262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VAE Results: GAN vs VAE Trade-offs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093738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VAE Quality Metrics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285750" y="1381274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8148" y="1524149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Diff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8148" y="1695599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0.024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714500" y="1381274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6898" y="1524149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 Diff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846898" y="1695599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0.253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43250" y="1381274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275648" y="1524149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 Diff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275648" y="1695599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0.051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5750" y="2219474"/>
            <a:ext cx="4191000" cy="796082"/>
          </a:xfrm>
          <a:prstGeom prst="roundRect">
            <a:avLst>
              <a:gd name="adj" fmla="val 11965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8150" y="2371874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Discriminator Accuracy: 75.5%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8150" y="2569964"/>
            <a:ext cx="396392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differences detectable — VAEs prioritize smooth latent space over perfect reconstruction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285750" y="3129855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VAE Strengths (Fig 5.5)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85750" y="3417391"/>
            <a:ext cx="4191000" cy="350490"/>
          </a:xfrm>
          <a:prstGeom prst="rect">
            <a:avLst/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04800" y="3417391"/>
            <a:ext cx="0" cy="35049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512641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interpolation between samples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5750" y="3825032"/>
            <a:ext cx="4191000" cy="350490"/>
          </a:xfrm>
          <a:prstGeom prst="rect">
            <a:avLst/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04800" y="3825032"/>
            <a:ext cx="0" cy="35049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920282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Controllable generation via latent space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5750" y="4232672"/>
            <a:ext cx="4191000" cy="350490"/>
          </a:xfrm>
          <a:prstGeom prst="rect">
            <a:avLst/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04800" y="4232672"/>
            <a:ext cx="0" cy="35049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327922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R² = 0.72 (good)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67250" y="1542306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 vs VAE Comparison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4667250" y="1829842"/>
            <a:ext cx="4191000" cy="1580704"/>
          </a:xfrm>
          <a:prstGeom prst="roundRect">
            <a:avLst>
              <a:gd name="adj" fmla="val 60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676775" y="1839367"/>
            <a:ext cx="4171950" cy="337096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096000" y="1839367"/>
            <a:ext cx="0" cy="337096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91075" y="1934617"/>
            <a:ext cx="12095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7474744" y="1839367"/>
            <a:ext cx="0" cy="337096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57580" y="1934617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7736324" y="1934617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VAE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4676775" y="2480221"/>
            <a:ext cx="41719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096000" y="2176463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91075" y="2252663"/>
            <a:ext cx="12095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Disc. Accuracy</a:t>
            </a:r>
            <a:endParaRPr lang="en-US" sz="825" dirty="0"/>
          </a:p>
        </p:txBody>
      </p:sp>
      <p:sp>
        <p:nvSpPr>
          <p:cNvPr id="38" name="Text 36"/>
          <p:cNvSpPr/>
          <p:nvPr/>
        </p:nvSpPr>
        <p:spPr>
          <a:xfrm>
            <a:off x="6253163" y="2176463"/>
            <a:ext cx="1226344" cy="298996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7474744" y="2176463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57580" y="2252663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825" dirty="0"/>
          </a:p>
        </p:txBody>
      </p:sp>
      <p:sp>
        <p:nvSpPr>
          <p:cNvPr id="41" name="Text 39"/>
          <p:cNvSpPr/>
          <p:nvPr/>
        </p:nvSpPr>
        <p:spPr>
          <a:xfrm>
            <a:off x="7736324" y="2252663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75.5%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4676775" y="2788741"/>
            <a:ext cx="41719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096000" y="2484983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791075" y="2561183"/>
            <a:ext cx="12095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Coverage</a:t>
            </a:r>
            <a:endParaRPr lang="en-US" sz="825" dirty="0"/>
          </a:p>
        </p:txBody>
      </p:sp>
      <p:sp>
        <p:nvSpPr>
          <p:cNvPr id="45" name="Text 43"/>
          <p:cNvSpPr/>
          <p:nvPr/>
        </p:nvSpPr>
        <p:spPr>
          <a:xfrm>
            <a:off x="6253163" y="2484983"/>
            <a:ext cx="1226344" cy="298996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7474744" y="2484983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357580" y="2561183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97.3%</a:t>
            </a:r>
            <a:endParaRPr lang="en-US" sz="825" dirty="0"/>
          </a:p>
        </p:txBody>
      </p:sp>
      <p:sp>
        <p:nvSpPr>
          <p:cNvPr id="48" name="Text 46"/>
          <p:cNvSpPr/>
          <p:nvPr/>
        </p:nvSpPr>
        <p:spPr>
          <a:xfrm>
            <a:off x="7736324" y="2561183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~85%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4676775" y="3097262"/>
            <a:ext cx="41719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096000" y="2793504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91075" y="2869704"/>
            <a:ext cx="12095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Stability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7474744" y="2793504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357580" y="2869704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</a:t>
            </a:r>
            <a:endParaRPr lang="en-US" sz="825" dirty="0"/>
          </a:p>
        </p:txBody>
      </p:sp>
      <p:sp>
        <p:nvSpPr>
          <p:cNvPr id="54" name="Text 52"/>
          <p:cNvSpPr/>
          <p:nvPr/>
        </p:nvSpPr>
        <p:spPr>
          <a:xfrm>
            <a:off x="7631906" y="2793504"/>
            <a:ext cx="1216819" cy="298996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36324" y="2869704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25" dirty="0"/>
          </a:p>
        </p:txBody>
      </p:sp>
      <p:sp>
        <p:nvSpPr>
          <p:cNvPr id="56" name="Shape 54"/>
          <p:cNvSpPr/>
          <p:nvPr/>
        </p:nvSpPr>
        <p:spPr>
          <a:xfrm>
            <a:off x="6096000" y="3102025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91075" y="3178225"/>
            <a:ext cx="12095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 Space</a:t>
            </a:r>
            <a:endParaRPr lang="en-US" sz="825" dirty="0"/>
          </a:p>
        </p:txBody>
      </p:sp>
      <p:sp>
        <p:nvSpPr>
          <p:cNvPr id="58" name="Shape 56"/>
          <p:cNvSpPr/>
          <p:nvPr/>
        </p:nvSpPr>
        <p:spPr>
          <a:xfrm>
            <a:off x="7474744" y="3102025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357580" y="3178225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</a:t>
            </a:r>
            <a:endParaRPr lang="en-US" sz="825" dirty="0"/>
          </a:p>
        </p:txBody>
      </p:sp>
      <p:sp>
        <p:nvSpPr>
          <p:cNvPr id="60" name="Text 58"/>
          <p:cNvSpPr/>
          <p:nvPr/>
        </p:nvSpPr>
        <p:spPr>
          <a:xfrm>
            <a:off x="7631906" y="3102025"/>
            <a:ext cx="1216819" cy="298996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736324" y="3178225"/>
            <a:ext cx="10079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</a:t>
            </a:r>
            <a:endParaRPr lang="en-US" sz="825" dirty="0"/>
          </a:p>
        </p:txBody>
      </p:sp>
      <p:sp>
        <p:nvSpPr>
          <p:cNvPr id="62" name="Text 60"/>
          <p:cNvSpPr/>
          <p:nvPr/>
        </p:nvSpPr>
        <p:spPr>
          <a:xfrm>
            <a:off x="4667250" y="3524845"/>
            <a:ext cx="4191000" cy="609600"/>
          </a:xfrm>
          <a:prstGeom prst="roundRect">
            <a:avLst>
              <a:gd name="adj" fmla="val 15625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800600" y="3658195"/>
            <a:ext cx="40027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GANs generate more diverse data; VAEs provide smoother interpolation. Choose based on application!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66700"/>
            <a:ext cx="8743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IV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85750" y="502890"/>
            <a:ext cx="515893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Gaussian Process Spatial Interpolation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466106"/>
            <a:ext cx="427482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 complete high-resolution fields from sparse spatial observations: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953667"/>
            <a:ext cx="4191000" cy="843707"/>
          </a:xfrm>
          <a:prstGeom prst="roundRect">
            <a:avLst>
              <a:gd name="adj" fmla="val 11289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38238" y="2096542"/>
            <a:ext cx="272034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02630" y="2507903"/>
            <a:ext cx="95652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observations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2266950" y="2215455"/>
            <a:ext cx="2331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90875" y="2096542"/>
            <a:ext cx="612077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3,600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052614" y="2507903"/>
            <a:ext cx="8941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points (60×60)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285750" y="2911673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GAUSSIAN PROCESSES?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85750" y="3185964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28625" y="3290739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Optimal interpolation under Gaussian assumptions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85750" y="3631704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28625" y="3736479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Principled uncertainty quantification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85750" y="4077444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28625" y="4182219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 training required — just optimization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7250" y="1081683"/>
            <a:ext cx="4191000" cy="1171277"/>
          </a:xfrm>
          <a:prstGeom prst="roundRect">
            <a:avLst>
              <a:gd name="adj" fmla="val 813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10125" y="1224558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FUNCTION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4810125" y="1466404"/>
            <a:ext cx="3905250" cy="401836"/>
          </a:xfrm>
          <a:prstGeom prst="roundRect">
            <a:avLst>
              <a:gd name="adj" fmla="val 142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87659" y="1580704"/>
            <a:ext cx="375018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k(x,x') = σ² · RBF(ℓ) + σ²_n · I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810125" y="1963489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RBF kernel + white noise for observation uncertainty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667250" y="2367260"/>
            <a:ext cx="4191000" cy="1289298"/>
          </a:xfrm>
          <a:prstGeom prst="roundRect">
            <a:avLst>
              <a:gd name="adj" fmla="val 738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810125" y="2510135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FIELD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4810125" y="2751981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Multi-scale spatial pattern: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10125" y="2972842"/>
            <a:ext cx="3983355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Large-scale trends (wavelength ~20)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4810125" y="3159472"/>
            <a:ext cx="3983355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oscillations (wavelength ~6)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4810125" y="3346103"/>
            <a:ext cx="3983355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Fine-scale variations (wavelength ~3)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4667250" y="3770858"/>
            <a:ext cx="4191000" cy="1060698"/>
          </a:xfrm>
          <a:prstGeom prst="roundRect">
            <a:avLst>
              <a:gd name="adj" fmla="val 898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10125" y="3913733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 OPTIMIZATION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4810125" y="4155579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restarts of log-marginal likelihood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10125" y="4376440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lengthscale: 1.2 units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4810125" y="4542086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noise: σ = 0.09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43816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 Interpolation Results</a:t>
            </a:r>
            <a:endParaRPr lang="en-US" sz="2400" dirty="0"/>
          </a:p>
        </p:txBody>
      </p:sp>
      <p:pic>
        <p:nvPicPr>
          <p:cNvPr id="4" name="Image 0" descr="/tmp/rasterized-gradient-3c3773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342281"/>
            <a:ext cx="4191000" cy="13522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8719" y="1513731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(% OF RANGE)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418719" y="1698427"/>
            <a:ext cx="392506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4.7%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18719" y="2376488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Publication-quality accuracy</a:t>
            </a:r>
            <a:endParaRPr lang="en-US" sz="825" dirty="0"/>
          </a:p>
        </p:txBody>
      </p:sp>
      <p:sp>
        <p:nvSpPr>
          <p:cNvPr id="8" name="Text 5"/>
          <p:cNvSpPr/>
          <p:nvPr/>
        </p:nvSpPr>
        <p:spPr>
          <a:xfrm>
            <a:off x="285750" y="2808833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18148" y="2951708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(°C)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18148" y="3123158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14500" y="2808833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846898" y="2951708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(°C)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846898" y="3123158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143250" y="2808833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3275648" y="2951708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Time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3275648" y="3123158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min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285750" y="3647033"/>
            <a:ext cx="4191000" cy="687586"/>
          </a:xfrm>
          <a:prstGeom prst="roundRect">
            <a:avLst>
              <a:gd name="adj" fmla="val 13853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38150" y="3799433"/>
            <a:ext cx="39639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Calibration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38150" y="4035623"/>
            <a:ext cx="19236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vs Distance: r = 0.85</a:t>
            </a:r>
            <a:endParaRPr lang="en-US" sz="825" dirty="0"/>
          </a:p>
        </p:txBody>
      </p:sp>
      <p:sp>
        <p:nvSpPr>
          <p:cNvPr id="20" name="Text 17"/>
          <p:cNvSpPr/>
          <p:nvPr/>
        </p:nvSpPr>
        <p:spPr>
          <a:xfrm>
            <a:off x="2438400" y="4035623"/>
            <a:ext cx="19236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vs Error: r = 0.72</a:t>
            </a:r>
            <a:endParaRPr lang="en-US" sz="825" dirty="0"/>
          </a:p>
        </p:txBody>
      </p:sp>
      <p:sp>
        <p:nvSpPr>
          <p:cNvPr id="21" name="Text 18"/>
          <p:cNvSpPr/>
          <p:nvPr/>
        </p:nvSpPr>
        <p:spPr>
          <a:xfrm>
            <a:off x="4667250" y="1053257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 (Fig 5.6)</a:t>
            </a:r>
            <a:endParaRPr lang="en-US" sz="975" dirty="0"/>
          </a:p>
        </p:txBody>
      </p:sp>
      <p:sp>
        <p:nvSpPr>
          <p:cNvPr id="22" name="Text 19"/>
          <p:cNvSpPr/>
          <p:nvPr/>
        </p:nvSpPr>
        <p:spPr>
          <a:xfrm>
            <a:off x="4667250" y="1340793"/>
            <a:ext cx="4191000" cy="738932"/>
          </a:xfrm>
          <a:prstGeom prst="roundRect">
            <a:avLst>
              <a:gd name="adj" fmla="val 1031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791075" y="1464618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Excellent Visual Match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791075" y="1662708"/>
            <a:ext cx="402221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 captures all major spatial patterns: large-scale gradients, medium oscillations, fine details</a:t>
            </a:r>
            <a:endParaRPr lang="en-US" sz="825" dirty="0"/>
          </a:p>
        </p:txBody>
      </p:sp>
      <p:sp>
        <p:nvSpPr>
          <p:cNvPr id="25" name="Text 22"/>
          <p:cNvSpPr/>
          <p:nvPr/>
        </p:nvSpPr>
        <p:spPr>
          <a:xfrm>
            <a:off x="4667250" y="2155924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791075" y="2279749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Principled Uncertainty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91075" y="2477839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near observations (σ≈0.3°C), high far from observations (σ≈1.2°C)</a:t>
            </a:r>
            <a:endParaRPr lang="en-US" sz="825" dirty="0"/>
          </a:p>
        </p:txBody>
      </p:sp>
      <p:sp>
        <p:nvSpPr>
          <p:cNvPr id="28" name="Text 25"/>
          <p:cNvSpPr/>
          <p:nvPr/>
        </p:nvSpPr>
        <p:spPr>
          <a:xfrm>
            <a:off x="4667250" y="2824460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4791075" y="2948285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Well-Calibrated Predictions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791075" y="3146375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within 1σ, 95% within 2σ (ideal Gaussian calibration)</a:t>
            </a:r>
            <a:endParaRPr lang="en-US" sz="825" dirty="0"/>
          </a:p>
        </p:txBody>
      </p:sp>
      <p:sp>
        <p:nvSpPr>
          <p:cNvPr id="31" name="Text 28"/>
          <p:cNvSpPr/>
          <p:nvPr/>
        </p:nvSpPr>
        <p:spPr>
          <a:xfrm>
            <a:off x="4667250" y="3492996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791075" y="3616821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Efficient Coverage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791075" y="3814911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observations sufficient for 10×10 domain with this complexity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4667250" y="4199632"/>
            <a:ext cx="4191000" cy="423863"/>
          </a:xfrm>
          <a:prstGeom prst="roundRect">
            <a:avLst>
              <a:gd name="adj" fmla="val 22472"/>
            </a:avLst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4800600" y="4332982"/>
            <a:ext cx="400278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</a:t>
            </a:r>
            <a:r>
              <a:rPr lang="en-US" sz="825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Spatial data &lt; 1000 points, uncertainty needed, no training data available</a:t>
            </a:r>
            <a:endParaRPr lang="en-US" sz="8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66700"/>
            <a:ext cx="8743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V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85750" y="502890"/>
            <a:ext cx="6577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Series Gap Filling with Bidirectional LSTM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377553"/>
            <a:ext cx="42748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contiguous gaps in multivariate time series while respecting: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678484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EC4899">
              <a:alpha val="20000"/>
            </a:srgbClr>
          </a:solidFill>
          <a:ln w="9525">
            <a:solidFill>
              <a:srgbClr val="EC48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1783259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Temporal dependencies (past → future)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5750" y="2124224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EC4899">
              <a:alpha val="20000"/>
            </a:srgbClr>
          </a:solidFill>
          <a:ln w="9525">
            <a:solidFill>
              <a:srgbClr val="EC48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28625" y="2228999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Cross-variable correlations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85750" y="2569964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EC4899">
              <a:alpha val="20000"/>
            </a:srgbClr>
          </a:solidFill>
          <a:ln w="9525">
            <a:solidFill>
              <a:srgbClr val="EC48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28625" y="2674739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Multiple frequency components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5750" y="3053804"/>
            <a:ext cx="4191000" cy="1481584"/>
          </a:xfrm>
          <a:prstGeom prst="roundRect">
            <a:avLst>
              <a:gd name="adj" fmla="val 6429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28625" y="3196679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DATASET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428625" y="3438525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timesteps × 3 variables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8625" y="3678436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45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1: Seasonal + linear trend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428625" y="3844082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2: Multi-frequency oscillation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428625" y="4009727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3: Damped oscillation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428625" y="4232523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19.5% missing (contiguous gaps 5-20 steps)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7250" y="1255663"/>
            <a:ext cx="4191000" cy="1068437"/>
          </a:xfrm>
          <a:prstGeom prst="roundRect">
            <a:avLst>
              <a:gd name="adj" fmla="val 8915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10125" y="1398538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LSTM ARCHITECTURE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5140821" y="1640384"/>
            <a:ext cx="650825" cy="298996"/>
          </a:xfrm>
          <a:prstGeom prst="roundRect">
            <a:avLst>
              <a:gd name="adj" fmla="val 19114"/>
            </a:avLst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255121" y="1716584"/>
            <a:ext cx="43067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mask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5867846" y="1683246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96446" y="1640384"/>
            <a:ext cx="720775" cy="298996"/>
          </a:xfrm>
          <a:prstGeom prst="roundRect">
            <a:avLst>
              <a:gd name="adj" fmla="val 19114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10746" y="1716584"/>
            <a:ext cx="5020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BiLSTM×2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6893421" y="1683246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22021" y="1640384"/>
            <a:ext cx="676870" cy="298996"/>
          </a:xfrm>
          <a:prstGeom prst="roundRect">
            <a:avLst>
              <a:gd name="adj" fmla="val 19114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236321" y="1716584"/>
            <a:ext cx="45723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layers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7875091" y="1683246"/>
            <a:ext cx="15544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03691" y="1640384"/>
            <a:ext cx="280988" cy="298996"/>
          </a:xfrm>
          <a:prstGeom prst="roundRect">
            <a:avLst>
              <a:gd name="adj" fmla="val 20339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217991" y="1716584"/>
            <a:ext cx="5343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x̂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4810125" y="2034629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(data, mask) concatenated → Hidden: 128×2 (bidirectional)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4667250" y="2438400"/>
            <a:ext cx="4191000" cy="1251347"/>
          </a:xfrm>
          <a:prstGeom prst="roundRect">
            <a:avLst>
              <a:gd name="adj" fmla="val 76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10125" y="2581275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BIDIRECTIONAL?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4810125" y="2823121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information from </a:t>
            </a:r>
            <a:r>
              <a:rPr lang="en-US" sz="90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past and future to fill gaps: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10125" y="3082082"/>
            <a:ext cx="1905000" cy="464790"/>
          </a:xfrm>
          <a:prstGeom prst="roundRect">
            <a:avLst>
              <a:gd name="adj" fmla="val 1229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68799" y="3158282"/>
            <a:ext cx="17876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868799" y="3310682"/>
            <a:ext cx="178765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→ gap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10375" y="3082082"/>
            <a:ext cx="1905000" cy="464790"/>
          </a:xfrm>
          <a:prstGeom prst="roundRect">
            <a:avLst>
              <a:gd name="adj" fmla="val 1229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69049" y="3158282"/>
            <a:ext cx="17876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869049" y="3310682"/>
            <a:ext cx="178765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→ gap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667250" y="3804047"/>
            <a:ext cx="4191000" cy="853232"/>
          </a:xfrm>
          <a:prstGeom prst="roundRect">
            <a:avLst>
              <a:gd name="adj" fmla="val 1116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10125" y="3946922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825" dirty="0"/>
          </a:p>
        </p:txBody>
      </p:sp>
      <p:sp>
        <p:nvSpPr>
          <p:cNvPr id="43" name="Text 41"/>
          <p:cNvSpPr/>
          <p:nvPr/>
        </p:nvSpPr>
        <p:spPr>
          <a:xfrm>
            <a:off x="4810125" y="4169718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epochs, lr=10⁻³, dropout=0.2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10125" y="4367808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on observed values only (masked MSE)</a:t>
            </a:r>
            <a:endParaRPr lang="en-US" sz="8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43816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Series Gap Filling Results</a:t>
            </a:r>
            <a:endParaRPr lang="en-US" sz="2400" dirty="0"/>
          </a:p>
        </p:txBody>
      </p:sp>
      <p:pic>
        <p:nvPicPr>
          <p:cNvPr id="4" name="Image 0" descr="/tmp/rasterized-gradient-92d495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238399"/>
            <a:ext cx="4191000" cy="13522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8719" y="1409849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SCORE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418719" y="1594545"/>
            <a:ext cx="392506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0.76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18719" y="2272605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reconstruction quality</a:t>
            </a:r>
            <a:endParaRPr lang="en-US" sz="825" dirty="0"/>
          </a:p>
        </p:txBody>
      </p:sp>
      <p:sp>
        <p:nvSpPr>
          <p:cNvPr id="8" name="Text 5"/>
          <p:cNvSpPr/>
          <p:nvPr/>
        </p:nvSpPr>
        <p:spPr>
          <a:xfrm>
            <a:off x="285750" y="2704951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18148" y="284782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18148" y="3019276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14500" y="2704951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846898" y="284782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846898" y="3019276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0.237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143250" y="2704951"/>
            <a:ext cx="13335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3275648" y="284782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3275648" y="3019276"/>
            <a:ext cx="10687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 min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285750" y="3543151"/>
            <a:ext cx="4191000" cy="895350"/>
          </a:xfrm>
          <a:prstGeom prst="roundRect">
            <a:avLst>
              <a:gd name="adj" fmla="val 10638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38150" y="3818483"/>
            <a:ext cx="29359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Mean Imputation Baseline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38150" y="4016573"/>
            <a:ext cx="293590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RMSE: 0.58 → LSTM: 0.29</a:t>
            </a:r>
            <a:endParaRPr lang="en-US" sz="825" dirty="0"/>
          </a:p>
        </p:txBody>
      </p:sp>
      <p:sp>
        <p:nvSpPr>
          <p:cNvPr id="20" name="Text 17"/>
          <p:cNvSpPr/>
          <p:nvPr/>
        </p:nvSpPr>
        <p:spPr>
          <a:xfrm>
            <a:off x="3468886" y="3695551"/>
            <a:ext cx="855464" cy="590550"/>
          </a:xfrm>
          <a:prstGeom prst="roundRect">
            <a:avLst>
              <a:gd name="adj" fmla="val 12903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3621286" y="3790801"/>
            <a:ext cx="5616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51%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621286" y="4057501"/>
            <a:ext cx="5616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4667250" y="1048048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Achievements (Fig 5.7)</a:t>
            </a:r>
            <a:endParaRPr lang="en-US" sz="975" dirty="0"/>
          </a:p>
        </p:txBody>
      </p:sp>
      <p:sp>
        <p:nvSpPr>
          <p:cNvPr id="24" name="Text 21"/>
          <p:cNvSpPr/>
          <p:nvPr/>
        </p:nvSpPr>
        <p:spPr>
          <a:xfrm>
            <a:off x="4667250" y="1335584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791075" y="1459409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Captures Temporal Patterns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91075" y="1657499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Reconstructs sinusoidal patterns with correct amplitude and phase</a:t>
            </a:r>
            <a:endParaRPr lang="en-US" sz="825" dirty="0"/>
          </a:p>
        </p:txBody>
      </p:sp>
      <p:sp>
        <p:nvSpPr>
          <p:cNvPr id="27" name="Text 24"/>
          <p:cNvSpPr/>
          <p:nvPr/>
        </p:nvSpPr>
        <p:spPr>
          <a:xfrm>
            <a:off x="4667250" y="2004120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791075" y="2127945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Handles Multiple Frequencies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91075" y="2326035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Successfully imputes both main cycle and 3× harmonic components</a:t>
            </a:r>
            <a:endParaRPr lang="en-US" sz="825" dirty="0"/>
          </a:p>
        </p:txBody>
      </p:sp>
      <p:sp>
        <p:nvSpPr>
          <p:cNvPr id="30" name="Text 27"/>
          <p:cNvSpPr/>
          <p:nvPr/>
        </p:nvSpPr>
        <p:spPr>
          <a:xfrm>
            <a:off x="4667250" y="2672655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791075" y="2796480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Seamless Gap Filling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91075" y="2994571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Imputed values connect smoothly to observed segments</a:t>
            </a:r>
            <a:endParaRPr lang="en-US" sz="825" dirty="0"/>
          </a:p>
        </p:txBody>
      </p:sp>
      <p:sp>
        <p:nvSpPr>
          <p:cNvPr id="33" name="Text 30"/>
          <p:cNvSpPr/>
          <p:nvPr/>
        </p:nvSpPr>
        <p:spPr>
          <a:xfrm>
            <a:off x="4667250" y="3341191"/>
            <a:ext cx="4191000" cy="592336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4791075" y="3465016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Uncertainty Awareness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91075" y="3663107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 dropout shows σ increases with gap length (0.15 → 0.35)</a:t>
            </a:r>
            <a:endParaRPr lang="en-US" sz="825" dirty="0"/>
          </a:p>
        </p:txBody>
      </p:sp>
      <p:sp>
        <p:nvSpPr>
          <p:cNvPr id="36" name="Text 33"/>
          <p:cNvSpPr/>
          <p:nvPr/>
        </p:nvSpPr>
        <p:spPr>
          <a:xfrm>
            <a:off x="4667250" y="4047827"/>
            <a:ext cx="4191000" cy="581025"/>
          </a:xfrm>
          <a:prstGeom prst="roundRect">
            <a:avLst>
              <a:gd name="adj" fmla="val 16393"/>
            </a:avLst>
          </a:prstGeom>
          <a:solidFill>
            <a:srgbClr val="FDF2F8"/>
          </a:solidFill>
          <a:ln w="19050">
            <a:solidFill>
              <a:srgbClr val="EC48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4800600" y="4181177"/>
            <a:ext cx="400278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9D17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</a:t>
            </a:r>
            <a:r>
              <a:rPr lang="en-US" sz="825" dirty="0">
                <a:solidFill>
                  <a:srgbClr val="9D17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Sensor data with contiguous gaps, multi-frequency signals, multivariate time series</a:t>
            </a:r>
            <a:endParaRPr lang="en-US" sz="8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54406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Comparison: When to Use What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266230"/>
            <a:ext cx="8572500" cy="2197745"/>
          </a:xfrm>
          <a:prstGeom prst="roundRect">
            <a:avLst>
              <a:gd name="adj" fmla="val 433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5275" y="1275755"/>
            <a:ext cx="8553450" cy="337096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181820" y="1275755"/>
            <a:ext cx="0" cy="337096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9575" y="1371005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825" dirty="0"/>
          </a:p>
        </p:txBody>
      </p:sp>
      <p:sp>
        <p:nvSpPr>
          <p:cNvPr id="8" name="Shape 6"/>
          <p:cNvSpPr/>
          <p:nvPr/>
        </p:nvSpPr>
        <p:spPr>
          <a:xfrm>
            <a:off x="4526012" y="1275755"/>
            <a:ext cx="0" cy="337096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53283" y="1371005"/>
            <a:ext cx="19927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5968454" y="1275755"/>
            <a:ext cx="0" cy="337096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86955" y="1371005"/>
            <a:ext cx="107295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</a:t>
            </a:r>
            <a:endParaRPr lang="en-US" sz="825" dirty="0"/>
          </a:p>
        </p:txBody>
      </p:sp>
      <p:sp>
        <p:nvSpPr>
          <p:cNvPr id="12" name="Shape 10"/>
          <p:cNvSpPr/>
          <p:nvPr/>
        </p:nvSpPr>
        <p:spPr>
          <a:xfrm>
            <a:off x="7410896" y="1275755"/>
            <a:ext cx="0" cy="337096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29398" y="1371005"/>
            <a:ext cx="107295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7671840" y="1371005"/>
            <a:ext cx="107295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825" dirty="0"/>
          </a:p>
        </p:txBody>
      </p:sp>
      <p:sp>
        <p:nvSpPr>
          <p:cNvPr id="15" name="Shape 13"/>
          <p:cNvSpPr/>
          <p:nvPr/>
        </p:nvSpPr>
        <p:spPr>
          <a:xfrm>
            <a:off x="295275" y="1916609"/>
            <a:ext cx="85534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5275" y="1612850"/>
            <a:ext cx="1891308" cy="298996"/>
          </a:xfrm>
          <a:prstGeom prst="rect">
            <a:avLst/>
          </a:prstGeom>
          <a:solidFill>
            <a:srgbClr val="F0FD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2181820" y="1612850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09575" y="1689050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Autoencoder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4526012" y="1619399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53283" y="1695599"/>
            <a:ext cx="19927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data, missing values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68454" y="1619399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86955" y="1695599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10896" y="1619399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29398" y="1695599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71840" y="1695599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min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95275" y="2225129"/>
            <a:ext cx="85534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95275" y="1921371"/>
            <a:ext cx="1891308" cy="298996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2181820" y="1921371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09575" y="1997571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</a:t>
            </a:r>
            <a:endParaRPr lang="en-US" sz="825" dirty="0"/>
          </a:p>
        </p:txBody>
      </p:sp>
      <p:sp>
        <p:nvSpPr>
          <p:cNvPr id="30" name="Shape 28"/>
          <p:cNvSpPr/>
          <p:nvPr/>
        </p:nvSpPr>
        <p:spPr>
          <a:xfrm>
            <a:off x="4526012" y="1927920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453283" y="2004120"/>
            <a:ext cx="19927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diversity synthesis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968454" y="1927920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86955" y="2004120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410896" y="1927920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29398" y="2004120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671840" y="2004120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 min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295275" y="2533650"/>
            <a:ext cx="85534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95275" y="2229892"/>
            <a:ext cx="1891308" cy="298996"/>
          </a:xfrm>
          <a:prstGeom prst="rect">
            <a:avLst/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2181820" y="2229892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09575" y="2306092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VAE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4526012" y="2236440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453283" y="2312640"/>
            <a:ext cx="19927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synthesis, interpolation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68454" y="2236440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786955" y="2312640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410896" y="2236440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229398" y="2312640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671840" y="2312640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 min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95275" y="2842171"/>
            <a:ext cx="85534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95275" y="2538413"/>
            <a:ext cx="1891308" cy="298996"/>
          </a:xfrm>
          <a:prstGeom prst="rect">
            <a:avLst/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2181820" y="2538413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09575" y="2614613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 Process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4526012" y="2544961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453283" y="2621161"/>
            <a:ext cx="19927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+ uncertainty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968454" y="2544961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786955" y="2621161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410896" y="2544961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229398" y="2621161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671840" y="2621161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min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95275" y="3150691"/>
            <a:ext cx="855345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95275" y="2846933"/>
            <a:ext cx="1891308" cy="298996"/>
          </a:xfrm>
          <a:prstGeom prst="rect">
            <a:avLst/>
          </a:prstGeom>
          <a:solidFill>
            <a:srgbClr val="FDF2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2181820" y="2846933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09575" y="2923133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LSTM</a:t>
            </a:r>
            <a:endParaRPr lang="en-US" sz="825" dirty="0"/>
          </a:p>
        </p:txBody>
      </p:sp>
      <p:sp>
        <p:nvSpPr>
          <p:cNvPr id="63" name="Shape 61"/>
          <p:cNvSpPr/>
          <p:nvPr/>
        </p:nvSpPr>
        <p:spPr>
          <a:xfrm>
            <a:off x="4526012" y="2853482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2453283" y="2929682"/>
            <a:ext cx="19927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gap filling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968454" y="2853482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786955" y="2929682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410896" y="2853482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6229398" y="2929682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7671840" y="2929682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 min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295275" y="3155454"/>
            <a:ext cx="1891308" cy="298996"/>
          </a:xfrm>
          <a:prstGeom prst="rect">
            <a:avLst/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Shape 69"/>
          <p:cNvSpPr/>
          <p:nvPr/>
        </p:nvSpPr>
        <p:spPr>
          <a:xfrm>
            <a:off x="2181820" y="3155454"/>
            <a:ext cx="0" cy="298996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09575" y="3231654"/>
            <a:ext cx="168624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Models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4526012" y="3162002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2453283" y="3238202"/>
            <a:ext cx="19927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quality synthesis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5968454" y="3162002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786955" y="3238202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7410896" y="3162002"/>
            <a:ext cx="0" cy="28575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6229398" y="3238202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7671840" y="3238202"/>
            <a:ext cx="10729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 min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285750" y="3578275"/>
            <a:ext cx="2781300" cy="832396"/>
          </a:xfrm>
          <a:prstGeom prst="roundRect">
            <a:avLst>
              <a:gd name="adj" fmla="val 9154"/>
            </a:avLst>
          </a:prstGeom>
          <a:solidFill>
            <a:srgbClr val="F0FDFA"/>
          </a:solidFill>
          <a:ln w="9525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409575" y="3702100"/>
            <a:ext cx="258432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Data?</a:t>
            </a:r>
            <a:endParaRPr lang="en-US" sz="825" dirty="0"/>
          </a:p>
        </p:txBody>
      </p:sp>
      <p:sp>
        <p:nvSpPr>
          <p:cNvPr id="82" name="Text 80"/>
          <p:cNvSpPr/>
          <p:nvPr/>
        </p:nvSpPr>
        <p:spPr>
          <a:xfrm>
            <a:off x="409575" y="3886795"/>
            <a:ext cx="258432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20% → Autoencoder</a:t>
            </a:r>
            <a:endParaRPr lang="en-US" sz="75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→ LSTM</a:t>
            </a:r>
            <a:endParaRPr lang="en-US" sz="75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→ GP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181350" y="3578275"/>
            <a:ext cx="2781300" cy="832396"/>
          </a:xfrm>
          <a:prstGeom prst="roundRect">
            <a:avLst>
              <a:gd name="adj" fmla="val 9154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3305175" y="3702100"/>
            <a:ext cx="258432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Data?</a:t>
            </a:r>
            <a:endParaRPr lang="en-US" sz="825" dirty="0"/>
          </a:p>
        </p:txBody>
      </p:sp>
      <p:sp>
        <p:nvSpPr>
          <p:cNvPr id="85" name="Text 83"/>
          <p:cNvSpPr/>
          <p:nvPr/>
        </p:nvSpPr>
        <p:spPr>
          <a:xfrm>
            <a:off x="3305175" y="3886795"/>
            <a:ext cx="258432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diversity → GAN</a:t>
            </a:r>
            <a:endParaRPr lang="en-US" sz="75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interp → VAE</a:t>
            </a:r>
            <a:endParaRPr lang="en-US" sz="75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quality → Diffusion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076950" y="3578275"/>
            <a:ext cx="2781300" cy="832396"/>
          </a:xfrm>
          <a:prstGeom prst="roundRect">
            <a:avLst>
              <a:gd name="adj" fmla="val 9154"/>
            </a:avLst>
          </a:prstGeom>
          <a:solidFill>
            <a:srgbClr val="FFFBEB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6200775" y="3702100"/>
            <a:ext cx="258432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Uncertainty?</a:t>
            </a:r>
            <a:endParaRPr lang="en-US" sz="825" dirty="0"/>
          </a:p>
        </p:txBody>
      </p:sp>
      <p:sp>
        <p:nvSpPr>
          <p:cNvPr id="88" name="Text 86"/>
          <p:cNvSpPr/>
          <p:nvPr/>
        </p:nvSpPr>
        <p:spPr>
          <a:xfrm>
            <a:off x="6200775" y="3886795"/>
            <a:ext cx="258432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→ GP</a:t>
            </a:r>
            <a:endParaRPr lang="en-US" sz="75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→ Diffusion</a:t>
            </a:r>
            <a:endParaRPr lang="en-US" sz="75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→ Ensemble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0" y="3619500"/>
            <a:ext cx="952500" cy="952500"/>
          </a:xfrm>
          <a:prstGeom prst="roundRect">
            <a:avLst>
              <a:gd name="adj" fmla="val 96000"/>
            </a:avLst>
          </a:prstGeom>
          <a:noFill/>
          <a:ln w="19050">
            <a:solidFill>
              <a:srgbClr val="0D948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367135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85750" y="1689943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150" y="1641425"/>
            <a:ext cx="24678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Autoencoder: R² = 0.83 (59% over baseline)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285750" y="193937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8150" y="1890861"/>
            <a:ext cx="231684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GAN: 97.3% mode coverage, no collapse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285750" y="2188815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38150" y="2140297"/>
            <a:ext cx="232154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VAE: Smooth latent space, stable training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285750" y="2438251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8150" y="2389733"/>
            <a:ext cx="185323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GP: 4.7% RMSE with uncertainty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285750" y="268768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38150" y="2639169"/>
            <a:ext cx="208852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LSTM: R² = 0.76 (51% over baseline)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85750" y="3002905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LESSONS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85750" y="3277195"/>
            <a:ext cx="4191000" cy="31239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00038" y="3277195"/>
            <a:ext cx="0" cy="312390"/>
          </a:xfrm>
          <a:prstGeom prst="line">
            <a:avLst/>
          </a:prstGeom>
          <a:noFill/>
          <a:ln w="285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8625" y="3353395"/>
            <a:ext cx="401250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Architecture matters — BatchNorm + Dropout improve stability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5750" y="3646736"/>
            <a:ext cx="4191000" cy="31239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300038" y="3646736"/>
            <a:ext cx="0" cy="312390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8625" y="3722936"/>
            <a:ext cx="401250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Training techniques are critical — early stopping, KL annealing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85750" y="4016276"/>
            <a:ext cx="4191000" cy="31239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00038" y="4016276"/>
            <a:ext cx="0" cy="31239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28625" y="4092476"/>
            <a:ext cx="401250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Always compare to baselines and validate comprehensively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7250" y="1371749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REMINDERS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67250" y="1646039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DC2626">
              <a:alpha val="15000"/>
            </a:srgbClr>
          </a:solidFill>
          <a:ln w="9525">
            <a:solidFill>
              <a:srgbClr val="DC262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810125" y="1750814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Never trust imputed data blindly — always validate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67250" y="2091779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DC2626">
              <a:alpha val="15000"/>
            </a:srgbClr>
          </a:solidFill>
          <a:ln w="9525">
            <a:solidFill>
              <a:srgbClr val="DC262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10125" y="2196554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Synthetic ≠ Real — use for augmentation, not replacement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67250" y="2537520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DC2626">
              <a:alpha val="15000"/>
            </a:srgbClr>
          </a:solidFill>
          <a:ln w="9525">
            <a:solidFill>
              <a:srgbClr val="DC262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10125" y="2642295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Check physics — ensure generated data is physically plausible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67250" y="2983260"/>
            <a:ext cx="4191000" cy="369540"/>
          </a:xfrm>
          <a:prstGeom prst="roundRect">
            <a:avLst>
              <a:gd name="adj" fmla="val 20620"/>
            </a:avLst>
          </a:prstGeom>
          <a:solidFill>
            <a:srgbClr val="DC2626">
              <a:alpha val="15000"/>
            </a:srgbClr>
          </a:solidFill>
          <a:ln w="9525">
            <a:solidFill>
              <a:srgbClr val="DC262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10125" y="3088035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Quantify uncertainty — ensemble methods when possible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67250" y="3467100"/>
            <a:ext cx="4191000" cy="857101"/>
          </a:xfrm>
          <a:prstGeom prst="roundRect">
            <a:avLst>
              <a:gd name="adj" fmla="val 11113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10125" y="3609975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results are suitable for: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10125" y="3846165"/>
            <a:ext cx="3983355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Research publications  •  ✓ Educational materials  •  ✓ Production systems  •  ✓ Benchmarking new methods</a:t>
            </a:r>
            <a:endParaRPr lang="en-US" sz="8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66700"/>
            <a:ext cx="43816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and 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325166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PAPERS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85750" y="1580406"/>
            <a:ext cx="419100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0525" y="1685181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DiffPuter (ICLR 2025)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390525" y="1850827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 et al. — Diffusion models for missing data imputation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85750" y="2146102"/>
            <a:ext cx="419100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0525" y="2250877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TabDDPM (ICML 2023)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390525" y="2416522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Kotelnikov et al. — Tabular data with diffusion models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85750" y="2711797"/>
            <a:ext cx="419100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0525" y="2816572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CTGAN (NeurIPS 2019)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390525" y="2982218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 et al. — Conditional GAN for tabular data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85750" y="3277493"/>
            <a:ext cx="419100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0525" y="3382268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SAITS (Expert Systems 2023)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390525" y="3547914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et al. — Self-attention for time series imputation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85750" y="3843189"/>
            <a:ext cx="419100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0525" y="3947964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BRITS (NeurIPS 2018)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390525" y="4113609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et al. — Bidirectional RNN for time series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7250" y="1584275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LIBRARIES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7250" y="1839516"/>
            <a:ext cx="1346150" cy="495151"/>
          </a:xfrm>
          <a:prstGeom prst="roundRect">
            <a:avLst>
              <a:gd name="adj" fmla="val 115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72025" y="1944291"/>
            <a:ext cx="115933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772025" y="2109936"/>
            <a:ext cx="115933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framework</a:t>
            </a:r>
            <a:endParaRPr lang="en-US" sz="675" dirty="0"/>
          </a:p>
        </p:txBody>
      </p:sp>
      <p:sp>
        <p:nvSpPr>
          <p:cNvPr id="24" name="Text 22"/>
          <p:cNvSpPr/>
          <p:nvPr/>
        </p:nvSpPr>
        <p:spPr>
          <a:xfrm>
            <a:off x="6089600" y="1839516"/>
            <a:ext cx="1346150" cy="495151"/>
          </a:xfrm>
          <a:prstGeom prst="roundRect">
            <a:avLst>
              <a:gd name="adj" fmla="val 115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94375" y="1944291"/>
            <a:ext cx="115933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6194375" y="2109936"/>
            <a:ext cx="115933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 processes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7511951" y="1839516"/>
            <a:ext cx="1346150" cy="495151"/>
          </a:xfrm>
          <a:prstGeom prst="roundRect">
            <a:avLst>
              <a:gd name="adj" fmla="val 115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616726" y="1944291"/>
            <a:ext cx="115933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PyPOTS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7616726" y="2109936"/>
            <a:ext cx="115933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imputation</a:t>
            </a:r>
            <a:endParaRPr lang="en-US" sz="675" dirty="0"/>
          </a:p>
        </p:txBody>
      </p:sp>
      <p:sp>
        <p:nvSpPr>
          <p:cNvPr id="30" name="Text 28"/>
          <p:cNvSpPr/>
          <p:nvPr/>
        </p:nvSpPr>
        <p:spPr>
          <a:xfrm>
            <a:off x="4667250" y="2468017"/>
            <a:ext cx="42748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AND DATA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7250" y="2723257"/>
            <a:ext cx="4191000" cy="643682"/>
          </a:xfrm>
          <a:prstGeom prst="roundRect">
            <a:avLst>
              <a:gd name="adj" fmla="val 11838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2856607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Working Code: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4800600" y="3060353"/>
            <a:ext cx="40027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rewriting.ai/bookcode/ai4sci.php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4667250" y="3462189"/>
            <a:ext cx="4191000" cy="630436"/>
          </a:xfrm>
          <a:prstGeom prst="roundRect">
            <a:avLst>
              <a:gd name="adj" fmla="val 12087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595539"/>
            <a:ext cx="400278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Chapter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00600" y="3812679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6 — Physics-Informed Neural Networks, Surrogates, and Optimization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1799</Words>
  <Application>Microsoft Macintosh PowerPoint</Application>
  <PresentationFormat>On-screen Show (16:9)</PresentationFormat>
  <Paragraphs>397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5: Data-to-Data Models</dc:title>
  <dc:subject>Generative AI for Scientific Data Challenges</dc:subject>
  <dc:creator>AI for Science</dc:creator>
  <cp:lastModifiedBy>Paul Liu</cp:lastModifiedBy>
  <cp:revision>2</cp:revision>
  <dcterms:created xsi:type="dcterms:W3CDTF">2026-01-08T18:26:38Z</dcterms:created>
  <dcterms:modified xsi:type="dcterms:W3CDTF">2026-01-08T18:50:13Z</dcterms:modified>
</cp:coreProperties>
</file>