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86"/>
    <p:restoredTop sz="94589"/>
  </p:normalViewPr>
  <p:slideViewPr>
    <p:cSldViewPr snapToGrid="0" snapToObjects="1">
      <p:cViewPr varScale="1">
        <p:scale>
          <a:sx n="141" d="100"/>
          <a:sy n="141" d="100"/>
        </p:scale>
        <p:origin x="200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84E884-CF85-5289-FD22-2978F2D6CB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990B1-3531-2B3C-AF4E-E834806348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3A473-8867-7A4A-8BD5-4DB0EB3FA543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98BD4-7367-C858-8ED6-F26D3C7540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Test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3140A-0F6F-0BBB-002C-44F7A75E84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00FFB-D265-3A4F-AD2B-7E9567B90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568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09391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8E2A-F8C8-7A43-6614-FB2CF7506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E6ACE-5EB6-E238-288E-5C451CA48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75CDA-DE71-9539-8467-B712FE1D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1153F-CDC9-F518-48E3-EE83BC19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F2813-6715-F9FF-8684-CD0D2C3C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5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F2BD-7D7A-3F95-53D4-07340E3C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271BC-0E02-3204-5C14-15D76EA3D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2EA7-8758-CAA0-E5EF-BC2E9F03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A1B20-56B9-A0B5-1971-FE967EDE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AF7A-A582-177F-F59D-ED3B20AB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5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F23EC-9C0F-2207-C8F4-DAB012873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52784-BD02-73EF-4D5D-583E40AC1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ADFD2-86EF-E1BC-1C90-6E1DF7DF8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DDD4A-0483-9A24-0FE3-A0E90004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C328E-30A9-363E-3F6F-9CF8F49A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5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E854-0073-F90C-ABB7-0C7B2B62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A8255-0E18-0FE4-9854-48619D45F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B0202-FD24-353F-74F6-1D900178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F3B4A-A5F2-AC6C-EB1A-68070B209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36481-11B2-487A-B8C4-446B4466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D6A78-3AB3-953D-A8DD-3178309F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9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A07D-D50A-EFBE-0662-D69FBF4C5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BA7C7-2AE9-673E-1BD5-57F85875C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BDB15-8EEC-3A08-0F4A-538A619AF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8BDD-37DB-C1D5-CB6A-F5812490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9BB16-68A9-C2C6-30CA-65C7E6E90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4FE78-07C8-9E9B-76F9-27805F20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DC6BA-09DD-C48E-18CB-868781E5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4B607-F15D-6E25-4B26-1A6F40D4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CABA-EFCF-0F94-1D03-75C43AC4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D2510-450D-3121-2758-80D8B5A8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D611F-62CB-2CCB-9A58-6958CBC4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BBE44-F55D-188F-F6D5-8912A95D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79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57058-3273-2446-16A6-8896634BE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15376-11A8-D203-76C2-913602BE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C314E-2A6E-B6DD-DA56-DF0B3F77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3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7894-D028-EFE9-B9F3-C9C3C8D5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559C1-138C-2EFF-CCB0-6A5DAA718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BD1C1-DE53-CDD0-C056-DD47BBA6E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76F51-5E41-551A-0A64-324F0EB9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42C67-3F86-D430-A3E7-0B2407C1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33DC6-A7B9-575A-722C-0BB64430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8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D012-F779-F6B2-DE1A-85B7AD26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41D71-A414-D75A-AFA8-D26042C86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35F9E-215C-7957-1D27-8973FD64E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C4103-7F9F-23A3-67C2-4DD37277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55641-486E-3B35-4DF4-213F5CBD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9A4DE-20DD-7F04-0C4A-0F6FACB4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2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5324-9EB2-C444-8CB1-AC5627D5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29247-DBEF-2EC2-A57B-5459ADBC5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451F-3B92-2756-DD0C-72393F54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65989-270F-17BB-74DF-F2B8A38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623D0-EA7E-1444-F111-2AB866AB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5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D4E68-C643-73C0-DFFD-C4F39CD53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852CF-13B3-9F32-19DF-CD83B588F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EB3D-9B02-8815-7F0A-0DE85B9D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A8263-8DCE-7F94-76A7-0390081C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D2C91-226B-7AF9-3353-57C6A3CD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0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B17B-173D-49AC-001F-BEA1FCCC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C1881-7BDE-CBF8-4CA5-91F7316E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9C47A-9578-2AF5-38B3-E8ADBEC8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9673D-A676-796D-3283-787B2EF23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3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9DA85-1407-5E6C-BE3D-D701C6A2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83CE4-BE17-AFC1-2C92-5DC44E4BF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E266-AABB-8710-5E76-F3F048079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9217F-9025-39E2-C48B-C09C3EC7D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(J. Paul Liu, 2026. Generative AI For Science. Leanpub)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F5E24-FFB6-F905-0AC1-A90EB6581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47E1F-69D3-BB40-9784-148468AC2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72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3250" y="571500"/>
            <a:ext cx="1428750" cy="1428750"/>
          </a:xfrm>
          <a:prstGeom prst="roundRect">
            <a:avLst>
              <a:gd name="adj" fmla="val 64000"/>
            </a:avLst>
          </a:prstGeom>
          <a:noFill/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429000"/>
            <a:ext cx="952500" cy="952500"/>
          </a:xfrm>
          <a:prstGeom prst="roundRect">
            <a:avLst>
              <a:gd name="adj" fmla="val 96000"/>
            </a:avLst>
          </a:prstGeom>
          <a:noFill/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59053" y="1053554"/>
            <a:ext cx="1025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93785" y="1537395"/>
            <a:ext cx="496944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Data-to-Data Models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651974" y="2436465"/>
            <a:ext cx="384005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Aft>
                <a:spcPts val="2400"/>
              </a:spcAft>
              <a:buNone/>
            </a:pPr>
            <a:r>
              <a:rPr lang="en-US" sz="1650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for Scientific Data Challenges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080766" y="3187005"/>
            <a:ext cx="984498" cy="331440"/>
          </a:xfrm>
          <a:prstGeom prst="roundRect">
            <a:avLst>
              <a:gd name="adj" fmla="val 57476"/>
            </a:avLst>
          </a:prstGeom>
          <a:solidFill>
            <a:srgbClr val="0D9488">
              <a:alpha val="2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36085" y="3272730"/>
            <a:ext cx="6738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79564" y="3187005"/>
            <a:ext cx="1391394" cy="331440"/>
          </a:xfrm>
          <a:prstGeom prst="roundRect">
            <a:avLst>
              <a:gd name="adj" fmla="val 57476"/>
            </a:avLst>
          </a:prstGeom>
          <a:solidFill>
            <a:srgbClr val="0D9488">
              <a:alpha val="2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0814" y="3272730"/>
            <a:ext cx="10888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Generation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85258" y="3187005"/>
            <a:ext cx="1334244" cy="331440"/>
          </a:xfrm>
          <a:prstGeom prst="roundRect">
            <a:avLst>
              <a:gd name="adj" fmla="val 57476"/>
            </a:avLst>
          </a:prstGeom>
          <a:solidFill>
            <a:srgbClr val="0D9488">
              <a:alpha val="2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7079" y="3272730"/>
            <a:ext cx="10306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Interpolation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33802" y="3187005"/>
            <a:ext cx="929432" cy="331440"/>
          </a:xfrm>
          <a:prstGeom prst="roundRect">
            <a:avLst>
              <a:gd name="adj" fmla="val 57476"/>
            </a:avLst>
          </a:prstGeom>
          <a:solidFill>
            <a:srgbClr val="0D9488">
              <a:alpha val="2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9672" y="3272730"/>
            <a:ext cx="6176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</a:t>
            </a:r>
            <a:endParaRPr lang="en-US" sz="900" dirty="0"/>
          </a:p>
        </p:txBody>
      </p:sp>
      <p:pic>
        <p:nvPicPr>
          <p:cNvPr id="15" name="Image 0" descr="/tmp/rasterized-gradient-480e14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4051846"/>
            <a:ext cx="952500" cy="38100"/>
          </a:xfrm>
          <a:prstGeom prst="rect">
            <a:avLst/>
          </a:prstGeom>
        </p:spPr>
      </p:pic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B844FDE0-C6A0-8CCF-C553-13CE3CD10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5056" y="4754761"/>
            <a:ext cx="4820404" cy="274637"/>
          </a:xfrm>
        </p:spPr>
        <p:txBody>
          <a:bodyPr/>
          <a:lstStyle/>
          <a:p>
            <a:r>
              <a:rPr lang="en-US"/>
              <a:t>(J. Paul Liu, 2026. Generative AI For Science. Leanpub)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Scarcity Problem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359098"/>
            <a:ext cx="8743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instruments don't provide perfect data. The result: datasets with gaps, missing values, and insufficient resolution.</a:t>
            </a:r>
            <a:endParaRPr lang="en-US" sz="1125" dirty="0"/>
          </a:p>
        </p:txBody>
      </p:sp>
      <p:pic>
        <p:nvPicPr>
          <p:cNvPr id="5" name="Image 0" descr="/tmp/rasterized-gradient-b8fa2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706761"/>
            <a:ext cx="2057400" cy="7294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" y="185916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SATELLITES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20624" y="20438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Blocked by clouds</a:t>
            </a:r>
            <a:endParaRPr lang="en-US" sz="1350" dirty="0"/>
          </a:p>
        </p:txBody>
      </p:sp>
      <p:pic>
        <p:nvPicPr>
          <p:cNvPr id="8" name="Image 1" descr="/tmp/rasterized-gradient-7253ae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450" y="1706761"/>
            <a:ext cx="2057400" cy="7294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92324" y="185916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2592324" y="20438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 regularly</a:t>
            </a:r>
            <a:endParaRPr lang="en-US" sz="1350" dirty="0"/>
          </a:p>
        </p:txBody>
      </p:sp>
      <p:pic>
        <p:nvPicPr>
          <p:cNvPr id="11" name="Image 2" descr="/tmp/rasterized-gradient-282634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1706761"/>
            <a:ext cx="2057400" cy="7294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64024" y="185916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825" dirty="0"/>
          </a:p>
        </p:txBody>
      </p:sp>
      <p:sp>
        <p:nvSpPr>
          <p:cNvPr id="13" name="Text 8"/>
          <p:cNvSpPr/>
          <p:nvPr/>
        </p:nvSpPr>
        <p:spPr>
          <a:xfrm>
            <a:off x="4764024" y="20438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Expensive</a:t>
            </a:r>
            <a:endParaRPr lang="en-US" sz="1350" dirty="0"/>
          </a:p>
        </p:txBody>
      </p:sp>
      <p:pic>
        <p:nvPicPr>
          <p:cNvPr id="14" name="Image 3" descr="/tmp/rasterized-gradient-8340b4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1706761"/>
            <a:ext cx="2057400" cy="72940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35724" y="185916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</a:t>
            </a:r>
            <a:endParaRPr lang="en-US" sz="825" dirty="0"/>
          </a:p>
        </p:txBody>
      </p:sp>
      <p:sp>
        <p:nvSpPr>
          <p:cNvPr id="16" name="Text 10"/>
          <p:cNvSpPr/>
          <p:nvPr/>
        </p:nvSpPr>
        <p:spPr>
          <a:xfrm>
            <a:off x="6935724" y="20438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coverage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285750" y="2569518"/>
            <a:ext cx="8572500" cy="881658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304800" y="2569518"/>
            <a:ext cx="0" cy="8816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95300" y="2702868"/>
            <a:ext cx="8355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Approaches Are Limited:</a:t>
            </a:r>
            <a:endParaRPr lang="en-US" sz="975" dirty="0"/>
          </a:p>
        </p:txBody>
      </p:sp>
      <p:sp>
        <p:nvSpPr>
          <p:cNvPr id="20" name="Text 14"/>
          <p:cNvSpPr/>
          <p:nvPr/>
        </p:nvSpPr>
        <p:spPr>
          <a:xfrm>
            <a:off x="495300" y="2952304"/>
            <a:ext cx="835533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missing cases → Loses information  •  Mean imputation → Ignores correlations  •  Linear interpolation → Cannot capture non-linear patterns  •  Statistical models → Require strong assumptions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285750" y="3584525"/>
            <a:ext cx="8572500" cy="752326"/>
          </a:xfrm>
          <a:prstGeom prst="roundRect">
            <a:avLst>
              <a:gd name="adj" fmla="val 12661"/>
            </a:avLst>
          </a:prstGeom>
          <a:solidFill>
            <a:srgbClr val="ECFDF5"/>
          </a:solidFill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57200" y="3755975"/>
            <a:ext cx="8394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TRANSFORMS THIS LANDSCAPE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57200" y="3992166"/>
            <a:ext cx="26685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Learn complex patterns from existing data</a:t>
            </a:r>
            <a:endParaRPr lang="en-US" sz="975" dirty="0"/>
          </a:p>
        </p:txBody>
      </p:sp>
      <p:sp>
        <p:nvSpPr>
          <p:cNvPr id="24" name="Text 18"/>
          <p:cNvSpPr/>
          <p:nvPr/>
        </p:nvSpPr>
        <p:spPr>
          <a:xfrm>
            <a:off x="3263950" y="3992166"/>
            <a:ext cx="26685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Generate realistic synthetic observations</a:t>
            </a:r>
            <a:endParaRPr lang="en-US" sz="975" dirty="0"/>
          </a:p>
        </p:txBody>
      </p:sp>
      <p:sp>
        <p:nvSpPr>
          <p:cNvPr id="25" name="Text 19"/>
          <p:cNvSpPr/>
          <p:nvPr/>
        </p:nvSpPr>
        <p:spPr>
          <a:xfrm>
            <a:off x="6070699" y="3992166"/>
            <a:ext cx="26685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Fill gaps respecting physical constraints</a:t>
            </a:r>
            <a:endParaRPr lang="en-US" sz="975" dirty="0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870235D6-1521-4F07-3D42-C6CA85F0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1A807043-72B5-AC01-FCAB-6364E98E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4216" y="4868862"/>
            <a:ext cx="4440159" cy="274637"/>
          </a:xfrm>
        </p:spPr>
        <p:txBody>
          <a:bodyPr/>
          <a:lstStyle/>
          <a:p>
            <a:r>
              <a:rPr lang="en-US"/>
              <a:t>(J. Paul Liu, 2026. Generative AI For Science. Leanpub)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60333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Methods for Data-to-Data Generation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2071836"/>
            <a:ext cx="1623120" cy="1552277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222423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4293" y="2264271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150" y="2567136"/>
            <a:ext cx="1344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Autoencoders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38150" y="2816572"/>
            <a:ext cx="134468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imputation via learned compression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38150" y="3185964"/>
            <a:ext cx="1318320" cy="285750"/>
          </a:xfrm>
          <a:prstGeom prst="roundRect">
            <a:avLst>
              <a:gd name="adj" fmla="val 20000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262164"/>
            <a:ext cx="1189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0.83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023170" y="2071836"/>
            <a:ext cx="1623120" cy="1552277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75570" y="222423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71713" y="2264271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75570" y="2567136"/>
            <a:ext cx="1344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175570" y="2816572"/>
            <a:ext cx="134468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generation with adversarial training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175570" y="3185964"/>
            <a:ext cx="131832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51770" y="3262164"/>
            <a:ext cx="1189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97.3% mode coverage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760589" y="1998464"/>
            <a:ext cx="1623120" cy="169887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12989" y="215086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9132" y="2190899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12989" y="2493764"/>
            <a:ext cx="1344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VAEs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912989" y="2743200"/>
            <a:ext cx="134468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latent representations for controlled generation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912989" y="3259187"/>
            <a:ext cx="131832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89189" y="3335387"/>
            <a:ext cx="1189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interpolation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98009" y="2071836"/>
            <a:ext cx="1623120" cy="1552277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50409" y="222423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46552" y="2264271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50409" y="2567136"/>
            <a:ext cx="1344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Processes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650409" y="2816572"/>
            <a:ext cx="134468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interpolation with uncertainty quantification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650409" y="3185964"/>
            <a:ext cx="1318320" cy="28575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26609" y="3262164"/>
            <a:ext cx="1189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 RMSE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235428" y="2071836"/>
            <a:ext cx="1623120" cy="1552277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387828" y="222423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483971" y="2264271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87828" y="2567136"/>
            <a:ext cx="1344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LSTMs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7387828" y="2816572"/>
            <a:ext cx="134468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gap filling with temporal dependencies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7387828" y="3185964"/>
            <a:ext cx="1318320" cy="285750"/>
          </a:xfrm>
          <a:prstGeom prst="roundRect">
            <a:avLst>
              <a:gd name="adj" fmla="val 20000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464028" y="3262164"/>
            <a:ext cx="1189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0.76</a:t>
            </a:r>
            <a:endParaRPr lang="en-US" sz="750" dirty="0"/>
          </a:p>
        </p:txBody>
      </p:sp>
      <p:sp>
        <p:nvSpPr>
          <p:cNvPr id="42" name="Title 41">
            <a:extLst>
              <a:ext uri="{FF2B5EF4-FFF2-40B4-BE49-F238E27FC236}">
                <a16:creationId xmlns:a16="http://schemas.microsoft.com/office/drawing/2014/main" id="{EE654752-556A-B25B-26BB-82B54E04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A136D9EB-93A0-0D72-F56D-49612DD4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58973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Data Imputation with Autoencoders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900386"/>
            <a:ext cx="51297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autoencoder learns to reconstruct complete data from partial observations: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5750" y="2201317"/>
            <a:ext cx="5029200" cy="1131391"/>
          </a:xfrm>
          <a:prstGeom prst="roundRect">
            <a:avLst>
              <a:gd name="adj" fmla="val 841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3839" y="2426940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556" y="2598390"/>
            <a:ext cx="838646" cy="350490"/>
          </a:xfrm>
          <a:prstGeom prst="roundRect">
            <a:avLst>
              <a:gd name="adj" fmla="val 16306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3906" y="2693640"/>
            <a:ext cx="5833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features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6769" y="2986980"/>
            <a:ext cx="4957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missing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1555403" y="266030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08262" y="2363242"/>
            <a:ext cx="361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784003" y="2534692"/>
            <a:ext cx="403473" cy="298996"/>
          </a:xfrm>
          <a:prstGeom prst="roundRect">
            <a:avLst>
              <a:gd name="adj" fmla="val 191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98303" y="2610892"/>
            <a:ext cx="1783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813024" y="2871788"/>
            <a:ext cx="345281" cy="298996"/>
          </a:xfrm>
          <a:prstGeom prst="roundRect">
            <a:avLst>
              <a:gd name="adj" fmla="val 191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27324" y="2947988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263676" y="266030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67893" y="2505968"/>
            <a:ext cx="2702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92276" y="2677418"/>
            <a:ext cx="616148" cy="350490"/>
          </a:xfrm>
          <a:prstGeom prst="roundRect">
            <a:avLst>
              <a:gd name="adj" fmla="val 1630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25626" y="2772668"/>
            <a:ext cx="3564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64-dim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84624" y="266030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34804" y="2363242"/>
            <a:ext cx="3673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42246" y="2534692"/>
            <a:ext cx="345281" cy="298996"/>
          </a:xfrm>
          <a:prstGeom prst="roundRect">
            <a:avLst>
              <a:gd name="adj" fmla="val 191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56546" y="2610892"/>
            <a:ext cx="11901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413224" y="2871788"/>
            <a:ext cx="403473" cy="298996"/>
          </a:xfrm>
          <a:prstGeom prst="roundRect">
            <a:avLst>
              <a:gd name="adj" fmla="val 191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27524" y="2947988"/>
            <a:ext cx="1783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92897" y="2660303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97722" y="2426940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21497" y="2598390"/>
            <a:ext cx="838646" cy="350490"/>
          </a:xfrm>
          <a:prstGeom prst="roundRect">
            <a:avLst>
              <a:gd name="adj" fmla="val 1630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54847" y="2693640"/>
            <a:ext cx="5833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features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45335" y="2986980"/>
            <a:ext cx="3986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Complete!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285750" y="3447008"/>
            <a:ext cx="2466975" cy="565696"/>
          </a:xfrm>
          <a:prstGeom prst="roundRect">
            <a:avLst>
              <a:gd name="adj" fmla="val 13470"/>
            </a:avLst>
          </a:prstGeom>
          <a:solidFill>
            <a:srgbClr val="0D9488">
              <a:alpha val="2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9575" y="3570833"/>
            <a:ext cx="22637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 + Dropout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09575" y="3755529"/>
            <a:ext cx="22637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and regularization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847975" y="3447008"/>
            <a:ext cx="2466975" cy="565696"/>
          </a:xfrm>
          <a:prstGeom prst="roundRect">
            <a:avLst>
              <a:gd name="adj" fmla="val 13470"/>
            </a:avLst>
          </a:prstGeom>
          <a:solidFill>
            <a:srgbClr val="0D9488">
              <a:alpha val="20000"/>
            </a:srgbClr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971800" y="3570833"/>
            <a:ext cx="22637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Loss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2971800" y="3755529"/>
            <a:ext cx="22637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observed values only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505450" y="1131987"/>
            <a:ext cx="3352800" cy="1121718"/>
          </a:xfrm>
          <a:prstGeom prst="roundRect">
            <a:avLst>
              <a:gd name="adj" fmla="val 849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48325" y="1274862"/>
            <a:ext cx="31283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648325" y="1516707"/>
            <a:ext cx="31283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samples × 20 features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648325" y="1728043"/>
            <a:ext cx="31283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Climate-like correlated data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5648325" y="1950839"/>
            <a:ext cx="31283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missing values (random)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05450" y="2368004"/>
            <a:ext cx="3352800" cy="1350318"/>
          </a:xfrm>
          <a:prstGeom prst="roundRect">
            <a:avLst>
              <a:gd name="adj" fmla="val 705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648325" y="2510879"/>
            <a:ext cx="31283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5648325" y="2752725"/>
            <a:ext cx="312839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optimizer (lr=10⁻³)</a:t>
            </a:r>
            <a:endParaRPr lang="en-US" sz="90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decay: 10⁻⁵</a:t>
            </a:r>
            <a:endParaRPr lang="en-US" sz="90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clipping: 1.0</a:t>
            </a:r>
            <a:endParaRPr lang="en-US" sz="90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stopping: patience=20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05450" y="3832622"/>
            <a:ext cx="3352800" cy="948482"/>
          </a:xfrm>
          <a:prstGeom prst="roundRect">
            <a:avLst>
              <a:gd name="adj" fmla="val 1004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48325" y="3975497"/>
            <a:ext cx="31283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5648325" y="4198293"/>
            <a:ext cx="312839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48,276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5648325" y="4491633"/>
            <a:ext cx="31283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825" dirty="0"/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057A8038-039E-3CAA-C501-C89AD3AD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893BDB20-FE76-E89B-A1BF-1B477F74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Autoencoder Imputation Results</a:t>
            </a:r>
            <a:endParaRPr lang="en-US" sz="2400" dirty="0"/>
          </a:p>
        </p:txBody>
      </p:sp>
      <p:pic>
        <p:nvPicPr>
          <p:cNvPr id="4" name="Image 0" descr="/tmp/rasterized-gradient-5b951f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192560"/>
            <a:ext cx="4191000" cy="14171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150" y="138306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38150" y="1581150"/>
            <a:ext cx="38862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38150" y="2259211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reconstruction quality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85750" y="2724001"/>
            <a:ext cx="1333500" cy="750540"/>
          </a:xfrm>
          <a:prstGeom prst="roundRect">
            <a:avLst>
              <a:gd name="adj" fmla="val 10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8148" y="2866876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18148" y="3038326"/>
            <a:ext cx="106870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0.41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714500" y="2724001"/>
            <a:ext cx="1333500" cy="750540"/>
          </a:xfrm>
          <a:prstGeom prst="roundRect">
            <a:avLst>
              <a:gd name="adj" fmla="val 10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846898" y="2866876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846898" y="3038326"/>
            <a:ext cx="106870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0.31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3143250" y="2724001"/>
            <a:ext cx="1333500" cy="750540"/>
          </a:xfrm>
          <a:prstGeom prst="roundRect">
            <a:avLst>
              <a:gd name="adj" fmla="val 10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75648" y="2866876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275648" y="3038326"/>
            <a:ext cx="106870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min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285750" y="3588841"/>
            <a:ext cx="4191000" cy="895350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38150" y="3864173"/>
            <a:ext cx="29359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Mean Imputation Baseline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8150" y="4062264"/>
            <a:ext cx="29359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RMSE: 1.00 → Autoencoder: 0.41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468886" y="3741241"/>
            <a:ext cx="855464" cy="590550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621286" y="3836491"/>
            <a:ext cx="561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621286" y="4103191"/>
            <a:ext cx="561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67250" y="1129010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Dynamics (Fig 5.2)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4667250" y="1416546"/>
            <a:ext cx="4191000" cy="1098798"/>
          </a:xfrm>
          <a:prstGeom prst="roundRect">
            <a:avLst>
              <a:gd name="adj" fmla="val 866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10125" y="1559421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Progression: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10125" y="1782217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50: 0.52 → Epoch 100: 0.45 → Epoch 137: 0.41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10125" y="204117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Train/val curves track closely (no overfitting)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10125" y="2225873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Early stopping triggered at epoch 137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667250" y="2629644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(Fig 5.3)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4667250" y="2917180"/>
            <a:ext cx="4191000" cy="3504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686300" y="2917180"/>
            <a:ext cx="0" cy="35049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38700" y="301243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Captures inter-feature correlations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67250" y="3343870"/>
            <a:ext cx="4191000" cy="3504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686300" y="3343870"/>
            <a:ext cx="0" cy="35049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38700" y="343912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Preserves statistical distributions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67250" y="3770561"/>
            <a:ext cx="4191000" cy="3504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4686300" y="3770561"/>
            <a:ext cx="0" cy="3504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838700" y="3865811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Residuals centered at zero (unbiased)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667250" y="4197251"/>
            <a:ext cx="4191000" cy="3504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4686300" y="4197251"/>
            <a:ext cx="0" cy="3504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838700" y="4292501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Suitable for downstream ML training</a:t>
            </a:r>
            <a:endParaRPr lang="en-US" sz="900" dirty="0"/>
          </a:p>
        </p:txBody>
      </p:sp>
      <p:sp>
        <p:nvSpPr>
          <p:cNvPr id="42" name="Title 41">
            <a:extLst>
              <a:ext uri="{FF2B5EF4-FFF2-40B4-BE49-F238E27FC236}">
                <a16:creationId xmlns:a16="http://schemas.microsoft.com/office/drawing/2014/main" id="{927C5374-AFF9-45E8-C587-CDA7E873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CA0C2B97-EE67-0E2A-080F-C3DEB88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51006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 Generation with GANs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535609"/>
            <a:ext cx="4411563" cy="851446"/>
          </a:xfrm>
          <a:prstGeom prst="roundRect">
            <a:avLst>
              <a:gd name="adj" fmla="val 11187"/>
            </a:avLst>
          </a:prstGeom>
          <a:solidFill>
            <a:srgbClr val="DC2626">
              <a:alpha val="15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678484"/>
            <a:ext cx="4208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 COLLAPSE PROBLEM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28625" y="1901279"/>
            <a:ext cx="42083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GANs produce limited variety, failing to capture the full data distribution. Generator finds "easy" modes and ignores others.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501354"/>
            <a:ext cx="4411563" cy="679996"/>
          </a:xfrm>
          <a:prstGeom prst="roundRect">
            <a:avLst>
              <a:gd name="adj" fmla="val 14007"/>
            </a:avLst>
          </a:prstGeom>
          <a:solidFill>
            <a:srgbClr val="3B82F6">
              <a:alpha val="15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2644229"/>
            <a:ext cx="4208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WGAN-GP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28625" y="2867025"/>
            <a:ext cx="42083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Wasserstein loss + Gradient penalty + Spectral normalization for stable training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5750" y="3295650"/>
            <a:ext cx="4411563" cy="1081832"/>
          </a:xfrm>
          <a:prstGeom prst="roundRect">
            <a:avLst>
              <a:gd name="adj" fmla="val 88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8625" y="3438525"/>
            <a:ext cx="4208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28625" y="3680371"/>
            <a:ext cx="20264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(353K params)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8625" y="3897511"/>
            <a:ext cx="20264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z(100) → 256 → 512 → 256 → 20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28625" y="4101257"/>
            <a:ext cx="20264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 + LeakyReLU + Dropout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67732" y="3680371"/>
            <a:ext cx="20264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 (88K params)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7732" y="3897511"/>
            <a:ext cx="20264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→ 256 → 128 → 1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567732" y="4101257"/>
            <a:ext cx="20264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Norm + LeakyReLU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87813" y="1269802"/>
            <a:ext cx="3970437" cy="1365796"/>
          </a:xfrm>
          <a:prstGeom prst="roundRect">
            <a:avLst>
              <a:gd name="adj" fmla="val 697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30688" y="1412677"/>
            <a:ext cx="37583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STRATEGY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030688" y="1654522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15818" y="1695450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335488" y="1688753"/>
            <a:ext cx="9720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steps per G step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30688" y="1959322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18795" y="2000250"/>
            <a:ext cx="534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335488" y="1993553"/>
            <a:ext cx="9841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coefficient = 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30688" y="2264122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15818" y="2305050"/>
            <a:ext cx="593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335488" y="2298353"/>
            <a:ext cx="13680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10⁻⁴, Adam (β=0.5, 0.999)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7813" y="2749897"/>
            <a:ext cx="3970437" cy="925711"/>
          </a:xfrm>
          <a:prstGeom prst="roundRect">
            <a:avLst>
              <a:gd name="adj" fmla="val 82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21163" y="2883247"/>
            <a:ext cx="3777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WGAN-GP Loss: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84126" y="3092797"/>
            <a:ext cx="37778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ℒ_D = E[D(G(z))] - E[D(x)] + λ·GP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84126" y="3355628"/>
            <a:ext cx="37778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ℒ_G = -E[D(G(z))]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87813" y="3789908"/>
            <a:ext cx="3970437" cy="853232"/>
          </a:xfrm>
          <a:prstGeom prst="roundRect">
            <a:avLst>
              <a:gd name="adj" fmla="val 1116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30688" y="3932783"/>
            <a:ext cx="37583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PROGRESS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030688" y="4155579"/>
            <a:ext cx="37583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epochs, batch size 64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30688" y="4353669"/>
            <a:ext cx="37583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accuracy stabilizes at ~68% (ideal!)</a:t>
            </a:r>
            <a:endParaRPr lang="en-US" sz="825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ECCE4010-288D-6289-1DAF-B5D6294E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48842CDF-25B8-B684-39F6-4D0F3D73A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53921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 Synthetic Data Quality Assessment</a:t>
            </a:r>
            <a:endParaRPr lang="en-US" sz="2400" dirty="0"/>
          </a:p>
        </p:txBody>
      </p:sp>
      <p:pic>
        <p:nvPicPr>
          <p:cNvPr id="4" name="Image 0" descr="/tmp/rasterized-gradient-4eac7b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95673"/>
            <a:ext cx="4191000" cy="12989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8719" y="12671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COVERAGE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418719" y="1451818"/>
            <a:ext cx="392506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97.3%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418719" y="207659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 collapse!</a:t>
            </a:r>
            <a:endParaRPr lang="en-US" sz="825" dirty="0"/>
          </a:p>
        </p:txBody>
      </p:sp>
      <p:pic>
        <p:nvPicPr>
          <p:cNvPr id="8" name="Image 1" descr="/tmp/rasterized-gradient-cde6de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508945"/>
            <a:ext cx="4191000" cy="12989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8719" y="268039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 ACCURACY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418719" y="2865090"/>
            <a:ext cx="392506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67.9%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418719" y="348987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random guessing (ideal!)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285750" y="3922216"/>
            <a:ext cx="1333500" cy="659011"/>
          </a:xfrm>
          <a:prstGeom prst="roundRect">
            <a:avLst>
              <a:gd name="adj" fmla="val 115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98717" y="4046041"/>
            <a:ext cx="1107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Diff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98717" y="4217491"/>
            <a:ext cx="11075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0.037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714500" y="3922216"/>
            <a:ext cx="1333500" cy="659011"/>
          </a:xfrm>
          <a:prstGeom prst="roundRect">
            <a:avLst>
              <a:gd name="adj" fmla="val 115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827466" y="4046041"/>
            <a:ext cx="1107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Diff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827466" y="4217491"/>
            <a:ext cx="11075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0.025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143250" y="3922216"/>
            <a:ext cx="1333500" cy="659011"/>
          </a:xfrm>
          <a:prstGeom prst="roundRect">
            <a:avLst>
              <a:gd name="adj" fmla="val 115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256217" y="4046041"/>
            <a:ext cx="1107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Div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256217" y="4217491"/>
            <a:ext cx="110756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0.086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667250" y="1245096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 Explained (Fig 5.4)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4667250" y="1532632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791075" y="1656457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Structure Preserved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91075" y="1854547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difference: 0.066 (95% pairs &lt; 0.1)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4667250" y="2201168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91075" y="2324993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Matching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91075" y="2523083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divergence &lt; 0.1 = high-quality synthesis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4667250" y="2869704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791075" y="2993529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Space Overlap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791075" y="3191619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94.3% overlap in reduced dimensions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4667250" y="3576340"/>
            <a:ext cx="4191000" cy="855315"/>
          </a:xfrm>
          <a:prstGeom prst="roundRect">
            <a:avLst>
              <a:gd name="adj" fmla="val 11136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819650" y="372874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EXCELLENT: Publication-Quality Results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19650" y="3964930"/>
            <a:ext cx="396392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is realistic and diverse. Suitable for data augmentation, privacy-preserving sharing, and model training.</a:t>
            </a:r>
            <a:endParaRPr lang="en-US" sz="825" dirty="0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9203EF99-0CB5-47F8-BC60-18A36E29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2C51060D-3B4B-0A52-A5E4-52578F946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4108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Variational Autoencoders (VAEs)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376363"/>
            <a:ext cx="4274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VAEs offer advantages over GANs for controlled generation: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5750" y="1677293"/>
            <a:ext cx="4191000" cy="407640"/>
          </a:xfrm>
          <a:prstGeom prst="roundRect">
            <a:avLst>
              <a:gd name="adj" fmla="val 18693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1801118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More stable training (no adversarial dynamics)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161133"/>
            <a:ext cx="4191000" cy="407640"/>
          </a:xfrm>
          <a:prstGeom prst="roundRect">
            <a:avLst>
              <a:gd name="adj" fmla="val 18693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575" y="2284958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Smooth, continuous latent space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5750" y="2644973"/>
            <a:ext cx="4191000" cy="407640"/>
          </a:xfrm>
          <a:prstGeom prst="roundRect">
            <a:avLst>
              <a:gd name="adj" fmla="val 18693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9575" y="2768798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Direct control over generation process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3128814"/>
            <a:ext cx="4191000" cy="407640"/>
          </a:xfrm>
          <a:prstGeom prst="roundRect">
            <a:avLst>
              <a:gd name="adj" fmla="val 18693"/>
            </a:avLst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9575" y="3252639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regularization via KL divergence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5750" y="3650754"/>
            <a:ext cx="4191000" cy="885825"/>
          </a:xfrm>
          <a:prstGeom prst="roundRect">
            <a:avLst>
              <a:gd name="adj" fmla="val 86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9100" y="3784104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β-VAE Loss Function: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79857" y="3993654"/>
            <a:ext cx="4002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ℒ = ℒ_recon + β · D_KL(q(z|x) || p(z))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79857" y="4269879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controls reconstruction vs regularization trade-off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67250" y="1113086"/>
            <a:ext cx="4191000" cy="1152079"/>
          </a:xfrm>
          <a:prstGeom prst="roundRect">
            <a:avLst>
              <a:gd name="adj" fmla="val 826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255961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(378K PARAMS)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0125" y="1497806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Encoder: 20 → 512 → 256 → 128 → (μ, σ²)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10125" y="1718667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Latent: 64 dimensions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0125" y="1939528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Decoder: 64 → 128 → 256 → 512 → 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7250" y="2379464"/>
            <a:ext cx="4191000" cy="1154013"/>
          </a:xfrm>
          <a:prstGeom prst="roundRect">
            <a:avLst>
              <a:gd name="adj" fmla="val 825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0125" y="252233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ANNEALING SCHEDULE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0125" y="2764185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0-150: β increases 0 → 0.3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0125" y="2985046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150+: β = 0.3 (fixed)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0125" y="3244007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posterior collapse early in training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667250" y="3647777"/>
            <a:ext cx="4191000" cy="1152079"/>
          </a:xfrm>
          <a:prstGeom prst="roundRect">
            <a:avLst>
              <a:gd name="adj" fmla="val 826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0125" y="379065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810125" y="4032498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epochs, lr=5×10⁻⁴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0125" y="4253359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clipping: 0.5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10125" y="4474220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decay: 10⁻⁵</a:t>
            </a:r>
            <a:endParaRPr lang="en-US" sz="900" dirty="0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8EA887D6-59A7-87B3-D75F-BC79574C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Footer Placeholder 32">
            <a:extLst>
              <a:ext uri="{FF2B5EF4-FFF2-40B4-BE49-F238E27FC236}">
                <a16:creationId xmlns:a16="http://schemas.microsoft.com/office/drawing/2014/main" id="{2897C90C-FEF5-2C13-ED9A-13855483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50326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VAE Results: GAN vs VAE Trade-offs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093738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Quality Metrics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85750" y="1381274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8148" y="1524149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Diff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8148" y="1695599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14500" y="1381274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46898" y="1524149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Diff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846898" y="1695599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43250" y="1381274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75648" y="1524149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 Diff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75648" y="1695599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5750" y="2219474"/>
            <a:ext cx="4191000" cy="796082"/>
          </a:xfrm>
          <a:prstGeom prst="roundRect">
            <a:avLst>
              <a:gd name="adj" fmla="val 11965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150" y="2371874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 Accuracy: 75.5%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150" y="2569964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differences detectable — VAEs prioritize smooth latent space over perfect reconstruction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85750" y="3129855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Strengths (Fig 5.5)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85750" y="3417391"/>
            <a:ext cx="4191000" cy="350490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04800" y="3417391"/>
            <a:ext cx="0" cy="3504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512641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interpolation between samples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5750" y="3825032"/>
            <a:ext cx="4191000" cy="350490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04800" y="3825032"/>
            <a:ext cx="0" cy="3504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20282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Controllable generation via latent space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5750" y="4232672"/>
            <a:ext cx="4191000" cy="350490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04800" y="4232672"/>
            <a:ext cx="0" cy="3504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27922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R² = 0.72 (good)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7250" y="1542306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vs VAE Comparison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667250" y="1829842"/>
            <a:ext cx="4191000" cy="1580704"/>
          </a:xfrm>
          <a:prstGeom prst="roundRect">
            <a:avLst>
              <a:gd name="adj" fmla="val 60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76775" y="1839367"/>
            <a:ext cx="4171950" cy="33709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096000" y="1839367"/>
            <a:ext cx="0" cy="337096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91075" y="1934617"/>
            <a:ext cx="1209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7474744" y="1839367"/>
            <a:ext cx="0" cy="337096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7580" y="1934617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736324" y="1934617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676775" y="2480221"/>
            <a:ext cx="4171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96000" y="2176463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91075" y="2252663"/>
            <a:ext cx="1209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Disc. Accuracy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253163" y="2176463"/>
            <a:ext cx="1226344" cy="298996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474744" y="2176463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57580" y="2252663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67.9%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7736324" y="2252663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75.5%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4676775" y="2788741"/>
            <a:ext cx="4171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96000" y="2484983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91075" y="2561183"/>
            <a:ext cx="1209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Coverage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6253163" y="2484983"/>
            <a:ext cx="1226344" cy="298996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7474744" y="2484983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57580" y="2561183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97.3%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7736324" y="2561183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4676775" y="3097262"/>
            <a:ext cx="4171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096000" y="2793504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91075" y="2869704"/>
            <a:ext cx="1209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Stability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7474744" y="2793504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57580" y="2869704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7631906" y="2793504"/>
            <a:ext cx="1216819" cy="298996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736324" y="2869704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6096000" y="3102025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91075" y="3178225"/>
            <a:ext cx="1209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7474744" y="3102025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357580" y="3178225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7631906" y="3102025"/>
            <a:ext cx="1216819" cy="298996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736324" y="3178225"/>
            <a:ext cx="10079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4667250" y="3524845"/>
            <a:ext cx="4191000" cy="609600"/>
          </a:xfrm>
          <a:prstGeom prst="roundRect">
            <a:avLst>
              <a:gd name="adj" fmla="val 15625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800600" y="3658195"/>
            <a:ext cx="40027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GANs generate more diverse data; VAEs provide smoother interpolation. Choose based on application!</a:t>
            </a:r>
            <a:endParaRPr lang="en-US" sz="900" dirty="0"/>
          </a:p>
        </p:txBody>
      </p:sp>
      <p:sp>
        <p:nvSpPr>
          <p:cNvPr id="64" name="Title 63">
            <a:extLst>
              <a:ext uri="{FF2B5EF4-FFF2-40B4-BE49-F238E27FC236}">
                <a16:creationId xmlns:a16="http://schemas.microsoft.com/office/drawing/2014/main" id="{9A85129F-3EB7-1C19-46B4-6C6EDC0A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1BE92763-32FE-EF27-D7E2-8422F2B4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51589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Process Spatial Interpolation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466106"/>
            <a:ext cx="42748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complete high-resolution fields from sparse spatial observations: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5750" y="1953667"/>
            <a:ext cx="4191000" cy="843707"/>
          </a:xfrm>
          <a:prstGeom prst="roundRect">
            <a:avLst>
              <a:gd name="adj" fmla="val 112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238" y="2096542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2630" y="2507903"/>
            <a:ext cx="956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observations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266950" y="2215455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90875" y="2096542"/>
            <a:ext cx="61207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3,600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052614" y="2507903"/>
            <a:ext cx="8941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points (60×60)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2911673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GAUSSIAN PROCESSES?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5750" y="3185964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8625" y="3290739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Optimal interpolation under Gaussian assumptions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750" y="3631704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8625" y="3736479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Principled uncertainty quantification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750" y="4077444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8625" y="4182219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training required — just optimization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1081683"/>
            <a:ext cx="4191000" cy="1171277"/>
          </a:xfrm>
          <a:prstGeom prst="roundRect">
            <a:avLst>
              <a:gd name="adj" fmla="val 813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0125" y="122455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FUNCTION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810125" y="1466404"/>
            <a:ext cx="3905250" cy="401836"/>
          </a:xfrm>
          <a:prstGeom prst="roundRect">
            <a:avLst>
              <a:gd name="adj" fmla="val 142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87659" y="1580704"/>
            <a:ext cx="37501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k(x,x') = σ² · RBF(ℓ) + σ²_n · I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10125" y="196348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 kernel + white noise for observation uncertainty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67250" y="2367260"/>
            <a:ext cx="4191000" cy="1289298"/>
          </a:xfrm>
          <a:prstGeom prst="roundRect">
            <a:avLst>
              <a:gd name="adj" fmla="val 738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2510135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FIELD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10125" y="2751981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spatial pattern: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0125" y="2972842"/>
            <a:ext cx="398335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trends (wavelength ~20)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0125" y="3159472"/>
            <a:ext cx="398335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oscillations (wavelength ~6)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10125" y="3346103"/>
            <a:ext cx="3983355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Fine-scale variations (wavelength ~3)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67250" y="3770858"/>
            <a:ext cx="4191000" cy="1060698"/>
          </a:xfrm>
          <a:prstGeom prst="roundRect">
            <a:avLst>
              <a:gd name="adj" fmla="val 898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0125" y="3913733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OPTIMIZATION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10125" y="4155579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restarts of log-marginal likelihood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10125" y="4376440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lengthscale: 1.2 units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10125" y="4542086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noise: σ = 0.09</a:t>
            </a:r>
            <a:endParaRPr lang="en-US" sz="825" dirty="0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01627F94-045A-1882-CD90-B822D309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A41345EF-9B01-E410-1DA7-0B76C142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 Interpolation Results</a:t>
            </a:r>
            <a:endParaRPr lang="en-US" sz="2400" dirty="0"/>
          </a:p>
        </p:txBody>
      </p:sp>
      <p:pic>
        <p:nvPicPr>
          <p:cNvPr id="4" name="Image 0" descr="/tmp/rasterized-gradient-3c3773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342281"/>
            <a:ext cx="4191000" cy="13522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8719" y="151373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(% OF RANGE)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418719" y="1698427"/>
            <a:ext cx="392506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18719" y="237648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Publication-quality accuracy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85750" y="2808833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8148" y="2951708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(°C)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18148" y="3123158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14500" y="2808833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846898" y="2951708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(°C)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846898" y="3123158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143250" y="2808833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75648" y="2951708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Time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275648" y="3123158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min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85750" y="3647033"/>
            <a:ext cx="4191000" cy="687586"/>
          </a:xfrm>
          <a:prstGeom prst="roundRect">
            <a:avLst>
              <a:gd name="adj" fmla="val 13853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38150" y="3799433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Calibration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8150" y="4035623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vs Distance: r = 0.85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2438400" y="4035623"/>
            <a:ext cx="19236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vs Error: r = 0.72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67250" y="1053257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(Fig 5.6)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4667250" y="1340793"/>
            <a:ext cx="4191000" cy="738932"/>
          </a:xfrm>
          <a:prstGeom prst="roundRect">
            <a:avLst>
              <a:gd name="adj" fmla="val 103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1075" y="1464618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Excellent Visual Match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91075" y="1662708"/>
            <a:ext cx="402221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captures all major spatial patterns: large-scale gradients, medium oscillations, fine details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67250" y="2155924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91075" y="2279749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Principled Uncertainty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91075" y="2477839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near observations (σ≈0.3°C), high far from observations (σ≈1.2°C)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667250" y="2824460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791075" y="2948285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Well-Calibrated Predictions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91075" y="3146375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within 1σ, 95% within 2σ (ideal Gaussian calibration)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667250" y="3492996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91075" y="3616821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Efficient Coverage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91075" y="3814911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observations sufficient for 10×10 domain with this complexity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667250" y="4199632"/>
            <a:ext cx="4191000" cy="423863"/>
          </a:xfrm>
          <a:prstGeom prst="roundRect">
            <a:avLst>
              <a:gd name="adj" fmla="val 22472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00600" y="4332982"/>
            <a:ext cx="40027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Spatial data &lt; 1000 points, uncertainty needed, no training data available</a:t>
            </a:r>
            <a:endParaRPr lang="en-US" sz="825" dirty="0"/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1D7D0A64-3D76-EF43-7E08-AC123F64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75EE7B64-3E8B-5DEE-BE5B-9492259C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65773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Gap Filling with Bidirectional LSTM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377553"/>
            <a:ext cx="42748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contiguous gaps in multivariate time series while respecting: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5750" y="1678484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EC4899">
              <a:alpha val="20000"/>
            </a:srgbClr>
          </a:solidFill>
          <a:ln w="9525">
            <a:solidFill>
              <a:srgbClr val="EC48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1783259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Temporal dependencies (past → future)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124224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EC4899">
              <a:alpha val="20000"/>
            </a:srgbClr>
          </a:solidFill>
          <a:ln w="9525">
            <a:solidFill>
              <a:srgbClr val="EC48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2228999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Cross-variable correlations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5750" y="2569964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EC4899">
              <a:alpha val="20000"/>
            </a:srgbClr>
          </a:solidFill>
          <a:ln w="9525">
            <a:solidFill>
              <a:srgbClr val="EC48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8625" y="2674739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Multiple frequency components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3053804"/>
            <a:ext cx="4191000" cy="1481584"/>
          </a:xfrm>
          <a:prstGeom prst="roundRect">
            <a:avLst>
              <a:gd name="adj" fmla="val 6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625" y="319667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DATASET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28625" y="3438525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timesteps × 3 variables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8625" y="3678436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1: Seasonal + linear trend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28625" y="384408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2: Multi-frequency oscillation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28625" y="4009727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3: Damped oscillation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28625" y="4232523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 missing (contiguous gaps 5-20 steps)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7250" y="1255663"/>
            <a:ext cx="4191000" cy="1068437"/>
          </a:xfrm>
          <a:prstGeom prst="roundRect">
            <a:avLst>
              <a:gd name="adj" fmla="val 89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0125" y="139853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LSTM ARCHITECTURE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140821" y="1640384"/>
            <a:ext cx="650825" cy="298996"/>
          </a:xfrm>
          <a:prstGeom prst="roundRect">
            <a:avLst>
              <a:gd name="adj" fmla="val 19114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55121" y="1716584"/>
            <a:ext cx="430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mask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867846" y="1683246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446" y="1640384"/>
            <a:ext cx="720775" cy="298996"/>
          </a:xfrm>
          <a:prstGeom prst="roundRect">
            <a:avLst>
              <a:gd name="adj" fmla="val 19114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10746" y="1716584"/>
            <a:ext cx="5020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BiLSTM×2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893421" y="1683246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22021" y="1640384"/>
            <a:ext cx="676870" cy="298996"/>
          </a:xfrm>
          <a:prstGeom prst="roundRect">
            <a:avLst>
              <a:gd name="adj" fmla="val 1911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236321" y="1716584"/>
            <a:ext cx="457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layers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875091" y="1683246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03691" y="1640384"/>
            <a:ext cx="280988" cy="298996"/>
          </a:xfrm>
          <a:prstGeom prst="roundRect">
            <a:avLst>
              <a:gd name="adj" fmla="val 2033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17991" y="1716584"/>
            <a:ext cx="534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x̂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10125" y="203462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(data, mask) concatenated → Hidden: 128×2 (bidirectional)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667250" y="2438400"/>
            <a:ext cx="4191000" cy="1251347"/>
          </a:xfrm>
          <a:prstGeom prst="roundRect">
            <a:avLst>
              <a:gd name="adj" fmla="val 76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10125" y="2581275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BIDIRECTIONAL?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10125" y="2823121"/>
            <a:ext cx="39833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information from </a:t>
            </a: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past and future to fill gaps: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0125" y="3082082"/>
            <a:ext cx="1905000" cy="464790"/>
          </a:xfrm>
          <a:prstGeom prst="roundRect">
            <a:avLst>
              <a:gd name="adj" fmla="val 1229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68799" y="3158282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68799" y="3310682"/>
            <a:ext cx="17876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→ gap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0375" y="3082082"/>
            <a:ext cx="1905000" cy="464790"/>
          </a:xfrm>
          <a:prstGeom prst="roundRect">
            <a:avLst>
              <a:gd name="adj" fmla="val 1229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69049" y="3158282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69049" y="3310682"/>
            <a:ext cx="17876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→ gap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7250" y="3804047"/>
            <a:ext cx="4191000" cy="853232"/>
          </a:xfrm>
          <a:prstGeom prst="roundRect">
            <a:avLst>
              <a:gd name="adj" fmla="val 1116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10125" y="3946922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810125" y="4169718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epochs, lr=10⁻³, dropout=0.2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10125" y="4367808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on observed values only (masked MSE)</a:t>
            </a:r>
            <a:endParaRPr lang="en-US" sz="825" dirty="0"/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33C4AA84-42AE-1F27-4305-53ED6352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F88C5B39-6613-0849-C61F-52876506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 Gap Filling Results</a:t>
            </a:r>
            <a:endParaRPr lang="en-US" sz="2400" dirty="0"/>
          </a:p>
        </p:txBody>
      </p:sp>
      <p:pic>
        <p:nvPicPr>
          <p:cNvPr id="4" name="Image 0" descr="/tmp/rasterized-gradient-92d495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238399"/>
            <a:ext cx="4191000" cy="13522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8719" y="140984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418719" y="1594545"/>
            <a:ext cx="392506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0.76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18719" y="227260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reconstruction quality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85750" y="2704951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18148" y="2847826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18148" y="3019276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0.286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14500" y="2704951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846898" y="2847826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846898" y="3019276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0.237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143250" y="2704951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75648" y="2847826"/>
            <a:ext cx="1068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275648" y="3019276"/>
            <a:ext cx="1068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 min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85750" y="3543151"/>
            <a:ext cx="4191000" cy="895350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38150" y="3818483"/>
            <a:ext cx="29359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Mean Imputation Baseline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8150" y="4016573"/>
            <a:ext cx="29359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RMSE: 0.58 → LSTM: 0.29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3468886" y="3695551"/>
            <a:ext cx="855464" cy="590550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621286" y="3790801"/>
            <a:ext cx="561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621286" y="4057501"/>
            <a:ext cx="561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67250" y="1048048"/>
            <a:ext cx="42748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(Fig 5.7)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4667250" y="1335584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91075" y="1459409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Captures Temporal Patterns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91075" y="1657499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Reconstructs sinusoidal patterns with correct amplitude and phase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667250" y="2004120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91075" y="2127945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Handles Multiple Frequencies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91075" y="2326035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imputes both main cycle and 3× harmonic components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667250" y="2672655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91075" y="2796480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Seamless Gap Filling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91075" y="2994571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Imputed values connect smoothly to observed segments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667250" y="3341191"/>
            <a:ext cx="4191000" cy="592336"/>
          </a:xfrm>
          <a:prstGeom prst="roundRect">
            <a:avLst>
              <a:gd name="adj" fmla="val 128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791075" y="3465016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Uncertainty Awareness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91075" y="3663107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dropout shows σ increases with gap length (0.15 → 0.35)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667250" y="4047827"/>
            <a:ext cx="4191000" cy="581025"/>
          </a:xfrm>
          <a:prstGeom prst="roundRect">
            <a:avLst>
              <a:gd name="adj" fmla="val 16393"/>
            </a:avLst>
          </a:prstGeom>
          <a:solidFill>
            <a:srgbClr val="FDF2F8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800600" y="4181177"/>
            <a:ext cx="40027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Sensor data with contiguous gaps, multi-frequency signals, multivariate time series</a:t>
            </a:r>
            <a:endParaRPr lang="en-US" sz="825" dirty="0"/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DD79828A-BB3F-E99F-5EC3-72133CD7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9C4BA34A-90B9-E577-6B5C-D646F169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5440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Comparison: When to Use What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266230"/>
            <a:ext cx="8572500" cy="2197745"/>
          </a:xfrm>
          <a:prstGeom prst="roundRect">
            <a:avLst>
              <a:gd name="adj" fmla="val 43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5275" y="1275755"/>
            <a:ext cx="8553450" cy="337096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181820" y="1275755"/>
            <a:ext cx="0" cy="337096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9575" y="1371005"/>
            <a:ext cx="1686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4526012" y="1275755"/>
            <a:ext cx="0" cy="337096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3283" y="1371005"/>
            <a:ext cx="19927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5968454" y="1275755"/>
            <a:ext cx="0" cy="337096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86955" y="1371005"/>
            <a:ext cx="1072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7410896" y="1275755"/>
            <a:ext cx="0" cy="337096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9398" y="1371005"/>
            <a:ext cx="1072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671840" y="1371005"/>
            <a:ext cx="1072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295275" y="1916609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5275" y="1612850"/>
            <a:ext cx="1891308" cy="298996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181820" y="1612850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9575" y="1689050"/>
            <a:ext cx="1686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4526012" y="1619399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53283" y="1695599"/>
            <a:ext cx="1992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data, missing values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968454" y="1619399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86955" y="1695599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410896" y="1619399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29398" y="1695599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671840" y="1695599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min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5275" y="2225129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5275" y="1921371"/>
            <a:ext cx="1891308" cy="298996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181820" y="1921371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9575" y="1997571"/>
            <a:ext cx="1686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4526012" y="192792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53283" y="2004120"/>
            <a:ext cx="1992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diversity synthesis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68454" y="192792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86955" y="2004120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410896" y="192792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29398" y="2004120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671840" y="2004120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min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95275" y="2533650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5275" y="2229892"/>
            <a:ext cx="1891308" cy="298996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2181820" y="2229892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9575" y="2306092"/>
            <a:ext cx="1686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4526012" y="223644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453283" y="2312640"/>
            <a:ext cx="1992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synthesis, interpolation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968454" y="223644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86955" y="2312640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410896" y="223644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29398" y="2312640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671840" y="2312640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min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95275" y="2842171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5275" y="2538413"/>
            <a:ext cx="1891308" cy="298996"/>
          </a:xfrm>
          <a:prstGeom prst="rect">
            <a:avLst/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2181820" y="2538413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09575" y="2614613"/>
            <a:ext cx="1686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Process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4526012" y="2544961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453283" y="2621161"/>
            <a:ext cx="1992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+ uncertainty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968454" y="2544961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86955" y="2621161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410896" y="2544961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29398" y="2621161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671840" y="2621161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95275" y="3150691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95275" y="2846933"/>
            <a:ext cx="1891308" cy="298996"/>
          </a:xfrm>
          <a:prstGeom prst="rect">
            <a:avLst/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2181820" y="2846933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09575" y="2923133"/>
            <a:ext cx="1686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LSTM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4526012" y="2853482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453283" y="2929682"/>
            <a:ext cx="1992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gap filling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968454" y="2853482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86955" y="2929682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410896" y="2853482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229398" y="2929682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671840" y="2929682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min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95275" y="3155454"/>
            <a:ext cx="1891308" cy="298996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2181820" y="3155454"/>
            <a:ext cx="0" cy="298996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09575" y="3231654"/>
            <a:ext cx="16862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4526012" y="3162002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453283" y="3238202"/>
            <a:ext cx="19927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quality synthesis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968454" y="3162002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86955" y="3238202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410896" y="3162002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229398" y="3238202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671840" y="3238202"/>
            <a:ext cx="10729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min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85750" y="3578275"/>
            <a:ext cx="2781300" cy="832396"/>
          </a:xfrm>
          <a:prstGeom prst="roundRect">
            <a:avLst>
              <a:gd name="adj" fmla="val 9154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09575" y="3702100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Data?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409575" y="3886795"/>
            <a:ext cx="25843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20% → Autoencoder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→ LSTM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→ GP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3181350" y="3578275"/>
            <a:ext cx="2781300" cy="832396"/>
          </a:xfrm>
          <a:prstGeom prst="roundRect">
            <a:avLst>
              <a:gd name="adj" fmla="val 9154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3305175" y="3702100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Data?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3305175" y="3886795"/>
            <a:ext cx="25843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diversity → GAN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interp → VAE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quality → Diffusion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076950" y="3578275"/>
            <a:ext cx="2781300" cy="832396"/>
          </a:xfrm>
          <a:prstGeom prst="roundRect">
            <a:avLst>
              <a:gd name="adj" fmla="val 9154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200775" y="3702100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Uncertainty?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6200775" y="3886795"/>
            <a:ext cx="25843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→ GP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 → Diffusion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→ Ensemble</a:t>
            </a:r>
            <a:endParaRPr lang="en-US" sz="750" dirty="0"/>
          </a:p>
        </p:txBody>
      </p:sp>
      <p:sp>
        <p:nvSpPr>
          <p:cNvPr id="89" name="Title 88">
            <a:extLst>
              <a:ext uri="{FF2B5EF4-FFF2-40B4-BE49-F238E27FC236}">
                <a16:creationId xmlns:a16="http://schemas.microsoft.com/office/drawing/2014/main" id="{BB964494-1D8E-A83B-0FB5-7BE3AE865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" name="Footer Placeholder 89">
            <a:extLst>
              <a:ext uri="{FF2B5EF4-FFF2-40B4-BE49-F238E27FC236}">
                <a16:creationId xmlns:a16="http://schemas.microsoft.com/office/drawing/2014/main" id="{F27D60A6-1E8F-C1EA-FCF9-9EDA191B7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0" y="3619500"/>
            <a:ext cx="952500" cy="952500"/>
          </a:xfrm>
          <a:prstGeom prst="roundRect">
            <a:avLst>
              <a:gd name="adj" fmla="val 96000"/>
            </a:avLst>
          </a:prstGeom>
          <a:noFill/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85750" y="1367135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68994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1641425"/>
            <a:ext cx="24678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Autoencoder: R² = 0.83 (59% over baseline)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85750" y="193937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1890861"/>
            <a:ext cx="23168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GAN: 97.3% mode coverage, no collapse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85750" y="218881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150" y="2140297"/>
            <a:ext cx="23215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VAE: Smooth latent space, stable training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85750" y="243825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389733"/>
            <a:ext cx="18532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GP: 4.7% RMSE with uncertainty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85750" y="268768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150" y="2639169"/>
            <a:ext cx="20885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LSTM: R² = 0.76 (51% over baseline)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85750" y="3002905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750" y="3277195"/>
            <a:ext cx="4191000" cy="31239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0038" y="3277195"/>
            <a:ext cx="0" cy="31239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8625" y="3353395"/>
            <a:ext cx="40125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matters — BatchNorm + Dropout improve stability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5750" y="3646736"/>
            <a:ext cx="4191000" cy="31239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00038" y="3646736"/>
            <a:ext cx="0" cy="31239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8625" y="3722936"/>
            <a:ext cx="40125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techniques are critical — early stopping, KL annealing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5750" y="4016276"/>
            <a:ext cx="4191000" cy="31239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00038" y="4016276"/>
            <a:ext cx="0" cy="31239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8625" y="4092476"/>
            <a:ext cx="40125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compare to baselines and validate comprehensively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7250" y="1371749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REMINDERS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7250" y="1646039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DC2626">
              <a:alpha val="15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0125" y="1750814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Never trust imputed data blindly — always validate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7250" y="2091779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DC2626">
              <a:alpha val="15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0125" y="2196554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Synthetic ≠ Real — use for augmentation, not replacement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7250" y="2537520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DC2626">
              <a:alpha val="15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10125" y="264229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Check physics — ensure generated data is physically plausible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7250" y="2983260"/>
            <a:ext cx="4191000" cy="369540"/>
          </a:xfrm>
          <a:prstGeom prst="roundRect">
            <a:avLst>
              <a:gd name="adj" fmla="val 20620"/>
            </a:avLst>
          </a:prstGeom>
          <a:solidFill>
            <a:srgbClr val="DC2626">
              <a:alpha val="15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10125" y="308803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Quantify uncertainty — ensemble methods when possible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7250" y="3467100"/>
            <a:ext cx="4191000" cy="857101"/>
          </a:xfrm>
          <a:prstGeom prst="roundRect">
            <a:avLst>
              <a:gd name="adj" fmla="val 11113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10125" y="3609975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results are suitable for: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10125" y="3846165"/>
            <a:ext cx="398335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Research publications  •  ✓ Educational materials  •  ✓ Production systems  •  ✓ Benchmarking new methods</a:t>
            </a:r>
            <a:endParaRPr lang="en-US" sz="825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D0E6034E-AE8C-8F6E-DDA8-0A13A1F5C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864E10C5-54F5-F8C6-1224-1FA0E79D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and Resources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325166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PAPERS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580406"/>
            <a:ext cx="4191000" cy="508546"/>
          </a:xfrm>
          <a:prstGeom prst="roundRect">
            <a:avLst>
              <a:gd name="adj" fmla="val 11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685181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DiffPuter (ICLR 2025)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90525" y="1850827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et al. — Diffusion models for missing data imputation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85750" y="2146102"/>
            <a:ext cx="4191000" cy="508546"/>
          </a:xfrm>
          <a:prstGeom prst="roundRect">
            <a:avLst>
              <a:gd name="adj" fmla="val 11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0525" y="2250877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TabDDPM (ICML 2023)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90525" y="2416522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Kotelnikov et al. — Tabular data with diffusion models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85750" y="2711797"/>
            <a:ext cx="4191000" cy="508546"/>
          </a:xfrm>
          <a:prstGeom prst="roundRect">
            <a:avLst>
              <a:gd name="adj" fmla="val 11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0525" y="2816572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CTGAN (NeurIPS 2019)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90525" y="2982218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 et al. — Conditional GAN for tabular data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5750" y="3277493"/>
            <a:ext cx="4191000" cy="508546"/>
          </a:xfrm>
          <a:prstGeom prst="roundRect">
            <a:avLst>
              <a:gd name="adj" fmla="val 11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0525" y="3382268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SAITS (Expert Systems 2023)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90525" y="354791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et al. — Self-attention for time series imputation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85750" y="3843189"/>
            <a:ext cx="4191000" cy="508546"/>
          </a:xfrm>
          <a:prstGeom prst="roundRect">
            <a:avLst>
              <a:gd name="adj" fmla="val 112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0525" y="3947964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BRITS (NeurIPS 2018)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90525" y="4113609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et al. — Bidirectional RNN for time series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67250" y="1584275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LIBRARIES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7250" y="1839516"/>
            <a:ext cx="1346150" cy="495151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72025" y="1944291"/>
            <a:ext cx="1159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72025" y="2109936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framework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089600" y="1839516"/>
            <a:ext cx="1346150" cy="495151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94375" y="1944291"/>
            <a:ext cx="1159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194375" y="2109936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processes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7511951" y="1839516"/>
            <a:ext cx="1346150" cy="495151"/>
          </a:xfrm>
          <a:prstGeom prst="roundRect">
            <a:avLst>
              <a:gd name="adj" fmla="val 115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16726" y="1944291"/>
            <a:ext cx="1159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PyPOTS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616726" y="2109936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imputation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67250" y="2468017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DATA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7250" y="2723257"/>
            <a:ext cx="4191000" cy="643682"/>
          </a:xfrm>
          <a:prstGeom prst="roundRect">
            <a:avLst>
              <a:gd name="adj" fmla="val 11838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00600" y="285660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Working Code: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00600" y="3060353"/>
            <a:ext cx="40027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rewriting.ai/bookcode/ai4sci.php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667250" y="3462189"/>
            <a:ext cx="4191000" cy="630436"/>
          </a:xfrm>
          <a:prstGeom prst="roundRect">
            <a:avLst>
              <a:gd name="adj" fmla="val 12087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00600" y="359553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Chapter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81267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 — Physics-Informed Neural Networks, Surrogates, and Optimization</a:t>
            </a:r>
            <a:endParaRPr lang="en-US" sz="825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CF371F1A-3E9D-F2F0-DDED-E7B6BF1E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679DBEEB-D34C-96E9-AF37-E08A6057B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(J. Paul Liu, 2026. Generative AI For Science. Leanpub)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2039</Words>
  <Application>Microsoft Macintosh PowerPoint</Application>
  <PresentationFormat>On-screen Show (16:9)</PresentationFormat>
  <Paragraphs>413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Georgia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Data-to-Data Models</dc:title>
  <dc:subject>Generative AI for Scientific Data Challenges</dc:subject>
  <dc:creator>AI for Science</dc:creator>
  <cp:lastModifiedBy>Paul Liu</cp:lastModifiedBy>
  <cp:revision>3</cp:revision>
  <dcterms:created xsi:type="dcterms:W3CDTF">2026-01-08T18:26:38Z</dcterms:created>
  <dcterms:modified xsi:type="dcterms:W3CDTF">2026-01-08T19:33:17Z</dcterms:modified>
</cp:coreProperties>
</file>